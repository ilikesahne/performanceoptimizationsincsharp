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2" r:id="rId5"/>
  </p:sldMasterIdLst>
  <p:notesMasterIdLst>
    <p:notesMasterId r:id="rId70"/>
  </p:notesMasterIdLst>
  <p:sldIdLst>
    <p:sldId id="1098" r:id="rId6"/>
    <p:sldId id="1136" r:id="rId7"/>
    <p:sldId id="1149" r:id="rId8"/>
    <p:sldId id="1135" r:id="rId9"/>
    <p:sldId id="1151" r:id="rId10"/>
    <p:sldId id="1152" r:id="rId11"/>
    <p:sldId id="1153" r:id="rId12"/>
    <p:sldId id="1154" r:id="rId13"/>
    <p:sldId id="1155" r:id="rId14"/>
    <p:sldId id="1156" r:id="rId15"/>
    <p:sldId id="1157" r:id="rId16"/>
    <p:sldId id="1158" r:id="rId17"/>
    <p:sldId id="1159" r:id="rId18"/>
    <p:sldId id="1161" r:id="rId19"/>
    <p:sldId id="1160" r:id="rId20"/>
    <p:sldId id="1162" r:id="rId21"/>
    <p:sldId id="1163" r:id="rId22"/>
    <p:sldId id="1164" r:id="rId23"/>
    <p:sldId id="1165" r:id="rId24"/>
    <p:sldId id="1166" r:id="rId25"/>
    <p:sldId id="1168" r:id="rId26"/>
    <p:sldId id="1169" r:id="rId27"/>
    <p:sldId id="1167" r:id="rId28"/>
    <p:sldId id="1170" r:id="rId29"/>
    <p:sldId id="1171" r:id="rId30"/>
    <p:sldId id="1172" r:id="rId31"/>
    <p:sldId id="1173" r:id="rId32"/>
    <p:sldId id="1175" r:id="rId33"/>
    <p:sldId id="1176" r:id="rId34"/>
    <p:sldId id="1177" r:id="rId35"/>
    <p:sldId id="1178" r:id="rId36"/>
    <p:sldId id="1179" r:id="rId37"/>
    <p:sldId id="1180" r:id="rId38"/>
    <p:sldId id="1181" r:id="rId39"/>
    <p:sldId id="1182" r:id="rId40"/>
    <p:sldId id="1183" r:id="rId41"/>
    <p:sldId id="1184" r:id="rId42"/>
    <p:sldId id="1185" r:id="rId43"/>
    <p:sldId id="1186" r:id="rId44"/>
    <p:sldId id="1187" r:id="rId45"/>
    <p:sldId id="1188" r:id="rId46"/>
    <p:sldId id="1189" r:id="rId47"/>
    <p:sldId id="1190" r:id="rId48"/>
    <p:sldId id="1191" r:id="rId49"/>
    <p:sldId id="1192" r:id="rId50"/>
    <p:sldId id="1193" r:id="rId51"/>
    <p:sldId id="1194" r:id="rId52"/>
    <p:sldId id="1195" r:id="rId53"/>
    <p:sldId id="1196" r:id="rId54"/>
    <p:sldId id="1197" r:id="rId55"/>
    <p:sldId id="1198" r:id="rId56"/>
    <p:sldId id="1148" r:id="rId57"/>
    <p:sldId id="1150" r:id="rId58"/>
    <p:sldId id="1137" r:id="rId59"/>
    <p:sldId id="1138" r:id="rId60"/>
    <p:sldId id="1093" r:id="rId61"/>
    <p:sldId id="1147" r:id="rId62"/>
    <p:sldId id="1114" r:id="rId63"/>
    <p:sldId id="1144" r:id="rId64"/>
    <p:sldId id="1146" r:id="rId65"/>
    <p:sldId id="1097" r:id="rId66"/>
    <p:sldId id="1141" r:id="rId67"/>
    <p:sldId id="1109" r:id="rId68"/>
    <p:sldId id="1110" r:id="rId69"/>
  </p:sldIdLst>
  <p:sldSz cx="10688638" cy="6016625"/>
  <p:notesSz cx="6858000" cy="9144000"/>
  <p:defaultTextStyle>
    <a:defPPr>
      <a:defRPr lang="en-US"/>
    </a:defPPr>
    <a:lvl1pPr marL="0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4504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69009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03515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38019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72523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07028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41534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76038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9" userDrawn="1">
          <p15:clr>
            <a:srgbClr val="A4A3A4"/>
          </p15:clr>
        </p15:guide>
        <p15:guide id="2" pos="42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2C6A"/>
    <a:srgbClr val="006EB4"/>
    <a:srgbClr val="00AA82"/>
    <a:srgbClr val="FFD755"/>
    <a:srgbClr val="8223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8" autoAdjust="0"/>
    <p:restoredTop sz="94607"/>
  </p:normalViewPr>
  <p:slideViewPr>
    <p:cSldViewPr snapToGrid="0">
      <p:cViewPr>
        <p:scale>
          <a:sx n="150" d="100"/>
          <a:sy n="150" d="100"/>
        </p:scale>
        <p:origin x="240" y="522"/>
      </p:cViewPr>
      <p:guideLst>
        <p:guide orient="horz" pos="149"/>
        <p:guide pos="42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slide" Target="slides/slide61.xml"/><Relationship Id="rId7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" Type="http://schemas.openxmlformats.org/officeDocument/2006/relationships/slide" Target="slides/slide2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8A28C-1B42-4640-93F3-579B966A99F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/>
              <a:t>Click to edit Master text styles</a:t>
            </a:r>
          </a:p>
          <a:p>
            <a:pPr lvl="1"/>
            <a:r>
              <a:rPr lang="de-AT"/>
              <a:t>Second level</a:t>
            </a:r>
          </a:p>
          <a:p>
            <a:pPr lvl="2"/>
            <a:r>
              <a:rPr lang="de-AT"/>
              <a:t>Third level</a:t>
            </a:r>
          </a:p>
          <a:p>
            <a:pPr lvl="3"/>
            <a:r>
              <a:rPr lang="de-AT"/>
              <a:t>Fourth level</a:t>
            </a:r>
          </a:p>
          <a:p>
            <a:pPr lvl="4"/>
            <a:r>
              <a:rPr lang="de-AT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4CFF0-5AA8-6148-B41C-3039E58D35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42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34504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69009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03515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38019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72523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07028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741534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276038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24CFF0-5AA8-6148-B41C-3039E58D35B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75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24CFF0-5AA8-6148-B41C-3039E58D35B4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722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586651" y="1593700"/>
            <a:ext cx="9619773" cy="491509"/>
          </a:xfrm>
        </p:spPr>
        <p:txBody>
          <a:bodyPr/>
          <a:lstStyle>
            <a:lvl1pPr>
              <a:defRPr>
                <a:solidFill>
                  <a:srgbClr val="D82C6A"/>
                </a:solidFill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587375" y="3029472"/>
            <a:ext cx="2493963" cy="3206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587375" y="5555207"/>
            <a:ext cx="2493963" cy="3206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225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pink">
    <p:bg>
      <p:bgPr>
        <a:solidFill>
          <a:srgbClr val="D82C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86651" y="2088790"/>
            <a:ext cx="9085342" cy="720000"/>
          </a:xfrm>
        </p:spPr>
        <p:txBody>
          <a:bodyPr lIns="0" tIns="0" rIns="0" bIns="0"/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587375" y="3029472"/>
            <a:ext cx="2493963" cy="32067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586651" y="1593700"/>
            <a:ext cx="9619773" cy="49150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586651" y="5555207"/>
            <a:ext cx="2493963" cy="32067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8765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ail">
    <p:bg>
      <p:bgPr>
        <a:solidFill>
          <a:srgbClr val="D82C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586651" y="1593700"/>
            <a:ext cx="9619773" cy="1619400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de-AT"/>
              <a:t>email</a:t>
            </a:r>
          </a:p>
        </p:txBody>
      </p:sp>
    </p:spTree>
    <p:extLst>
      <p:ext uri="{BB962C8B-B14F-4D97-AF65-F5344CB8AC3E}">
        <p14:creationId xmlns:p14="http://schemas.microsoft.com/office/powerpoint/2010/main" val="61757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100950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988" y="1905000"/>
            <a:ext cx="5307012" cy="3835400"/>
          </a:xfrm>
        </p:spPr>
        <p:txBody>
          <a:bodyPr lIns="0" tIns="0" rIns="0" bIns="0" numCol="1">
            <a:noAutofit/>
          </a:bodyPr>
          <a:lstStyle>
            <a:lvl1pPr>
              <a:defRPr sz="1600" baseline="0"/>
            </a:lvl1pPr>
            <a:lvl2pPr>
              <a:defRPr sz="1600">
                <a:latin typeface="Roboto Light"/>
                <a:cs typeface="Roboto Light"/>
              </a:defRPr>
            </a:lvl2pPr>
            <a:lvl3pPr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81800" y="1003300"/>
            <a:ext cx="3371850" cy="47371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502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>
            <a:lvl1pPr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3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463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7" name="Content Placeholder 2"/>
          <p:cNvSpPr>
            <a:spLocks noGrp="1"/>
          </p:cNvSpPr>
          <p:nvPr>
            <p:ph idx="11"/>
          </p:nvPr>
        </p:nvSpPr>
        <p:spPr>
          <a:xfrm>
            <a:off x="2518793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2518793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4706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44706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6440489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6440489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Content Placeholder 2"/>
          <p:cNvSpPr>
            <a:spLocks noGrp="1"/>
          </p:cNvSpPr>
          <p:nvPr>
            <p:ph idx="17"/>
          </p:nvPr>
        </p:nvSpPr>
        <p:spPr>
          <a:xfrm>
            <a:off x="8389652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8389652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5" name="Content Placeholder 2"/>
          <p:cNvSpPr>
            <a:spLocks noGrp="1"/>
          </p:cNvSpPr>
          <p:nvPr>
            <p:ph idx="19"/>
          </p:nvPr>
        </p:nvSpPr>
        <p:spPr>
          <a:xfrm>
            <a:off x="5463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5463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7" name="Content Placeholder 2"/>
          <p:cNvSpPr>
            <a:spLocks noGrp="1"/>
          </p:cNvSpPr>
          <p:nvPr>
            <p:ph idx="21"/>
          </p:nvPr>
        </p:nvSpPr>
        <p:spPr>
          <a:xfrm>
            <a:off x="2518793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2518793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9" name="Content Placeholder 2"/>
          <p:cNvSpPr>
            <a:spLocks noGrp="1"/>
          </p:cNvSpPr>
          <p:nvPr>
            <p:ph idx="23"/>
          </p:nvPr>
        </p:nvSpPr>
        <p:spPr>
          <a:xfrm>
            <a:off x="44706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4"/>
          </p:nvPr>
        </p:nvSpPr>
        <p:spPr>
          <a:xfrm>
            <a:off x="44706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1" name="Content Placeholder 2"/>
          <p:cNvSpPr>
            <a:spLocks noGrp="1"/>
          </p:cNvSpPr>
          <p:nvPr>
            <p:ph idx="25"/>
          </p:nvPr>
        </p:nvSpPr>
        <p:spPr>
          <a:xfrm>
            <a:off x="6440489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6"/>
          </p:nvPr>
        </p:nvSpPr>
        <p:spPr>
          <a:xfrm>
            <a:off x="6440489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3" name="Content Placeholder 2"/>
          <p:cNvSpPr>
            <a:spLocks noGrp="1"/>
          </p:cNvSpPr>
          <p:nvPr>
            <p:ph idx="27"/>
          </p:nvPr>
        </p:nvSpPr>
        <p:spPr>
          <a:xfrm>
            <a:off x="8389652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8"/>
          </p:nvPr>
        </p:nvSpPr>
        <p:spPr>
          <a:xfrm>
            <a:off x="8389652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59571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8380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>
                <a:latin typeface="Roboto Light"/>
                <a:cs typeface="Roboto Light"/>
              </a:defRPr>
            </a:lvl2pPr>
            <a:lvl3pPr>
              <a:defRPr>
                <a:latin typeface="Roboto Light"/>
                <a:cs typeface="Roboto Light"/>
              </a:defRPr>
            </a:lvl3pPr>
            <a:lvl4pPr>
              <a:defRPr>
                <a:latin typeface="Roboto Light"/>
                <a:cs typeface="Roboto Light"/>
              </a:defRPr>
            </a:lvl4pPr>
            <a:lvl5pPr>
              <a:defRPr>
                <a:latin typeface="Roboto Light"/>
                <a:cs typeface="Roboto Light"/>
              </a:defRPr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09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100950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988" y="1905000"/>
            <a:ext cx="5307012" cy="3835400"/>
          </a:xfrm>
        </p:spPr>
        <p:txBody>
          <a:bodyPr lIns="0" tIns="0" rIns="0" bIns="0" numCol="1">
            <a:noAutofit/>
          </a:bodyPr>
          <a:lstStyle>
            <a:lvl1pPr>
              <a:defRPr sz="1600" baseline="0"/>
            </a:lvl1pPr>
            <a:lvl2pPr>
              <a:defRPr sz="1600">
                <a:latin typeface="Roboto Light"/>
                <a:cs typeface="Roboto Light"/>
              </a:defRPr>
            </a:lvl2pPr>
            <a:lvl3pPr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81800" y="1003300"/>
            <a:ext cx="3371850" cy="47371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046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9523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88" y="1908175"/>
            <a:ext cx="9618662" cy="2346326"/>
          </a:xfrm>
        </p:spPr>
        <p:txBody>
          <a:bodyPr lIns="0" tIns="0" rIns="0" bIns="0" numCol="1" anchor="t">
            <a:normAutofit/>
          </a:bodyPr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600">
                <a:latin typeface="Roboto Light"/>
                <a:cs typeface="Roboto Light"/>
              </a:defRPr>
            </a:lvl2pPr>
            <a:lvl3pPr marL="540000" indent="-228600">
              <a:buFont typeface="Arial"/>
              <a:buChar char="•"/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43000" y="2552700"/>
            <a:ext cx="8445500" cy="3086099"/>
          </a:xfrm>
        </p:spPr>
        <p:txBody>
          <a:bodyPr lIns="0" tIns="0" rIns="0" bIns="0" numCol="1" anchor="t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582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9523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88" y="1908175"/>
            <a:ext cx="4811712" cy="3730624"/>
          </a:xfrm>
        </p:spPr>
        <p:txBody>
          <a:bodyPr lIns="0" tIns="0" rIns="0" bIns="0" numCol="1" anchor="t">
            <a:normAutofit/>
          </a:bodyPr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600">
                <a:latin typeface="Roboto Light"/>
                <a:cs typeface="Roboto Light"/>
              </a:defRPr>
            </a:lvl2pPr>
            <a:lvl3pPr marL="540000" indent="-228600">
              <a:buFont typeface="Arial"/>
              <a:buChar char="•"/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half" idx="10"/>
          </p:nvPr>
        </p:nvSpPr>
        <p:spPr>
          <a:xfrm>
            <a:off x="6781800" y="1003300"/>
            <a:ext cx="3371850" cy="47371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19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>
            <a:lvl1pPr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3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463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7" name="Content Placeholder 2"/>
          <p:cNvSpPr>
            <a:spLocks noGrp="1"/>
          </p:cNvSpPr>
          <p:nvPr>
            <p:ph idx="11"/>
          </p:nvPr>
        </p:nvSpPr>
        <p:spPr>
          <a:xfrm>
            <a:off x="2518793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2518793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4706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44706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6440489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6440489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Content Placeholder 2"/>
          <p:cNvSpPr>
            <a:spLocks noGrp="1"/>
          </p:cNvSpPr>
          <p:nvPr>
            <p:ph idx="17"/>
          </p:nvPr>
        </p:nvSpPr>
        <p:spPr>
          <a:xfrm>
            <a:off x="8389652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8389652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5" name="Content Placeholder 2"/>
          <p:cNvSpPr>
            <a:spLocks noGrp="1"/>
          </p:cNvSpPr>
          <p:nvPr>
            <p:ph idx="19"/>
          </p:nvPr>
        </p:nvSpPr>
        <p:spPr>
          <a:xfrm>
            <a:off x="5463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5463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7" name="Content Placeholder 2"/>
          <p:cNvSpPr>
            <a:spLocks noGrp="1"/>
          </p:cNvSpPr>
          <p:nvPr>
            <p:ph idx="21"/>
          </p:nvPr>
        </p:nvSpPr>
        <p:spPr>
          <a:xfrm>
            <a:off x="2518793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2518793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9" name="Content Placeholder 2"/>
          <p:cNvSpPr>
            <a:spLocks noGrp="1"/>
          </p:cNvSpPr>
          <p:nvPr>
            <p:ph idx="23"/>
          </p:nvPr>
        </p:nvSpPr>
        <p:spPr>
          <a:xfrm>
            <a:off x="44706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4"/>
          </p:nvPr>
        </p:nvSpPr>
        <p:spPr>
          <a:xfrm>
            <a:off x="44706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1" name="Content Placeholder 2"/>
          <p:cNvSpPr>
            <a:spLocks noGrp="1"/>
          </p:cNvSpPr>
          <p:nvPr>
            <p:ph idx="25"/>
          </p:nvPr>
        </p:nvSpPr>
        <p:spPr>
          <a:xfrm>
            <a:off x="6440489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6"/>
          </p:nvPr>
        </p:nvSpPr>
        <p:spPr>
          <a:xfrm>
            <a:off x="6440489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3" name="Content Placeholder 2"/>
          <p:cNvSpPr>
            <a:spLocks noGrp="1"/>
          </p:cNvSpPr>
          <p:nvPr>
            <p:ph idx="27"/>
          </p:nvPr>
        </p:nvSpPr>
        <p:spPr>
          <a:xfrm>
            <a:off x="8389652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8"/>
          </p:nvPr>
        </p:nvSpPr>
        <p:spPr>
          <a:xfrm>
            <a:off x="8389652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220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6651" y="2085209"/>
            <a:ext cx="9619774" cy="69609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6651" y="1593700"/>
            <a:ext cx="9619774" cy="4915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AT" err="1"/>
              <a:t>Subtitel</a:t>
            </a:r>
            <a:endParaRPr lang="de-AT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2"/>
          </p:nvPr>
        </p:nvSpPr>
        <p:spPr>
          <a:xfrm>
            <a:off x="586651" y="2950097"/>
            <a:ext cx="2493962" cy="3206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r>
              <a:rPr lang="en-US"/>
              <a:t>Ort, </a:t>
            </a:r>
            <a:fld id="{80D1854D-94AC-454A-B099-7121A7BE7EA6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586651" y="5555207"/>
            <a:ext cx="3386138" cy="3206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ctr" defTabSz="5345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 sz="1000">
                <a:solidFill>
                  <a:srgbClr val="E1467D"/>
                </a:solidFill>
                <a:latin typeface="Roboto"/>
                <a:cs typeface="Roboto"/>
              </a:rPr>
              <a:t>© </a:t>
            </a:r>
            <a:r>
              <a:rPr lang="en-US" sz="1000" err="1">
                <a:solidFill>
                  <a:srgbClr val="E1467D"/>
                </a:solidFill>
                <a:latin typeface="Roboto"/>
                <a:cs typeface="Roboto"/>
              </a:rPr>
              <a:t>Jahreszahl</a:t>
            </a:r>
            <a:endParaRPr lang="it-IT" sz="1000">
              <a:solidFill>
                <a:srgbClr val="E1467D"/>
              </a:solidFill>
              <a:latin typeface="+mn-lt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67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49" r:id="rId2"/>
    <p:sldLayoutId id="2147483676" r:id="rId3"/>
    <p:sldLayoutId id="2147483679" r:id="rId4"/>
    <p:sldLayoutId id="2147483680" r:id="rId5"/>
  </p:sldLayoutIdLst>
  <p:txStyles>
    <p:titleStyle>
      <a:lvl1pPr algn="l" defTabSz="53450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Guidnew"/>
          <a:ea typeface="+mj-ea"/>
          <a:cs typeface="Guidnew"/>
        </a:defRPr>
      </a:lvl1pPr>
    </p:titleStyle>
    <p:bodyStyle>
      <a:lvl1pPr marL="0" indent="0" algn="l" defTabSz="534504" rtl="0" eaLnBrk="1" latinLnBrk="0" hangingPunct="1">
        <a:spcBef>
          <a:spcPct val="20000"/>
        </a:spcBef>
        <a:buFont typeface="Arial"/>
        <a:buNone/>
        <a:defRPr sz="3200" kern="1200">
          <a:solidFill>
            <a:srgbClr val="D82C6A"/>
          </a:solidFill>
          <a:latin typeface="Roboto"/>
          <a:ea typeface="+mn-ea"/>
          <a:cs typeface="Roboto"/>
        </a:defRPr>
      </a:lvl1pPr>
      <a:lvl2pPr marL="868569" indent="-334065" algn="l" defTabSz="534504" rtl="0" eaLnBrk="1" latinLnBrk="0" hangingPunct="1">
        <a:spcBef>
          <a:spcPct val="20000"/>
        </a:spcBef>
        <a:buFont typeface="Arial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2pPr>
      <a:lvl3pPr marL="1336262" indent="-267252" algn="l" defTabSz="534504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70767" indent="-267252" algn="l" defTabSz="534504" rtl="0" eaLnBrk="1" latinLnBrk="0" hangingPunct="1">
        <a:spcBef>
          <a:spcPct val="20000"/>
        </a:spcBef>
        <a:buFont typeface="Arial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05271" indent="-267252" algn="l" defTabSz="534504" rtl="0" eaLnBrk="1" latinLnBrk="0" hangingPunct="1">
        <a:spcBef>
          <a:spcPct val="20000"/>
        </a:spcBef>
        <a:buFont typeface="Arial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39776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74281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08786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43290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4504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9009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3515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38019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72523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07028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41534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76038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40846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88" y="1403350"/>
            <a:ext cx="9618662" cy="3971925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/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0"/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62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6" r:id="rId2"/>
    <p:sldLayoutId id="2147483667" r:id="rId3"/>
    <p:sldLayoutId id="2147483674" r:id="rId4"/>
    <p:sldLayoutId id="2147483677" r:id="rId5"/>
  </p:sldLayoutIdLst>
  <p:txStyles>
    <p:titleStyle>
      <a:lvl1pPr marL="0" algn="l" defTabSz="4572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Roboto Medium"/>
          <a:ea typeface="+mj-ea"/>
          <a:cs typeface="Roboto Medium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Arial"/>
        <a:buNone/>
        <a:defRPr sz="1600" kern="1200">
          <a:solidFill>
            <a:srgbClr val="D82C6A"/>
          </a:solidFill>
          <a:latin typeface="Roboto Medium"/>
          <a:ea typeface="+mn-ea"/>
          <a:cs typeface="Roboto Medium"/>
        </a:defRPr>
      </a:lvl1pPr>
      <a:lvl2pPr marL="0" indent="-285750" algn="l" defTabSz="457200" rtl="0" eaLnBrk="1" latinLnBrk="0" hangingPunct="1">
        <a:spcBef>
          <a:spcPct val="20000"/>
        </a:spcBef>
        <a:buClr>
          <a:srgbClr val="D82C6A"/>
        </a:buClr>
        <a:buFont typeface="Arial"/>
        <a:buChar char="•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2pPr>
      <a:lvl3pPr marL="54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3pPr>
      <a:lvl4pPr marL="108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4pPr>
      <a:lvl5pPr marL="162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jpeg"/><Relationship Id="rId13" Type="http://schemas.openxmlformats.org/officeDocument/2006/relationships/image" Target="../media/image41.jpeg"/><Relationship Id="rId18" Type="http://schemas.openxmlformats.org/officeDocument/2006/relationships/image" Target="../media/image46.jpeg"/><Relationship Id="rId3" Type="http://schemas.openxmlformats.org/officeDocument/2006/relationships/image" Target="../media/image32.jpeg"/><Relationship Id="rId7" Type="http://schemas.openxmlformats.org/officeDocument/2006/relationships/hyperlink" Target="https://guidnew.com/showcase/ritter-sport-plakatvoting-chatbot-entwicklung/" TargetMode="External"/><Relationship Id="rId12" Type="http://schemas.openxmlformats.org/officeDocument/2006/relationships/image" Target="../media/image40.jpeg"/><Relationship Id="rId17" Type="http://schemas.openxmlformats.org/officeDocument/2006/relationships/image" Target="../media/image45.png"/><Relationship Id="rId2" Type="http://schemas.openxmlformats.org/officeDocument/2006/relationships/hyperlink" Target="https://guidnew.com/showcase/andritz-ag-softwareentwicklung-ordermanagement/" TargetMode="External"/><Relationship Id="rId16" Type="http://schemas.openxmlformats.org/officeDocument/2006/relationships/image" Target="../media/image44.jpe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5.jpeg"/><Relationship Id="rId11" Type="http://schemas.openxmlformats.org/officeDocument/2006/relationships/image" Target="../media/image39.jpeg"/><Relationship Id="rId5" Type="http://schemas.openxmlformats.org/officeDocument/2006/relationships/image" Target="../media/image34.jpeg"/><Relationship Id="rId15" Type="http://schemas.openxmlformats.org/officeDocument/2006/relationships/image" Target="../media/image43.jpeg"/><Relationship Id="rId10" Type="http://schemas.openxmlformats.org/officeDocument/2006/relationships/image" Target="../media/image38.jpeg"/><Relationship Id="rId4" Type="http://schemas.openxmlformats.org/officeDocument/2006/relationships/image" Target="../media/image33.jpeg"/><Relationship Id="rId9" Type="http://schemas.openxmlformats.org/officeDocument/2006/relationships/image" Target="../media/image37.jpeg"/><Relationship Id="rId14" Type="http://schemas.openxmlformats.org/officeDocument/2006/relationships/image" Target="../media/image42.jpe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7">
            <a:extLst>
              <a:ext uri="{FF2B5EF4-FFF2-40B4-BE49-F238E27FC236}">
                <a16:creationId xmlns:a16="http://schemas.microsoft.com/office/drawing/2014/main" id="{264026FD-2829-4B98-9184-E086A3492D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4510" y="94502"/>
            <a:ext cx="4606925" cy="51589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platzhalter 2">
            <a:extLst>
              <a:ext uri="{FF2B5EF4-FFF2-40B4-BE49-F238E27FC236}">
                <a16:creationId xmlns:a16="http://schemas.microsoft.com/office/drawing/2014/main" id="{6ABB7A6A-34CA-3642-7E0C-879206975D3E}"/>
              </a:ext>
            </a:extLst>
          </p:cNvPr>
          <p:cNvSpPr txBox="1">
            <a:spLocks/>
          </p:cNvSpPr>
          <p:nvPr/>
        </p:nvSpPr>
        <p:spPr>
          <a:xfrm>
            <a:off x="968892" y="2317438"/>
            <a:ext cx="8750854" cy="13817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34504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rgbClr val="D82C6A"/>
                </a:solidFill>
                <a:latin typeface="Roboto"/>
                <a:ea typeface="+mn-ea"/>
                <a:cs typeface="Roboto"/>
              </a:defRPr>
            </a:lvl1pPr>
            <a:lvl2pPr marL="868569" indent="-334065" algn="l" defTabSz="534504" rtl="0" eaLnBrk="1" latinLnBrk="0" hangingPunct="1">
              <a:spcBef>
                <a:spcPct val="20000"/>
              </a:spcBef>
              <a:buFont typeface="Arial"/>
              <a:buChar char="–"/>
              <a:defRPr sz="3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36262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70767" indent="-267252" algn="l" defTabSz="534504" rtl="0" eaLnBrk="1" latinLnBrk="0" hangingPunct="1">
              <a:spcBef>
                <a:spcPct val="20000"/>
              </a:spcBef>
              <a:buFont typeface="Arial"/>
              <a:buChar char="–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05271" indent="-267252" algn="l" defTabSz="534504" rtl="0" eaLnBrk="1" latinLnBrk="0" hangingPunct="1">
              <a:spcBef>
                <a:spcPct val="20000"/>
              </a:spcBef>
              <a:buFont typeface="Arial"/>
              <a:buChar char="»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39776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474281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08786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543290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400" cap="all" noProof="0" dirty="0"/>
              <a:t>Performance optimizations</a:t>
            </a:r>
            <a:br>
              <a:rPr lang="en-US" sz="4400" cap="all" noProof="0" dirty="0"/>
            </a:br>
            <a:r>
              <a:rPr lang="en-US" sz="4400" cap="all" noProof="0" dirty="0"/>
              <a:t>in C#</a:t>
            </a:r>
            <a:endParaRPr lang="en-US" sz="4400" noProof="0" dirty="0"/>
          </a:p>
        </p:txBody>
      </p:sp>
      <p:sp>
        <p:nvSpPr>
          <p:cNvPr id="9" name="Rechteck 4">
            <a:extLst>
              <a:ext uri="{FF2B5EF4-FFF2-40B4-BE49-F238E27FC236}">
                <a16:creationId xmlns:a16="http://schemas.microsoft.com/office/drawing/2014/main" id="{D7D6C096-04EB-33F5-7CB1-F946B0363EDB}"/>
              </a:ext>
            </a:extLst>
          </p:cNvPr>
          <p:cNvSpPr/>
          <p:nvPr/>
        </p:nvSpPr>
        <p:spPr>
          <a:xfrm>
            <a:off x="3165372" y="4928953"/>
            <a:ext cx="42534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Jonathan Jeszenszky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</a:b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@ </a:t>
            </a:r>
            <a:r>
              <a:rPr lang="en-US" sz="1800" noProof="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Guid.New</a:t>
            </a:r>
            <a:endParaRPr lang="en-US" sz="18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297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94218-2319-1A68-BC3E-8DAA6628D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6">
            <a:extLst>
              <a:ext uri="{FF2B5EF4-FFF2-40B4-BE49-F238E27FC236}">
                <a16:creationId xmlns:a16="http://schemas.microsoft.com/office/drawing/2014/main" id="{15666AD8-7D44-5A0C-FB9E-8BD8EA97225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FAAF7CDB-7857-6E10-5E6F-4C3C70561A5A}"/>
              </a:ext>
            </a:extLst>
          </p:cNvPr>
          <p:cNvSpPr/>
          <p:nvPr/>
        </p:nvSpPr>
        <p:spPr>
          <a:xfrm>
            <a:off x="6016602" y="2247371"/>
            <a:ext cx="126978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80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@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B079175-531C-757B-F167-26D9679B4492}"/>
              </a:ext>
            </a:extLst>
          </p:cNvPr>
          <p:cNvSpPr txBox="1"/>
          <p:nvPr/>
        </p:nvSpPr>
        <p:spPr>
          <a:xfrm>
            <a:off x="1635162" y="1420009"/>
            <a:ext cx="0" cy="0"/>
          </a:xfrm>
          <a:prstGeom prst="rect">
            <a:avLst/>
          </a:prstGeom>
        </p:spPr>
        <p:txBody>
          <a:bodyPr vert="horz" wrap="none" lIns="0" tIns="0" rIns="0" bIns="0" rtlCol="0">
            <a:normAutofit fontScale="25000" lnSpcReduction="20000"/>
          </a:bodyPr>
          <a:lstStyle/>
          <a:p>
            <a:endParaRPr lang="en-US" sz="1200" noProof="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683F6D8-87AC-F07F-49ED-98C749A631CE}"/>
              </a:ext>
            </a:extLst>
          </p:cNvPr>
          <p:cNvSpPr txBox="1"/>
          <p:nvPr/>
        </p:nvSpPr>
        <p:spPr>
          <a:xfrm>
            <a:off x="4335332" y="527125"/>
            <a:ext cx="0" cy="0"/>
          </a:xfrm>
          <a:prstGeom prst="rect">
            <a:avLst/>
          </a:prstGeom>
        </p:spPr>
        <p:txBody>
          <a:bodyPr vert="horz" wrap="none" lIns="0" tIns="0" rIns="0" bIns="0" rtlCol="0">
            <a:normAutofit fontScale="25000" lnSpcReduction="20000"/>
          </a:bodyPr>
          <a:lstStyle/>
          <a:p>
            <a:endParaRPr lang="en-US" sz="1200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646872-09DC-0685-8091-EDEBAC643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382" y="1823662"/>
            <a:ext cx="2091615" cy="209161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CB1B739-FEDB-9715-04A1-CBE9D1D9D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261" y="2511996"/>
            <a:ext cx="4982619" cy="992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4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3771E-89BC-2747-A378-49F8ADD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2334AE8-111B-BD9E-B209-8D53C502EA7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706EA7E-929E-D988-F4A0-6BFAFDE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A8D5E45-F926-18EF-4C13-70E222E0CD03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7525A983-F0E9-B68A-676A-080077A3E5AC}"/>
              </a:ext>
            </a:extLst>
          </p:cNvPr>
          <p:cNvSpPr txBox="1"/>
          <p:nvPr/>
        </p:nvSpPr>
        <p:spPr>
          <a:xfrm>
            <a:off x="534988" y="1849724"/>
            <a:ext cx="9349241" cy="1794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When to optimize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to optimize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Measure optimizations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tools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examples</a:t>
            </a:r>
          </a:p>
        </p:txBody>
      </p:sp>
    </p:spTree>
    <p:extLst>
      <p:ext uri="{BB962C8B-B14F-4D97-AF65-F5344CB8AC3E}">
        <p14:creationId xmlns:p14="http://schemas.microsoft.com/office/powerpoint/2010/main" val="1310976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C2811-630F-3C21-28A2-0C78132AE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FDA8647-81D3-3B42-3197-94ABA8954D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306978-B995-1B8B-A3B4-BB9AB9DE7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94F0CC1-ACF6-19F2-593C-31CDFD381862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4020D55-CDCC-B056-16BE-E2477362EFD9}"/>
              </a:ext>
            </a:extLst>
          </p:cNvPr>
          <p:cNvSpPr txBox="1"/>
          <p:nvPr/>
        </p:nvSpPr>
        <p:spPr>
          <a:xfrm>
            <a:off x="534988" y="1849724"/>
            <a:ext cx="9349241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Implement variable pricing for a product depending on the quantity ordered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Example: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Normal Price: 1.00€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10 units: 0.90€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100 units: 0.80€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1.000 units: 0.70€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9254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7B56D-2D31-5D07-2AB9-8CB48056C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92F66B0-6C0C-6D82-3522-4C53D151BF4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CC68B04-A025-6F04-1190-2023FE4AE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43BFDC1-9C53-8854-F70C-CDD4EF93A9BA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65A7E95-9913-B74B-B933-7D75B59AB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70" y="2319916"/>
            <a:ext cx="6030097" cy="243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434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C5DA-64E1-FD53-B7A1-83DAE0CF9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23FFACA-37C8-8C0E-3DEA-DB9B5A824C4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9BFB282-6036-BA42-D6BB-9D4EDD5A3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B36079-ECCC-55B6-9F84-E9D584D6A27B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F9C0BD-EA04-54EA-011F-E3015EA79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50" y="2319916"/>
            <a:ext cx="6030097" cy="2431318"/>
          </a:xfrm>
          <a:prstGeom prst="rect">
            <a:avLst/>
          </a:prstGeom>
        </p:spPr>
      </p:pic>
      <p:sp>
        <p:nvSpPr>
          <p:cNvPr id="7" name="Textfeld 7">
            <a:extLst>
              <a:ext uri="{FF2B5EF4-FFF2-40B4-BE49-F238E27FC236}">
                <a16:creationId xmlns:a16="http://schemas.microsoft.com/office/drawing/2014/main" id="{2FA613AB-1E32-1CCF-07C5-160F46436C01}"/>
              </a:ext>
            </a:extLst>
          </p:cNvPr>
          <p:cNvSpPr txBox="1"/>
          <p:nvPr/>
        </p:nvSpPr>
        <p:spPr>
          <a:xfrm>
            <a:off x="7183438" y="263821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82101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CF50B-0D56-5429-21A1-5FBC2CF4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3532F2-022E-11CA-09C9-C138D9F0B3B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74C6004-0647-5CFD-E699-1B46DA64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2CED9A3-3E98-EBF3-694C-48525DFCDDD4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34DD43-6B11-09D1-25BD-1DEF4B7A2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50" y="2319916"/>
            <a:ext cx="6030097" cy="2431318"/>
          </a:xfrm>
          <a:prstGeom prst="rect">
            <a:avLst/>
          </a:prstGeom>
        </p:spPr>
      </p:pic>
      <p:sp>
        <p:nvSpPr>
          <p:cNvPr id="12" name="Textfeld 7">
            <a:extLst>
              <a:ext uri="{FF2B5EF4-FFF2-40B4-BE49-F238E27FC236}">
                <a16:creationId xmlns:a16="http://schemas.microsoft.com/office/drawing/2014/main" id="{870C6CC7-97B2-937C-D37D-606EBC0CDDAE}"/>
              </a:ext>
            </a:extLst>
          </p:cNvPr>
          <p:cNvSpPr txBox="1"/>
          <p:nvPr/>
        </p:nvSpPr>
        <p:spPr>
          <a:xfrm>
            <a:off x="7183438" y="263821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71337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0533C-4DDF-8FB6-20AA-E676FC7BC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B3956C-DA0C-2282-E20D-B37CF7CDE26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4243B03-63E8-A6CA-B96C-14C73EF6F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221BD2-C885-3765-7537-21953B5D20F4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3973DB-1607-2F25-6BE7-287F1CBF1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50" y="2319916"/>
            <a:ext cx="6030097" cy="2431318"/>
          </a:xfrm>
          <a:prstGeom prst="rect">
            <a:avLst/>
          </a:prstGeom>
        </p:spPr>
      </p:pic>
      <p:sp>
        <p:nvSpPr>
          <p:cNvPr id="12" name="Textfeld 7">
            <a:extLst>
              <a:ext uri="{FF2B5EF4-FFF2-40B4-BE49-F238E27FC236}">
                <a16:creationId xmlns:a16="http://schemas.microsoft.com/office/drawing/2014/main" id="{49AC5F63-5373-8E4E-B11D-380C1C316E90}"/>
              </a:ext>
            </a:extLst>
          </p:cNvPr>
          <p:cNvSpPr txBox="1"/>
          <p:nvPr/>
        </p:nvSpPr>
        <p:spPr>
          <a:xfrm>
            <a:off x="7183438" y="263821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 </a:t>
            </a: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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38680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68A7-9D9A-AB50-114A-2585C5A02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3085094-FEBD-9795-40DA-EC442575FE3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377DF9D-F5DC-DFF8-7C6C-B374DED8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12604C2-9E6C-6744-9220-70D8F8CE020C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7353A1-7EF5-DAAE-E988-955D9AA14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50" y="2319916"/>
            <a:ext cx="6030097" cy="2431318"/>
          </a:xfrm>
          <a:prstGeom prst="rect">
            <a:avLst/>
          </a:prstGeom>
        </p:spPr>
      </p:pic>
      <p:sp>
        <p:nvSpPr>
          <p:cNvPr id="7" name="Textfeld 7">
            <a:extLst>
              <a:ext uri="{FF2B5EF4-FFF2-40B4-BE49-F238E27FC236}">
                <a16:creationId xmlns:a16="http://schemas.microsoft.com/office/drawing/2014/main" id="{68749146-FA63-0AB1-092C-7216D1264B2C}"/>
              </a:ext>
            </a:extLst>
          </p:cNvPr>
          <p:cNvSpPr txBox="1"/>
          <p:nvPr/>
        </p:nvSpPr>
        <p:spPr>
          <a:xfrm>
            <a:off x="7183438" y="3330711"/>
            <a:ext cx="2970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O(n) Solution</a:t>
            </a:r>
          </a:p>
        </p:txBody>
      </p:sp>
    </p:spTree>
    <p:extLst>
      <p:ext uri="{BB962C8B-B14F-4D97-AF65-F5344CB8AC3E}">
        <p14:creationId xmlns:p14="http://schemas.microsoft.com/office/powerpoint/2010/main" val="2327196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061D1-8F43-6CBB-FBC8-C0E5A6C4A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EC92EE-44EA-31E6-7351-8E16D4BD7BC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7325C0E-8EBB-193B-EF96-DF9DB4785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62CD593-CD1A-0F78-9A79-0A4D262B045C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8C14BE5-724A-994D-769B-6B3094764FEC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1.000: 0.70€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1661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3A048-3523-C61F-9DF7-9D4F051F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DBFB71B-8D64-3C87-3F88-A4F68670C6A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90456FE-7EC2-872C-AC3B-117066ECA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080528E-29DE-B4E7-D62A-46672C2118DF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A498ACE5-5EB2-1A06-6311-E2AE9604B3C0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452CA8-7431-28C2-9E5C-0132CF947FEB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268986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990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EB119-6745-3D2A-5F12-DB7522F29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860CC95-AC7F-A25E-0BDB-F42F82E76C4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C2EA786-9D13-A793-199B-43582EC2C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F3F0992-EB84-ED5E-E7CF-991C694F5922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21CA5DAD-4FC0-3065-9C37-51A1F30035FB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0D0A61-7184-51FF-03B8-1AA78BA00B27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268986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1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A25A-D34A-FC41-9DE8-3518DD35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850D90-E938-A4D3-7D6A-494699CCD0A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22FD44D-4988-4873-66E4-4204B5FA2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BAED2FA-3B3C-35C2-598E-0EB2EFFB70D8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EC9C357-B6FE-352F-4316-3DB947C19D5E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CAAD51-C749-1481-C074-FF2ACEE40BBE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9982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0751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DFC8-DC7D-7A06-F4F4-3CD5185B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C35861-88DE-0CBE-4ACE-9CC4893B9EC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10CB4B3-9C22-A35E-1A92-6307B0060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42BB98E-FFAB-38ED-1478-8DDD4E1D7912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86AEFA9-2153-8E0E-67B9-EE989418BAE2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A810FA-3B6D-74C4-7A9F-6085B0B03B08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9982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39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58E89-7EFD-8E41-D147-A37D27EAD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AFB8BD9-6B31-75EF-8C42-126D3122F83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E45BD52-612B-A102-FF1E-BC1EF1612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7FA0AE2-AB1F-00D5-F1F1-AB7DB12A910E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524F2CC4-3FE2-9017-588B-72413ECA9A8E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77476F-C407-5D65-AF76-7015FCEA9F6D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6934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88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85734-3076-9DBD-7C4D-BE2805F1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F801A23-BFAA-3412-DEE9-61B24C8FBA7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7A6D060-6A37-FEBB-A7D7-50B8D70B4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BCBCC9-15E9-7A01-3A2A-BF1675DD9825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8783FD5-51A3-9826-862E-E5BD972D1EAF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7DDA4D5-8E05-E172-CFAD-798505CF14A4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6934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8795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2F625-1A26-EDB6-A7B5-B25E15EF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CE4947-3940-6161-DB7D-1BFBD234889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DED49B3-7C89-8496-2790-6B3DCB22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D12B0F8-4F35-AF35-099D-D109E951BC3F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530BBC3-DB2D-46A0-DD1F-CC50EE77CD99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8CFB7B4-94A4-6D9E-CCB0-1190E3FA30FA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3733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4314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10389-865C-E2E3-2FC9-3A2686ACA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A36FE4-D14A-2C37-5DB7-2D66A0A437F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C977BBA-27CE-C2C3-30D6-50700A66C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0F02748-A96B-370D-04AF-EECA837E3B91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8F2D957B-3C96-315E-681B-5C2E8DEB734D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                     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Solution: 0.90€</a:t>
            </a:r>
            <a:b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35AC06B-B600-47A7-7F5B-8E373A6E0991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37338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0673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4ECDA-91A1-9FB5-2D19-D572C310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59903E1-E029-928F-E8CF-E91F04D3DB5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4D0E4BF-64F7-6527-864C-5C0A8178A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76DC419-F008-958A-6C63-F93A22B20E42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E37614-1263-365C-319A-11144FBAA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720" y="2163798"/>
            <a:ext cx="6118860" cy="286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73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507AC-05C9-0B4D-850E-192DE30C0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ACA4C2-1B13-CB6D-2B88-23D8219C560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024BB7C-BA55-ABA6-6193-EE43E6A2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59CCB30-471E-546E-F5ED-A263B68150EB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96D44E-8C7D-4B90-E393-A914F8EA9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569" y="2454263"/>
            <a:ext cx="5231162" cy="2571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91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9F740-12D9-905F-9211-67B719B86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FD6213-DC9F-C708-C582-6D70CDEAE57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5C86199-356E-67A8-AD12-A17B9B6E5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E8BF748-185C-DAEF-1392-2589E8489F9D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C745D0-6F44-A9AA-33C2-EF4A2C68C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131" y="1906570"/>
            <a:ext cx="4272376" cy="357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0405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602C-F9DF-37B1-2176-A9783FF72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DC7E632-8CC8-A280-246E-90CE240B5E76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933E0C6-D023-113B-1398-95AC542F9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FBC9D7-DDB6-8C08-3D55-5045EE094D7E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F134E3-6B64-868F-F785-D421ED619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131" y="1906570"/>
            <a:ext cx="4272376" cy="3573260"/>
          </a:xfrm>
          <a:prstGeom prst="rect">
            <a:avLst/>
          </a:prstGeom>
        </p:spPr>
      </p:pic>
      <p:sp>
        <p:nvSpPr>
          <p:cNvPr id="4" name="Textfeld 7">
            <a:extLst>
              <a:ext uri="{FF2B5EF4-FFF2-40B4-BE49-F238E27FC236}">
                <a16:creationId xmlns:a16="http://schemas.microsoft.com/office/drawing/2014/main" id="{8F979706-EC2F-2F06-A0F7-838859DF63C3}"/>
              </a:ext>
            </a:extLst>
          </p:cNvPr>
          <p:cNvSpPr txBox="1"/>
          <p:nvPr/>
        </p:nvSpPr>
        <p:spPr>
          <a:xfrm>
            <a:off x="7831138" y="3283472"/>
            <a:ext cx="2970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O(log(n)) Solution</a:t>
            </a:r>
          </a:p>
        </p:txBody>
      </p:sp>
    </p:spTree>
    <p:extLst>
      <p:ext uri="{BB962C8B-B14F-4D97-AF65-F5344CB8AC3E}">
        <p14:creationId xmlns:p14="http://schemas.microsoft.com/office/powerpoint/2010/main" val="1611055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7FADC-8EF9-3B79-C325-FAB0A395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98FAA98-E385-61D7-AA01-6ACEABFF4BE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D80F42F-711A-32DB-D8A1-DB742E21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4500387-7B87-1CFC-F390-3A5635DDE497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C3B622-E679-5A61-F8FA-983752AEFD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6150" y="1925620"/>
            <a:ext cx="4272376" cy="35732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D5FBC24-9AB0-17DD-872F-7BCE39202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12" y="3105429"/>
            <a:ext cx="4189412" cy="140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395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AC307-298C-531E-A163-9D80F2A7C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3EE8131-3755-2FDD-3BCA-0BB60DA6E94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7F75BF4-4407-BD66-9C9B-BCA847C99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0620074-2334-5B00-7637-992765C4377E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D9C2E28-120F-56DC-0B9F-BCA4ED556641}"/>
              </a:ext>
            </a:extLst>
          </p:cNvPr>
          <p:cNvSpPr txBox="1"/>
          <p:nvPr/>
        </p:nvSpPr>
        <p:spPr>
          <a:xfrm>
            <a:off x="534988" y="1849724"/>
            <a:ext cx="9349241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 and will only be used for special, high-volume customers </a:t>
            </a:r>
          </a:p>
        </p:txBody>
      </p:sp>
    </p:spTree>
    <p:extLst>
      <p:ext uri="{BB962C8B-B14F-4D97-AF65-F5344CB8AC3E}">
        <p14:creationId xmlns:p14="http://schemas.microsoft.com/office/powerpoint/2010/main" val="35380439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100A1-073F-4D35-ECDF-39048D1FE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55D5FF9-DFAD-5278-2ABA-6731C89DFB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82876CF-8B74-07A7-9511-33A32DBA8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04ADA-C5EB-5131-53E9-A8830ADA4709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CC667C6A-056C-3B44-0949-0070AFEB6AE5}"/>
              </a:ext>
            </a:extLst>
          </p:cNvPr>
          <p:cNvSpPr txBox="1"/>
          <p:nvPr/>
        </p:nvSpPr>
        <p:spPr>
          <a:xfrm>
            <a:off x="534988" y="1849724"/>
            <a:ext cx="9349241" cy="1794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 and will only be used for special, high-volume customers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is basically not existing at that level</a:t>
            </a:r>
          </a:p>
        </p:txBody>
      </p:sp>
    </p:spTree>
    <p:extLst>
      <p:ext uri="{BB962C8B-B14F-4D97-AF65-F5344CB8AC3E}">
        <p14:creationId xmlns:p14="http://schemas.microsoft.com/office/powerpoint/2010/main" val="6687781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CCD7-AEB5-70C4-54D6-4123063C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3037428-E064-A710-B02B-20211D0E1AB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63AD21D-D114-345F-4F7E-EE113AF22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271EBAC-B615-234B-F4A4-01C478A936D8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Online Store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5A462709-8971-6DB0-B202-07EE842A0833}"/>
              </a:ext>
            </a:extLst>
          </p:cNvPr>
          <p:cNvSpPr txBox="1"/>
          <p:nvPr/>
        </p:nvSpPr>
        <p:spPr>
          <a:xfrm>
            <a:off x="534988" y="1849724"/>
            <a:ext cx="9349241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 and will only be used for special, high-volume customers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is basically not existing at that level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also introduced a possible failure for other developers (or LLMs) because they might directly use 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new 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PriceTable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(tiers).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GetUnitPrice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quantity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)</a:t>
            </a:r>
            <a:r>
              <a:rPr lang="fr-FR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fr-FR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removing</a:t>
            </a:r>
            <a:r>
              <a:rPr lang="fr-FR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all the </a:t>
            </a:r>
            <a:r>
              <a:rPr lang="fr-FR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advantages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004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0C5B-8DE7-D19C-D63D-57B0706E0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D93523-3E3E-796C-8C9A-0A4154276DC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0375B7F-92EB-73E3-3A33-716672ABB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78502A2-1C31-8617-8C19-E1E2FB40EF45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 premature optimizations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6057E59-A2FF-A3D9-C754-912F6083F3A3}"/>
              </a:ext>
            </a:extLst>
          </p:cNvPr>
          <p:cNvSpPr txBox="1"/>
          <p:nvPr/>
        </p:nvSpPr>
        <p:spPr>
          <a:xfrm>
            <a:off x="534988" y="1849724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"Premature Optimization is the root of all evil“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~ Donald Knuth</a:t>
            </a:r>
          </a:p>
        </p:txBody>
      </p:sp>
    </p:spTree>
    <p:extLst>
      <p:ext uri="{BB962C8B-B14F-4D97-AF65-F5344CB8AC3E}">
        <p14:creationId xmlns:p14="http://schemas.microsoft.com/office/powerpoint/2010/main" val="33684022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8334B-1A18-C819-9867-11C11A74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8D8B2F9-7DE5-2346-BFD9-8BD7F5C204F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D5365D6-BEF8-1723-CA9E-48742F525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666EC19-4FD3-28FD-EA6B-A63FE4897B01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 premature optimizations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2694547-330F-4853-93F8-B7ADCF3541D1}"/>
              </a:ext>
            </a:extLst>
          </p:cNvPr>
          <p:cNvSpPr txBox="1"/>
          <p:nvPr/>
        </p:nvSpPr>
        <p:spPr>
          <a:xfrm>
            <a:off x="534988" y="1849724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Optimizing before we know that we actually need to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(and potentially spending a lot of time on it)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Code itself may be harder to understand</a:t>
            </a:r>
          </a:p>
        </p:txBody>
      </p:sp>
    </p:spTree>
    <p:extLst>
      <p:ext uri="{BB962C8B-B14F-4D97-AF65-F5344CB8AC3E}">
        <p14:creationId xmlns:p14="http://schemas.microsoft.com/office/powerpoint/2010/main" val="15624169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7A893-C548-0709-9988-2FC56D6E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458E9D-253E-A552-E970-5599F51B4A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C5633E1-B6A3-2FAA-941D-9D726D336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F77BFE3-77D4-4348-A005-251E11A37ED7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When should you optimize?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C6995307-6D29-C319-6C23-8967FA2F0597}"/>
              </a:ext>
            </a:extLst>
          </p:cNvPr>
          <p:cNvSpPr txBox="1"/>
          <p:nvPr/>
        </p:nvSpPr>
        <p:spPr>
          <a:xfrm>
            <a:off x="534988" y="1849724"/>
            <a:ext cx="961866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“Make it work, make it right, make it fast”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~ Kent Beck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Get the code to run and solve the problem</a:t>
            </a: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Refactor the code to make it clean, readable and maintainable</a:t>
            </a: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Only then, if you have proof that the code needs optimization, you should start to optimize</a:t>
            </a:r>
          </a:p>
        </p:txBody>
      </p:sp>
    </p:spTree>
    <p:extLst>
      <p:ext uri="{BB962C8B-B14F-4D97-AF65-F5344CB8AC3E}">
        <p14:creationId xmlns:p14="http://schemas.microsoft.com/office/powerpoint/2010/main" val="29465118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66086-E0BD-DCB9-D763-12ECA8937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F889A3-13CA-818E-5865-05AC4280D12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9D25CC-5639-16F4-477F-954707FAB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DA4F3B1-F067-EFE4-A31F-36E67B8AC63D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When should you optimize?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31ABF29F-B1B2-7477-D601-225B1252A7EF}"/>
              </a:ext>
            </a:extLst>
          </p:cNvPr>
          <p:cNvSpPr txBox="1"/>
          <p:nvPr/>
        </p:nvSpPr>
        <p:spPr>
          <a:xfrm>
            <a:off x="534988" y="1849724"/>
            <a:ext cx="9618662" cy="1794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Some indicators that you need to optimize: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Profiler reports 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User experience suffers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Scale breaks the system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Computing costs get too expensive</a:t>
            </a:r>
          </a:p>
        </p:txBody>
      </p:sp>
    </p:spTree>
    <p:extLst>
      <p:ext uri="{BB962C8B-B14F-4D97-AF65-F5344CB8AC3E}">
        <p14:creationId xmlns:p14="http://schemas.microsoft.com/office/powerpoint/2010/main" val="11533465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61C80-C281-CE8C-CB0C-88AA19694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EC78849-2B43-95C8-9DF4-4E3092C0EE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5B7A6C-AF1C-60F0-595A-EDB9418E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EC5287-26BD-8A47-B290-2F71C9ACC0CA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06189967-39C7-FE2F-DB39-0363E5457FFA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want to count all the persons that are older than 50</a:t>
            </a:r>
          </a:p>
        </p:txBody>
      </p:sp>
    </p:spTree>
    <p:extLst>
      <p:ext uri="{BB962C8B-B14F-4D97-AF65-F5344CB8AC3E}">
        <p14:creationId xmlns:p14="http://schemas.microsoft.com/office/powerpoint/2010/main" val="8437197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8AB60-0FD1-EE0C-81D6-AA0116B5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E4D884-D28C-212C-EB18-39BB68DFF8B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CAC8C9-D0D0-BFE1-AC83-BA324597B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CE9DB4-4FDB-8316-0D54-3F4E2CC71E9C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9073A-7F2E-1F33-9489-72F5D0015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78" y="2653741"/>
            <a:ext cx="5831681" cy="194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2012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611C-CAD6-5B07-638E-5831BE6E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0FE5EF-008E-5984-F4D2-86DEB98DC36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EAFF57D-821E-28D0-7A1B-9FBB2E25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D828B80-388C-5BB7-F306-BC1F367F17FC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D2997-CF19-E9B9-B5AD-555FF8569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78" y="2653741"/>
            <a:ext cx="5831681" cy="1947690"/>
          </a:xfrm>
          <a:prstGeom prst="rect">
            <a:avLst/>
          </a:prstGeom>
        </p:spPr>
      </p:pic>
      <p:sp>
        <p:nvSpPr>
          <p:cNvPr id="7" name="Textfeld 7">
            <a:extLst>
              <a:ext uri="{FF2B5EF4-FFF2-40B4-BE49-F238E27FC236}">
                <a16:creationId xmlns:a16="http://schemas.microsoft.com/office/drawing/2014/main" id="{B14C2FAB-BA6A-1B86-E966-16A6C1390C64}"/>
              </a:ext>
            </a:extLst>
          </p:cNvPr>
          <p:cNvSpPr txBox="1"/>
          <p:nvPr/>
        </p:nvSpPr>
        <p:spPr>
          <a:xfrm>
            <a:off x="534987" y="5026008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could we optimize this?</a:t>
            </a:r>
          </a:p>
        </p:txBody>
      </p:sp>
    </p:spTree>
    <p:extLst>
      <p:ext uri="{BB962C8B-B14F-4D97-AF65-F5344CB8AC3E}">
        <p14:creationId xmlns:p14="http://schemas.microsoft.com/office/powerpoint/2010/main" val="2964119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02DB2-B0AC-86B2-EC2A-91F8710A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B46916-9B32-127F-F1A1-59668DF0E44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0633A9E-021A-9FC7-D39A-3093CD9AF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864BB77-CEAE-5C58-554A-635ED4E935C3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8241D0-87B0-EBF4-63B8-848BB7E8F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108" y="2188498"/>
            <a:ext cx="5128419" cy="8003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FB4833-5D3E-B9D2-3B8F-74777E73C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8969" y="3238854"/>
            <a:ext cx="6410698" cy="2383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8754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223C-3922-7DEF-72CE-BD9EF9FC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44F004E-2966-7B4E-5A36-74B649D4E27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E24AD28-84ED-426C-DA7F-7B1F8994D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1769D2-FD15-2A3D-9B31-2E0E0CE46E9F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1C308D-8004-B3E6-86C3-A24DDC78E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803" y="2553561"/>
            <a:ext cx="6981031" cy="1827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8649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4769-B1D2-14C0-B370-DB21FD8CB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6320247-F83D-5852-7F3C-6A4660480BE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1A0923F-D6D4-A22D-06F2-6E1774438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BBEB44F-9DB9-D1AF-0202-363DBC31CECE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741FDC-EC42-E3F8-00D1-0AE5F5349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619" y="2040973"/>
            <a:ext cx="5613400" cy="350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283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0FEFB-A2B5-7549-A40C-809F01DA0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E0E88F-5E5E-7459-3030-0075C94798D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8004DEE-53CC-1059-0AFF-BE26B172F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B43901-169D-9E43-A4D5-09D6B70ACB51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7D3181B-D14C-D004-8D37-5ED5763EFA74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</a:t>
            </a:r>
          </a:p>
        </p:txBody>
      </p:sp>
    </p:spTree>
    <p:extLst>
      <p:ext uri="{BB962C8B-B14F-4D97-AF65-F5344CB8AC3E}">
        <p14:creationId xmlns:p14="http://schemas.microsoft.com/office/powerpoint/2010/main" val="36266781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88CD-57EF-670A-0B4D-DFA6913E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05B9BD-AA80-D0FE-4959-37EF026494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9525550-7D15-0F49-DB54-0FFB1A5CD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0ACBCB0-5145-97A9-90CD-36497FC9EC1F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FF3C5687-7150-E7C3-5424-4EF239CB142F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 (probably)</a:t>
            </a:r>
          </a:p>
        </p:txBody>
      </p:sp>
    </p:spTree>
    <p:extLst>
      <p:ext uri="{BB962C8B-B14F-4D97-AF65-F5344CB8AC3E}">
        <p14:creationId xmlns:p14="http://schemas.microsoft.com/office/powerpoint/2010/main" val="36596685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51B0-DBDD-7E92-AE71-B400FE72F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56AEBC-9530-274B-449D-288FF8372E8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24E334C-5D64-7C6D-3AD8-1212B420B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6919B7C-55B2-DE04-A6A7-198DBA5857E2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Example – 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F145507F-B7D5-D30E-84B1-7978AC983764}"/>
              </a:ext>
            </a:extLst>
          </p:cNvPr>
          <p:cNvSpPr txBox="1"/>
          <p:nvPr/>
        </p:nvSpPr>
        <p:spPr>
          <a:xfrm>
            <a:off x="534988" y="1849724"/>
            <a:ext cx="9618662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 (probably)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haven’t measured it, so we don’t know if it is faster</a:t>
            </a:r>
          </a:p>
        </p:txBody>
      </p:sp>
    </p:spTree>
    <p:extLst>
      <p:ext uri="{BB962C8B-B14F-4D97-AF65-F5344CB8AC3E}">
        <p14:creationId xmlns:p14="http://schemas.microsoft.com/office/powerpoint/2010/main" val="823603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256B8-AAF3-BD51-FA8F-FDE92C3B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4B76A8B-CA6B-4FEF-C681-E1A3BB11743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889EDEE-DFA0-D1E3-0059-2DA43EE26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A08A0D-A5B6-3AA5-C82B-9A1F9AF00F12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D1A81BE-169B-F068-AE9C-D0ED526D31AA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Lets us write Benchmarks to measure the performance of our code</a:t>
            </a:r>
          </a:p>
        </p:txBody>
      </p:sp>
    </p:spTree>
    <p:extLst>
      <p:ext uri="{BB962C8B-B14F-4D97-AF65-F5344CB8AC3E}">
        <p14:creationId xmlns:p14="http://schemas.microsoft.com/office/powerpoint/2010/main" val="3932087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57634-67C7-A0A9-B682-F2C8A9DAE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CD09686-5315-6888-10DC-3CA22EFEB15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ABBF1D2-EE1C-0A63-E4BB-3C9459AAE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F7DB12-A895-AEB1-3A27-32ED55CEC72F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EAC6A16A-742C-66AB-1ED1-438E7D2DCC18}"/>
              </a:ext>
            </a:extLst>
          </p:cNvPr>
          <p:cNvSpPr txBox="1"/>
          <p:nvPr/>
        </p:nvSpPr>
        <p:spPr>
          <a:xfrm>
            <a:off x="534988" y="1849724"/>
            <a:ext cx="9618662" cy="2487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Does some Heavy Lifting for us: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Isolated Execution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Overhead Evaluations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Figures out “unroll factor” (optimal number of invocations per iteration)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Warms up JIT compiler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Cleans up outliners and collects statistical information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Can be used to measure both time and memory</a:t>
            </a:r>
          </a:p>
        </p:txBody>
      </p:sp>
    </p:spTree>
    <p:extLst>
      <p:ext uri="{BB962C8B-B14F-4D97-AF65-F5344CB8AC3E}">
        <p14:creationId xmlns:p14="http://schemas.microsoft.com/office/powerpoint/2010/main" val="3484126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47D7C-026F-7A11-0AF2-9CCEDA3FD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C63FFD4-7629-BCE5-23EA-DDDC30D1DB7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D3C14E9-535B-047E-8D7B-B84EAD92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1BD696E-A2DA-7A1B-F9B6-DB336CABED2C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51173A-CB73-C6F1-EE0B-E3D377201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380" y="1892300"/>
            <a:ext cx="5261878" cy="380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9432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5D593-33B8-8C0D-911F-8EB4DF3B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2C4CB8-EE9C-BDB6-CAD4-B4FB5CEE1B2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76BAA1B-8A70-EEC9-6284-CFAF90BB3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50E9154-24F3-C75A-6D01-ECCFE595A2B7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1FEBC5-0F39-AB40-D260-E04F2D93D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92" y="3008312"/>
            <a:ext cx="7906853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8670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4D99A-4CFB-DFBE-FDA5-01C0615A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8DD3C49-E89A-A6EA-BD13-5E9E907C04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D73888-F0E4-911A-DA38-0840CEA4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201FA2-8D70-D0D6-1630-41FC4F11DE94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67351-F383-ADED-80E0-BAC23959F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92" y="3008312"/>
            <a:ext cx="7906853" cy="1038370"/>
          </a:xfrm>
          <a:prstGeom prst="rect">
            <a:avLst/>
          </a:prstGeom>
        </p:spPr>
      </p:pic>
      <p:sp>
        <p:nvSpPr>
          <p:cNvPr id="4" name="Textfeld 7">
            <a:extLst>
              <a:ext uri="{FF2B5EF4-FFF2-40B4-BE49-F238E27FC236}">
                <a16:creationId xmlns:a16="http://schemas.microsoft.com/office/drawing/2014/main" id="{99302529-6A3E-35E0-F03E-689060246C97}"/>
              </a:ext>
            </a:extLst>
          </p:cNvPr>
          <p:cNvSpPr txBox="1"/>
          <p:nvPr/>
        </p:nvSpPr>
        <p:spPr>
          <a:xfrm>
            <a:off x="2525712" y="4616280"/>
            <a:ext cx="5637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Huh?</a:t>
            </a:r>
          </a:p>
        </p:txBody>
      </p:sp>
    </p:spTree>
    <p:extLst>
      <p:ext uri="{BB962C8B-B14F-4D97-AF65-F5344CB8AC3E}">
        <p14:creationId xmlns:p14="http://schemas.microsoft.com/office/powerpoint/2010/main" val="42448454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0C72-FEB9-B135-2B87-E11D8388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CDC0F2-A414-CB23-E70F-8F96DB67617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AC32BC1-DD75-AFA8-AFC4-2738889E5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A927C6-2D2C-9559-AD3D-9C17086B3606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– .net6.0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5F0799-D312-B202-DC6F-89D226799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380" y="1892300"/>
            <a:ext cx="5261878" cy="380682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25693EB-F1E5-5D96-A379-798C9EF34502}"/>
              </a:ext>
            </a:extLst>
          </p:cNvPr>
          <p:cNvCxnSpPr/>
          <p:nvPr/>
        </p:nvCxnSpPr>
        <p:spPr>
          <a:xfrm>
            <a:off x="2838450" y="2660650"/>
            <a:ext cx="23749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7737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CD556-836A-4F31-DB54-A3C1F950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6AED22-F8AA-F198-39FC-301CC25AEA1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593E611-CB4A-3E0C-C9B3-E22DA1A1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700E83-A384-BB86-78FA-BEBEC56ACFFA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– .net10.0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7B98D8-F72C-4204-CC66-A0BC54DE3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43" y="2833561"/>
            <a:ext cx="1022175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0882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77CAA-301F-061F-C707-088247E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6DF7D9-27DD-AEA5-CDB6-66C77FA72F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F950B78-7354-8544-2057-B7A5EF7AB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948FF70-0AAB-B189-C2CA-A585EDBDF210}"/>
              </a:ext>
            </a:extLst>
          </p:cNvPr>
          <p:cNvSpPr/>
          <p:nvPr/>
        </p:nvSpPr>
        <p:spPr>
          <a:xfrm>
            <a:off x="534988" y="990617"/>
            <a:ext cx="66468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– Results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8CCD4954-8EDF-BA24-25FD-941A04F079C0}"/>
              </a:ext>
            </a:extLst>
          </p:cNvPr>
          <p:cNvSpPr txBox="1"/>
          <p:nvPr/>
        </p:nvSpPr>
        <p:spPr>
          <a:xfrm>
            <a:off x="534988" y="1849724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Why?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Used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 but it is actually a List in the Background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 in .net6.0 checks if source is a List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uses specialized Iterator that Count can use directly  becomes plain indexed loop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0710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05CAA-5857-D4C6-B5DF-6C7D47D80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993DBF-8FE1-3163-4E0C-3F8BAF0DCFE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E31E974-75EC-7EF9-FF95-341BEB87C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B56580-C531-55FC-F62D-1FD3F5258EA5}"/>
              </a:ext>
            </a:extLst>
          </p:cNvPr>
          <p:cNvSpPr/>
          <p:nvPr/>
        </p:nvSpPr>
        <p:spPr>
          <a:xfrm>
            <a:off x="534988" y="990617"/>
            <a:ext cx="78279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– .net6.0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WhereCount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74467E-0718-D237-D6D4-FA585E1D8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205" y="2040973"/>
            <a:ext cx="4812228" cy="363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2567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43FB-91C3-26AB-9140-AFE8A5066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B5437BD-D616-F2A1-1190-78BEB3F1CE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C6577E6-02DA-0145-BA1B-17E48017B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4C7AE8-9CF1-1CD0-78AA-ABBC766D041D}"/>
              </a:ext>
            </a:extLst>
          </p:cNvPr>
          <p:cNvSpPr/>
          <p:nvPr/>
        </p:nvSpPr>
        <p:spPr>
          <a:xfrm>
            <a:off x="534988" y="990617"/>
            <a:ext cx="78279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– .net6.0 Count 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CF62BB-6715-296E-1737-E9A0299F1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378" y="2040973"/>
            <a:ext cx="6161881" cy="2188332"/>
          </a:xfrm>
          <a:prstGeom prst="rect">
            <a:avLst/>
          </a:prstGeom>
        </p:spPr>
      </p:pic>
      <p:sp>
        <p:nvSpPr>
          <p:cNvPr id="9" name="Textfeld 7">
            <a:extLst>
              <a:ext uri="{FF2B5EF4-FFF2-40B4-BE49-F238E27FC236}">
                <a16:creationId xmlns:a16="http://schemas.microsoft.com/office/drawing/2014/main" id="{7E813DC4-EE0B-A37A-C049-F1A5655A8701}"/>
              </a:ext>
            </a:extLst>
          </p:cNvPr>
          <p:cNvSpPr txBox="1"/>
          <p:nvPr/>
        </p:nvSpPr>
        <p:spPr>
          <a:xfrm>
            <a:off x="669697" y="4387202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Has to do Boxing for the Enumerator</a:t>
            </a:r>
          </a:p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Needs to call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MoveNext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and Current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Same Issue for foreach</a:t>
            </a:r>
          </a:p>
        </p:txBody>
      </p:sp>
    </p:spTree>
    <p:extLst>
      <p:ext uri="{BB962C8B-B14F-4D97-AF65-F5344CB8AC3E}">
        <p14:creationId xmlns:p14="http://schemas.microsoft.com/office/powerpoint/2010/main" val="3528166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EAE6D-FE3B-2081-50D6-E551DA39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04AE86-B212-7557-F182-A1538E174EF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04E826C-80A4-D02F-5FB4-9610D3EED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0A39DA8-5CD6-E992-AB2B-4620571DB03D}"/>
              </a:ext>
            </a:extLst>
          </p:cNvPr>
          <p:cNvSpPr/>
          <p:nvPr/>
        </p:nvSpPr>
        <p:spPr>
          <a:xfrm>
            <a:off x="534988" y="990617"/>
            <a:ext cx="78279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– .net10.0 Count 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3454478D-A4FB-ACD4-04CE-EF458C06436F}"/>
              </a:ext>
            </a:extLst>
          </p:cNvPr>
          <p:cNvSpPr txBox="1"/>
          <p:nvPr/>
        </p:nvSpPr>
        <p:spPr>
          <a:xfrm>
            <a:off x="534988" y="1849724"/>
            <a:ext cx="9349241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also uses List / Array checks now for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Enumerables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foreach got faster via Dynamic PGO (Profile-Guided Optimization)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0950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7D2DC-861F-6536-F7B6-2E1FEB10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2B10997-7D3A-7827-9908-00DC0022834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F31DFC6-4E46-F59E-6972-0B013C6D6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B0FCE96-BCD5-E26D-305D-41AC587704F7}"/>
              </a:ext>
            </a:extLst>
          </p:cNvPr>
          <p:cNvSpPr/>
          <p:nvPr/>
        </p:nvSpPr>
        <p:spPr>
          <a:xfrm>
            <a:off x="534988" y="990617"/>
            <a:ext cx="78279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 – .net10.0 Count 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A7E9812-2D5F-D399-B66B-791860D44562}"/>
              </a:ext>
            </a:extLst>
          </p:cNvPr>
          <p:cNvSpPr txBox="1"/>
          <p:nvPr/>
        </p:nvSpPr>
        <p:spPr>
          <a:xfrm>
            <a:off x="534988" y="1849724"/>
            <a:ext cx="9349241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also uses List / Array checks now for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Enumerables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foreach got faster via Dynamic PGO (Profile-Guided Optimization)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273978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60456-18A4-6DF8-AA08-67F8E9F9E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49A302-ADAA-BD84-2F14-92FAF3EC1C7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9482909-AEB9-29DC-F800-0EA7E3FA0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42F7558-4A01-7797-C3AE-394B085CEBBE}"/>
              </a:ext>
            </a:extLst>
          </p:cNvPr>
          <p:cNvSpPr/>
          <p:nvPr/>
        </p:nvSpPr>
        <p:spPr>
          <a:xfrm>
            <a:off x="682049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2EB777D-C046-3545-745D-CED2E1ED39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56946" y="2110603"/>
            <a:ext cx="1143566" cy="114356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988A0D2-A40B-0AD4-0144-6520F7C1BD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47341" y="2205923"/>
            <a:ext cx="1009501" cy="100950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9BC534C3-E8CA-2B8F-5427-75D857932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1728" y="2192342"/>
            <a:ext cx="1061828" cy="1061828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7742E1AF-3006-CDC4-1DEA-8F37B9D0EA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2049" y="2091231"/>
            <a:ext cx="1143567" cy="114356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B0F8A62B-AE75-AD09-CEA0-395CC2B9F021}"/>
              </a:ext>
            </a:extLst>
          </p:cNvPr>
          <p:cNvSpPr txBox="1"/>
          <p:nvPr/>
        </p:nvSpPr>
        <p:spPr>
          <a:xfrm>
            <a:off x="635619" y="3552877"/>
            <a:ext cx="22206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Text, text und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nochmals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Text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29B187D-0E64-D01A-1F4A-99CA10ACE231}"/>
              </a:ext>
            </a:extLst>
          </p:cNvPr>
          <p:cNvSpPr txBox="1"/>
          <p:nvPr/>
        </p:nvSpPr>
        <p:spPr>
          <a:xfrm>
            <a:off x="3100584" y="3540875"/>
            <a:ext cx="22206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Text, text und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nochmals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Text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6F33B71-824B-2A14-C933-EE04DCF42967}"/>
              </a:ext>
            </a:extLst>
          </p:cNvPr>
          <p:cNvSpPr txBox="1"/>
          <p:nvPr/>
        </p:nvSpPr>
        <p:spPr>
          <a:xfrm>
            <a:off x="5565549" y="3514585"/>
            <a:ext cx="22206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Text, text und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nochmals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Text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8958CA1-3064-74BB-8ADE-23FB69FA7699}"/>
              </a:ext>
            </a:extLst>
          </p:cNvPr>
          <p:cNvSpPr txBox="1"/>
          <p:nvPr/>
        </p:nvSpPr>
        <p:spPr>
          <a:xfrm>
            <a:off x="7932964" y="3557709"/>
            <a:ext cx="22206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Text, text und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nochmals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Text</a:t>
            </a:r>
          </a:p>
        </p:txBody>
      </p:sp>
    </p:spTree>
    <p:extLst>
      <p:ext uri="{BB962C8B-B14F-4D97-AF65-F5344CB8AC3E}">
        <p14:creationId xmlns:p14="http://schemas.microsoft.com/office/powerpoint/2010/main" val="38226878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353F8-B5F2-8F2A-CCF4-9C0FB4A85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D792E52-1C97-C520-F475-55125AD765A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867F4F6-C0FB-1644-6F74-624D6862B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A312E55-436D-D491-3DAA-8F7B08D5597A}"/>
              </a:ext>
            </a:extLst>
          </p:cNvPr>
          <p:cNvSpPr/>
          <p:nvPr/>
        </p:nvSpPr>
        <p:spPr>
          <a:xfrm>
            <a:off x="534988" y="990617"/>
            <a:ext cx="523116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491CA48-3E4E-6CDA-0DFA-06DBFB83BF64}"/>
              </a:ext>
            </a:extLst>
          </p:cNvPr>
          <p:cNvSpPr txBox="1"/>
          <p:nvPr/>
        </p:nvSpPr>
        <p:spPr>
          <a:xfrm>
            <a:off x="534988" y="1849724"/>
            <a:ext cx="9349241" cy="1794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Lorem ipsum dolor sit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amet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consectetuer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adipiscing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elit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commodo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ligula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dolor.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Cum sociis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natoque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penatibus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magnis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dis parturient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montes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nascetur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ridiculus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mus.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 Nulla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consequat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enim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pede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justo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fringilla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vel,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aliquet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vulputate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arcu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In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enim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justo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rhoncus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imperdiet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a,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venenatis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vitae,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justo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 </a:t>
            </a:r>
          </a:p>
        </p:txBody>
      </p:sp>
    </p:spTree>
    <p:extLst>
      <p:ext uri="{BB962C8B-B14F-4D97-AF65-F5344CB8AC3E}">
        <p14:creationId xmlns:p14="http://schemas.microsoft.com/office/powerpoint/2010/main" val="3541892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4B549-D50E-3285-3F56-FA5A13BA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1AF1F8-4BD4-982E-23FC-9FBF703F4FA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D89418F-AD6C-2C6A-62E4-5E2350D1C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055B41C-6A46-98F2-D5B9-1D7793CB7087}"/>
              </a:ext>
            </a:extLst>
          </p:cNvPr>
          <p:cNvSpPr/>
          <p:nvPr/>
        </p:nvSpPr>
        <p:spPr>
          <a:xfrm>
            <a:off x="534988" y="990617"/>
            <a:ext cx="18424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4BFA164-919F-C8E6-F4EB-E1D6A250BEDF}"/>
              </a:ext>
            </a:extLst>
          </p:cNvPr>
          <p:cNvSpPr txBox="1"/>
          <p:nvPr/>
        </p:nvSpPr>
        <p:spPr>
          <a:xfrm>
            <a:off x="534989" y="1849724"/>
            <a:ext cx="3004277" cy="3182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160"/>
              </a:lnSpc>
              <a:spcAft>
                <a:spcPts val="800"/>
              </a:spcAft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Lorem ipsum dolor sit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amet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consectetuer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adipiscing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elit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commodo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ligula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dolor.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Cum sociis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natoque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penatibus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magnis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dis parturient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montes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nascetur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ridiculus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mus.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3D16689-89DA-03A5-4B7B-27E1B9842AAF}"/>
              </a:ext>
            </a:extLst>
          </p:cNvPr>
          <p:cNvSpPr txBox="1"/>
          <p:nvPr/>
        </p:nvSpPr>
        <p:spPr>
          <a:xfrm>
            <a:off x="3837586" y="1849724"/>
            <a:ext cx="3004277" cy="3182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160"/>
              </a:lnSpc>
              <a:spcAft>
                <a:spcPts val="800"/>
              </a:spcAft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Lorem ipsum dolor sit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amet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consectetuer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adipiscing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elit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commodo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ligula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dolor.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Cum sociis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natoque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penatibus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magnis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dis parturient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montes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nascetur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ridiculus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mus.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A7F2FD9-2D3B-B9A6-4957-E549CF3483ED}"/>
              </a:ext>
            </a:extLst>
          </p:cNvPr>
          <p:cNvSpPr txBox="1"/>
          <p:nvPr/>
        </p:nvSpPr>
        <p:spPr>
          <a:xfrm>
            <a:off x="7140184" y="1849724"/>
            <a:ext cx="3004277" cy="3182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160"/>
              </a:lnSpc>
              <a:spcAft>
                <a:spcPts val="800"/>
              </a:spcAft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Lorem ipsum dolor sit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amet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consectetuer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adipiscing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elit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commodo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ligula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dolor.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Cum sociis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natoque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penatibus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magnis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dis parturient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montes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nascetur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ridiculus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mus.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963D8B6-5BC4-8DF4-5BCE-680E6805733C}"/>
              </a:ext>
            </a:extLst>
          </p:cNvPr>
          <p:cNvSpPr/>
          <p:nvPr/>
        </p:nvSpPr>
        <p:spPr>
          <a:xfrm>
            <a:off x="3837586" y="990617"/>
            <a:ext cx="18424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67338F-DB29-1569-E1B4-FB26CBADF700}"/>
              </a:ext>
            </a:extLst>
          </p:cNvPr>
          <p:cNvSpPr/>
          <p:nvPr/>
        </p:nvSpPr>
        <p:spPr>
          <a:xfrm>
            <a:off x="7129426" y="990617"/>
            <a:ext cx="18424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4554204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8C49-44FC-C5A4-F1AD-24895B7F4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837B120-328A-F8B3-B48E-98CE71747C1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CBB9A1B-073F-5689-BCB2-7183B2740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D330691-4E71-E652-9916-8433C597D819}"/>
              </a:ext>
            </a:extLst>
          </p:cNvPr>
          <p:cNvSpPr/>
          <p:nvPr/>
        </p:nvSpPr>
        <p:spPr>
          <a:xfrm>
            <a:off x="534988" y="990617"/>
            <a:ext cx="18424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C8C5A4D-15A1-5497-B894-147F63301920}"/>
              </a:ext>
            </a:extLst>
          </p:cNvPr>
          <p:cNvSpPr txBox="1"/>
          <p:nvPr/>
        </p:nvSpPr>
        <p:spPr>
          <a:xfrm>
            <a:off x="534989" y="1849724"/>
            <a:ext cx="4488832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Lorem ipsum dolor sit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amet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consectetuer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adipiscing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elit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commodo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ligula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dolor.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Cum sociis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natoque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penatibus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magnis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dis parturient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montes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nascetur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ridiculus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mus.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28502B3-7719-50FF-F889-62740F6A36F5}"/>
              </a:ext>
            </a:extLst>
          </p:cNvPr>
          <p:cNvSpPr/>
          <p:nvPr/>
        </p:nvSpPr>
        <p:spPr>
          <a:xfrm>
            <a:off x="5601840" y="990617"/>
            <a:ext cx="18424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541A2B9-72F7-4FAB-E475-F90D55BBD9E5}"/>
              </a:ext>
            </a:extLst>
          </p:cNvPr>
          <p:cNvSpPr txBox="1"/>
          <p:nvPr/>
        </p:nvSpPr>
        <p:spPr>
          <a:xfrm>
            <a:off x="5614989" y="1849724"/>
            <a:ext cx="4488832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Lorem ipsum dolor sit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amet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consectetuer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adipiscing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elit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commodo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ligula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dolor.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Cum sociis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natoque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penatibus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magnis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dis parturient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montes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nascetur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ridiculus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mus.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</a:t>
            </a:r>
          </a:p>
        </p:txBody>
      </p:sp>
    </p:spTree>
    <p:extLst>
      <p:ext uri="{BB962C8B-B14F-4D97-AF65-F5344CB8AC3E}">
        <p14:creationId xmlns:p14="http://schemas.microsoft.com/office/powerpoint/2010/main" val="39791891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Person, Kleidung, Im Haus, Menschliches Gesicht enthält.&#10;&#10;KI-generierte Inhalte können fehlerhaft sein.">
            <a:extLst>
              <a:ext uri="{FF2B5EF4-FFF2-40B4-BE49-F238E27FC236}">
                <a16:creationId xmlns:a16="http://schemas.microsoft.com/office/drawing/2014/main" id="{73158973-9F91-AD78-B57C-8846B3DB3F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320" r="3955" b="2638"/>
          <a:stretch>
            <a:fillRect/>
          </a:stretch>
        </p:blipFill>
        <p:spPr>
          <a:xfrm>
            <a:off x="4867991" y="-6532"/>
            <a:ext cx="5820647" cy="6023157"/>
          </a:xfrm>
          <a:prstGeom prst="rect">
            <a:avLst/>
          </a:prstGeom>
        </p:spPr>
      </p:pic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5338441E-1C47-4E1B-9F68-55F2DDA1FD10}"/>
              </a:ext>
            </a:extLst>
          </p:cNvPr>
          <p:cNvCxnSpPr>
            <a:cxnSpLocks/>
          </p:cNvCxnSpPr>
          <p:nvPr/>
        </p:nvCxnSpPr>
        <p:spPr>
          <a:xfrm>
            <a:off x="4716663" y="0"/>
            <a:ext cx="0" cy="6016625"/>
          </a:xfrm>
          <a:prstGeom prst="line">
            <a:avLst/>
          </a:prstGeom>
          <a:ln w="6350">
            <a:solidFill>
              <a:srgbClr val="D82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31BDCEFC-E17E-413F-B5C6-184ECD856CEA}"/>
              </a:ext>
            </a:extLst>
          </p:cNvPr>
          <p:cNvCxnSpPr>
            <a:cxnSpLocks/>
          </p:cNvCxnSpPr>
          <p:nvPr/>
        </p:nvCxnSpPr>
        <p:spPr>
          <a:xfrm>
            <a:off x="4869063" y="-6532"/>
            <a:ext cx="0" cy="6016625"/>
          </a:xfrm>
          <a:prstGeom prst="line">
            <a:avLst/>
          </a:prstGeom>
          <a:ln w="6350">
            <a:solidFill>
              <a:srgbClr val="D82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el 1">
            <a:extLst>
              <a:ext uri="{FF2B5EF4-FFF2-40B4-BE49-F238E27FC236}">
                <a16:creationId xmlns:a16="http://schemas.microsoft.com/office/drawing/2014/main" id="{17159DC0-C697-8AAE-57C3-2E8D75C40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Headline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Subline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A27E0A1-F046-8DCA-E7F1-709542CA4AA4}"/>
              </a:ext>
            </a:extLst>
          </p:cNvPr>
          <p:cNvSpPr/>
          <p:nvPr/>
        </p:nvSpPr>
        <p:spPr>
          <a:xfrm>
            <a:off x="534988" y="990616"/>
            <a:ext cx="227757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Headline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8BF23E9-5E64-B091-6AAF-10001C7F4C3F}"/>
              </a:ext>
            </a:extLst>
          </p:cNvPr>
          <p:cNvSpPr txBox="1"/>
          <p:nvPr/>
        </p:nvSpPr>
        <p:spPr>
          <a:xfrm>
            <a:off x="534987" y="1849724"/>
            <a:ext cx="3746719" cy="3872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Lorem ipsum dolor sit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amet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consectetuer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adipiscing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elit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commodo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ligula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eget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dolor. Aenean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Cum sociis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natoque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penatibus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magnis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dis parturient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montes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nascetur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ridiculus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mus.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felis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ultricies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nec,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pellentesque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eu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pretium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quis, sem. Nulla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consequat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massa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quis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enim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 Donec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pede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justo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</a:t>
            </a: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3C555DBE-8195-AB3B-AD90-3E52614AC6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99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88957-75A8-3045-9D48-6D9B5FB8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Im Haus, Wand, Person, Kleidung enthält.&#10;&#10;KI-generierte Inhalte können fehlerhaft sein.">
            <a:extLst>
              <a:ext uri="{FF2B5EF4-FFF2-40B4-BE49-F238E27FC236}">
                <a16:creationId xmlns:a16="http://schemas.microsoft.com/office/drawing/2014/main" id="{B8D4035E-BA7A-F3B0-32C9-F96B853364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06" r="1255" b="14219"/>
          <a:stretch>
            <a:fillRect/>
          </a:stretch>
        </p:blipFill>
        <p:spPr>
          <a:xfrm>
            <a:off x="0" y="-1"/>
            <a:ext cx="10688639" cy="6016625"/>
          </a:xfrm>
          <a:prstGeom prst="rect">
            <a:avLst/>
          </a:prstGeom>
        </p:spPr>
      </p:pic>
      <p:pic>
        <p:nvPicPr>
          <p:cNvPr id="2" name="Picture 6">
            <a:extLst>
              <a:ext uri="{FF2B5EF4-FFF2-40B4-BE49-F238E27FC236}">
                <a16:creationId xmlns:a16="http://schemas.microsoft.com/office/drawing/2014/main" id="{1358ECDA-CC5C-181C-6F61-C19F10FDDE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5083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34F5B396-893C-4D36-9A6B-8B502BB5B7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2350" y="2813240"/>
            <a:ext cx="8503937" cy="390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23238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6">
            <a:extLst>
              <a:ext uri="{FF2B5EF4-FFF2-40B4-BE49-F238E27FC236}">
                <a16:creationId xmlns:a16="http://schemas.microsoft.com/office/drawing/2014/main" id="{53380719-7DB1-46CD-9060-B6F528978D6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A95B0C2-B5AF-6485-0BF6-CAE34630AE60}"/>
              </a:ext>
            </a:extLst>
          </p:cNvPr>
          <p:cNvSpPr/>
          <p:nvPr/>
        </p:nvSpPr>
        <p:spPr>
          <a:xfrm>
            <a:off x="458523" y="1278745"/>
            <a:ext cx="791982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lang="en-US" sz="5000" noProof="0" dirty="0"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We are empowering Businesses with Custom Solutions.</a:t>
            </a: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10216A83-D521-E5E2-E634-6B589E9B5920}"/>
              </a:ext>
            </a:extLst>
          </p:cNvPr>
          <p:cNvSpPr txBox="1">
            <a:spLocks/>
          </p:cNvSpPr>
          <p:nvPr/>
        </p:nvSpPr>
        <p:spPr>
          <a:xfrm>
            <a:off x="513697" y="3679402"/>
            <a:ext cx="9187831" cy="1674749"/>
          </a:xfrm>
          <a:prstGeom prst="rect">
            <a:avLst/>
          </a:prstGeom>
        </p:spPr>
        <p:txBody>
          <a:bodyPr vert="horz" lIns="80165" tIns="40082" rIns="80165" bIns="4008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Seit 2016 </a:t>
            </a:r>
            <a:r>
              <a:rPr lang="en-US" sz="1600" b="0" i="0" noProof="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wickelt</a:t>
            </a: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600" b="0" i="0" noProof="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Guid.New</a:t>
            </a: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INDIVIDUALSOFTWARE-Projekte </a:t>
            </a:r>
            <a:r>
              <a:rPr lang="en-US" sz="1600" b="1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</a:rPr>
              <a:t>end-to-end</a:t>
            </a: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</a:rPr>
              <a:t> und </a:t>
            </a:r>
            <a:r>
              <a:rPr lang="en-US" sz="1600" b="1" i="0" noProof="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</a:rPr>
              <a:t>sorgenfrei</a:t>
            </a: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</a:rPr>
              <a:t> ab.</a:t>
            </a:r>
            <a:endParaRPr lang="en-US" sz="1600" noProof="0" dirty="0">
              <a:solidFill>
                <a:schemeClr val="tx1">
                  <a:lumMod val="95000"/>
                  <a:lumOff val="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600" noProof="0" dirty="0">
              <a:solidFill>
                <a:schemeClr val="bg2">
                  <a:lumMod val="1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56571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6">
            <a:extLst>
              <a:ext uri="{FF2B5EF4-FFF2-40B4-BE49-F238E27FC236}">
                <a16:creationId xmlns:a16="http://schemas.microsoft.com/office/drawing/2014/main" id="{D67051BD-2E7F-455E-8800-C0A8B1D42B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4B7A9B24-F6E5-0612-B7A1-C11C8A4849D3}"/>
              </a:ext>
            </a:extLst>
          </p:cNvPr>
          <p:cNvSpPr/>
          <p:nvPr/>
        </p:nvSpPr>
        <p:spPr>
          <a:xfrm>
            <a:off x="458521" y="1278745"/>
            <a:ext cx="791982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lang="en-US" sz="5000" noProof="0" dirty="0"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We offer .NET and Angular</a:t>
            </a:r>
            <a:br>
              <a:rPr lang="en-US" sz="5000" noProof="0" dirty="0"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</a:br>
            <a:r>
              <a:rPr lang="en-US" sz="5000" noProof="0" dirty="0"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Development.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82707354-91FF-5AA7-FD7C-E8C4EFBE4B6E}"/>
              </a:ext>
            </a:extLst>
          </p:cNvPr>
          <p:cNvSpPr txBox="1">
            <a:spLocks/>
          </p:cNvSpPr>
          <p:nvPr/>
        </p:nvSpPr>
        <p:spPr>
          <a:xfrm>
            <a:off x="505819" y="4379308"/>
            <a:ext cx="9187831" cy="1674749"/>
          </a:xfrm>
          <a:prstGeom prst="rect">
            <a:avLst/>
          </a:prstGeom>
        </p:spPr>
        <p:txBody>
          <a:bodyPr vert="horz" lIns="80165" tIns="40082" rIns="80165" bIns="4008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Wir </a:t>
            </a:r>
            <a:r>
              <a:rPr lang="en-US" sz="1600" b="0" i="0" noProof="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bieten</a:t>
            </a: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agile Teams </a:t>
            </a:r>
            <a:r>
              <a:rPr lang="en-US" sz="1600" b="0" i="0" noProof="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spezialisiert</a:t>
            </a: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auf </a:t>
            </a:r>
            <a:r>
              <a:rPr lang="en-US" sz="1600" b="0" i="0" noProof="0" dirty="0">
                <a:solidFill>
                  <a:srgbClr val="333333"/>
                </a:solidFill>
                <a:effectLst/>
                <a:latin typeface="Roboto" panose="02000000000000000000" pitchFamily="2" charset="0"/>
              </a:rPr>
              <a:t>Angular, ASP.NET Core, .NET MAUI und Microsoft Azure.</a:t>
            </a:r>
            <a:r>
              <a:rPr lang="en-US" sz="1600" b="0" i="0" noProof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en-US" sz="1600" noProof="0" dirty="0">
              <a:solidFill>
                <a:schemeClr val="tx1">
                  <a:lumMod val="95000"/>
                  <a:lumOff val="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600" noProof="0" dirty="0">
              <a:solidFill>
                <a:schemeClr val="bg2">
                  <a:lumMod val="1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9" name="Grafik 8" descr="Ein Bild, das Grafiken, Dreieck, Design enthält.&#10;&#10;Automatisch generierte Beschreibung">
            <a:extLst>
              <a:ext uri="{FF2B5EF4-FFF2-40B4-BE49-F238E27FC236}">
                <a16:creationId xmlns:a16="http://schemas.microsoft.com/office/drawing/2014/main" id="{FD5FE6CB-3B0E-5601-D612-A88EB9D72E2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392" t="15433" r="15047" b="13127"/>
          <a:stretch/>
        </p:blipFill>
        <p:spPr>
          <a:xfrm>
            <a:off x="2891434" y="3115261"/>
            <a:ext cx="1086001" cy="813731"/>
          </a:xfrm>
          <a:prstGeom prst="rect">
            <a:avLst/>
          </a:prstGeom>
        </p:spPr>
      </p:pic>
      <p:pic>
        <p:nvPicPr>
          <p:cNvPr id="12" name="Grafik 11" descr="Ein Bild, das Symbol, Logo, Grafiken, Karminrot enthält.&#10;&#10;Automatisch generierte Beschreibung">
            <a:extLst>
              <a:ext uri="{FF2B5EF4-FFF2-40B4-BE49-F238E27FC236}">
                <a16:creationId xmlns:a16="http://schemas.microsoft.com/office/drawing/2014/main" id="{A1D133D6-9867-0F9E-65CB-5375D42E0A1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8157" t="16634" r="26932" b="18021"/>
          <a:stretch/>
        </p:blipFill>
        <p:spPr>
          <a:xfrm>
            <a:off x="1782001" y="3102560"/>
            <a:ext cx="838884" cy="813731"/>
          </a:xfrm>
          <a:prstGeom prst="rect">
            <a:avLst/>
          </a:prstGeom>
        </p:spPr>
      </p:pic>
      <p:pic>
        <p:nvPicPr>
          <p:cNvPr id="18" name="Grafik 17" descr="Ein Bild, das Grafiken, Kreis, Screenshot, Symbol enthält.&#10;&#10;Automatisch generierte Beschreibung">
            <a:extLst>
              <a:ext uri="{FF2B5EF4-FFF2-40B4-BE49-F238E27FC236}">
                <a16:creationId xmlns:a16="http://schemas.microsoft.com/office/drawing/2014/main" id="{747D081D-591F-738A-B74D-8D78AD4DD01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052" t="16530" r="27138" b="17979"/>
          <a:stretch/>
        </p:blipFill>
        <p:spPr>
          <a:xfrm>
            <a:off x="4178010" y="3102561"/>
            <a:ext cx="742389" cy="757138"/>
          </a:xfrm>
          <a:prstGeom prst="rect">
            <a:avLst/>
          </a:prstGeom>
        </p:spPr>
      </p:pic>
      <p:pic>
        <p:nvPicPr>
          <p:cNvPr id="20" name="Grafik 19" descr="Ein Bild, das Symbol, Schrift, Grafiken, Screenshot enthält.&#10;&#10;Automatisch generierte Beschreibung">
            <a:extLst>
              <a:ext uri="{FF2B5EF4-FFF2-40B4-BE49-F238E27FC236}">
                <a16:creationId xmlns:a16="http://schemas.microsoft.com/office/drawing/2014/main" id="{0B9D3BD6-9488-000D-EFF2-B5D9835D52C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8025" t="16530" r="29165" b="17979"/>
          <a:stretch/>
        </p:blipFill>
        <p:spPr>
          <a:xfrm>
            <a:off x="5265180" y="3093964"/>
            <a:ext cx="738366" cy="753035"/>
          </a:xfrm>
          <a:prstGeom prst="rect">
            <a:avLst/>
          </a:prstGeom>
        </p:spPr>
      </p:pic>
      <p:pic>
        <p:nvPicPr>
          <p:cNvPr id="5" name="Grafik 4" descr="Ein Bild, das Electric Blue (Farbe), Grafiken, Screenshot, Blau enthält.&#10;&#10;Automatisch generierte Beschreibung">
            <a:extLst>
              <a:ext uri="{FF2B5EF4-FFF2-40B4-BE49-F238E27FC236}">
                <a16:creationId xmlns:a16="http://schemas.microsoft.com/office/drawing/2014/main" id="{CA9626AA-7B9D-9A36-D4E7-ED1CFD870E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740" y="3178207"/>
            <a:ext cx="728446" cy="685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515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>
            <a:hlinkClick r:id="rId2"/>
            <a:extLst>
              <a:ext uri="{FF2B5EF4-FFF2-40B4-BE49-F238E27FC236}">
                <a16:creationId xmlns:a16="http://schemas.microsoft.com/office/drawing/2014/main" id="{FC4F4E40-C646-45B7-8AA8-D34A07489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900" y="1585052"/>
            <a:ext cx="1828800" cy="12192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93129AF7-FE0D-474F-BC59-2227BCE29E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812" y="1585052"/>
            <a:ext cx="1828800" cy="1219200"/>
          </a:xfrm>
          <a:prstGeom prst="rect">
            <a:avLst/>
          </a:prstGeom>
        </p:spPr>
      </p:pic>
      <p:pic>
        <p:nvPicPr>
          <p:cNvPr id="6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9505B0AD-9AE9-412C-B418-F96148C5E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2724" y="1585052"/>
            <a:ext cx="1828800" cy="1219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5601789-6561-474A-95BC-796DDCD5EB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0900" y="2871427"/>
            <a:ext cx="1828800" cy="1219200"/>
          </a:xfrm>
          <a:prstGeom prst="rect">
            <a:avLst/>
          </a:prstGeom>
        </p:spPr>
      </p:pic>
      <p:pic>
        <p:nvPicPr>
          <p:cNvPr id="11" name="Grafik 10">
            <a:hlinkClick r:id="rId7"/>
            <a:extLst>
              <a:ext uri="{FF2B5EF4-FFF2-40B4-BE49-F238E27FC236}">
                <a16:creationId xmlns:a16="http://schemas.microsoft.com/office/drawing/2014/main" id="{27299635-1EE3-4D81-A3CD-AE7B7F4934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4988" y="2871427"/>
            <a:ext cx="1828800" cy="12192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CC06CD3-90A3-4E0E-9A6A-6FA29AE792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0900" y="4157802"/>
            <a:ext cx="1828800" cy="121920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B768EA76-3384-48C9-9166-374378E3A6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988" y="4157802"/>
            <a:ext cx="1828800" cy="12192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96E6FE89-925F-44C9-ACF5-12B1C7263E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6812" y="2871427"/>
            <a:ext cx="1828800" cy="1219200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3320557E-72FF-4DEB-8E89-30FFEEB62EE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6812" y="4157802"/>
            <a:ext cx="1828800" cy="1219200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EB637F9-8999-470B-A8C9-5185EC1D65B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18636" y="2871427"/>
            <a:ext cx="1828800" cy="1219200"/>
          </a:xfrm>
          <a:prstGeom prst="rect">
            <a:avLst/>
          </a:prstGeom>
        </p:spPr>
      </p:pic>
      <p:pic>
        <p:nvPicPr>
          <p:cNvPr id="26" name="Grafik 25" descr="Ein Bild, das Text enthält.&#10;&#10;Automatisch generierte Beschreibung">
            <a:extLst>
              <a:ext uri="{FF2B5EF4-FFF2-40B4-BE49-F238E27FC236}">
                <a16:creationId xmlns:a16="http://schemas.microsoft.com/office/drawing/2014/main" id="{1298D959-9803-4C7D-9E55-7F9A6C52BA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22724" y="4157802"/>
            <a:ext cx="1828800" cy="1219200"/>
          </a:xfrm>
          <a:prstGeom prst="rect">
            <a:avLst/>
          </a:prstGeom>
        </p:spPr>
      </p:pic>
      <p:pic>
        <p:nvPicPr>
          <p:cNvPr id="28" name="Grafik 27" descr="Ein Bild, das Text enthält.&#10;&#10;Automatisch generierte Beschreibung">
            <a:extLst>
              <a:ext uri="{FF2B5EF4-FFF2-40B4-BE49-F238E27FC236}">
                <a16:creationId xmlns:a16="http://schemas.microsoft.com/office/drawing/2014/main" id="{C8BD0CE6-D6D2-47FA-B02E-8BBEEC05F4C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1276" y="4157802"/>
            <a:ext cx="1828800" cy="12192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F0140E8-F8DD-4267-8069-7BCFA24F653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1276" y="1585052"/>
            <a:ext cx="1828800" cy="1219200"/>
          </a:xfrm>
          <a:prstGeom prst="rect">
            <a:avLst/>
          </a:prstGeom>
        </p:spPr>
      </p:pic>
      <p:pic>
        <p:nvPicPr>
          <p:cNvPr id="19" name="Grafik 18" descr="Ein Bild, das Text enthält.&#10;&#10;Automatisch generierte Beschreibung">
            <a:extLst>
              <a:ext uri="{FF2B5EF4-FFF2-40B4-BE49-F238E27FC236}">
                <a16:creationId xmlns:a16="http://schemas.microsoft.com/office/drawing/2014/main" id="{49124231-9246-B71B-4EBC-A05B5F6EFB2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2344" y="1585050"/>
            <a:ext cx="1828804" cy="1219202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51659939-037B-07CA-E379-84C5B92E71B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22724" y="2871427"/>
            <a:ext cx="1828800" cy="1219200"/>
          </a:xfrm>
          <a:prstGeom prst="rect">
            <a:avLst/>
          </a:prstGeom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46DB2596-4B81-869F-D765-A4F0BE35CFA0}"/>
              </a:ext>
            </a:extLst>
          </p:cNvPr>
          <p:cNvSpPr/>
          <p:nvPr/>
        </p:nvSpPr>
        <p:spPr>
          <a:xfrm>
            <a:off x="470780" y="496017"/>
            <a:ext cx="7224095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lang="en-US" sz="5000" noProof="0" dirty="0"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4149524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A9477073-F75B-AF90-2BA5-00B12E3EB984}"/>
              </a:ext>
            </a:extLst>
          </p:cNvPr>
          <p:cNvSpPr txBox="1"/>
          <p:nvPr/>
        </p:nvSpPr>
        <p:spPr>
          <a:xfrm>
            <a:off x="503456" y="2832496"/>
            <a:ext cx="9851886" cy="1871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1500" noProof="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Prozessdigitalisierung</a:t>
            </a:r>
            <a: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5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–</a:t>
            </a:r>
            <a: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500" noProof="0" dirty="0" err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maßgeschneiderte</a:t>
            </a:r>
            <a:r>
              <a:rPr lang="en-US" sz="1500" noProof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500" noProof="0" dirty="0" err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Digitalisierung</a:t>
            </a:r>
            <a:r>
              <a:rPr lang="en-US" sz="1500" noProof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500" noProof="0" dirty="0" err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Ihrer</a:t>
            </a:r>
            <a:r>
              <a:rPr lang="en-US" sz="1500" noProof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500" noProof="0" dirty="0" err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individuellen</a:t>
            </a:r>
            <a:r>
              <a:rPr lang="en-US" sz="1500" noProof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500" noProof="0" dirty="0" err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Prozesse</a:t>
            </a:r>
            <a:r>
              <a:rPr lang="en-US" sz="1500" noProof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</a:t>
            </a:r>
            <a:b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5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.NET &amp; Angular </a:t>
            </a:r>
            <a:r>
              <a:rPr lang="en-US" sz="1500" noProof="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Entwicklungspower</a:t>
            </a:r>
            <a:r>
              <a:rPr lang="en-US" sz="15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– 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Know-how in Form von Lead-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Entwicklern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&amp; Software-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Architekten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</a:t>
            </a:r>
            <a:b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500" noProof="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Modernisierung</a:t>
            </a:r>
            <a:r>
              <a:rPr lang="en-US" sz="15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von </a:t>
            </a:r>
            <a:r>
              <a:rPr lang="en-US" sz="1500" noProof="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Altsystemen</a:t>
            </a:r>
            <a:r>
              <a:rPr lang="en-US" sz="15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– 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wir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ersetzen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veraltete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Systeme 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durch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moderne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etablierte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Frameworks.</a:t>
            </a:r>
          </a:p>
          <a:p>
            <a:pPr>
              <a:lnSpc>
                <a:spcPct val="200000"/>
              </a:lnSpc>
            </a:pPr>
            <a: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Custom-Software-</a:t>
            </a:r>
            <a:r>
              <a:rPr lang="en-US" sz="1500" noProof="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Entwicklung</a:t>
            </a:r>
            <a: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– </a:t>
            </a:r>
            <a:r>
              <a:rPr lang="en-US" sz="1500" noProof="0" dirty="0" err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Ihr</a:t>
            </a:r>
            <a: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1500" noProof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agiler </a:t>
            </a:r>
            <a:r>
              <a:rPr lang="en-US" sz="1500" noProof="0" dirty="0" err="1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Umsetzungspartner</a:t>
            </a:r>
            <a:r>
              <a:rPr lang="en-US" sz="1500" noProof="0" dirty="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end-to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-end und </a:t>
            </a:r>
            <a:r>
              <a:rPr lang="en-US" sz="15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sorgenfrei</a:t>
            </a:r>
            <a:r>
              <a:rPr lang="en-US" sz="15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.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E644E70-4198-2A8B-C995-4F981B129458}"/>
              </a:ext>
            </a:extLst>
          </p:cNvPr>
          <p:cNvSpPr/>
          <p:nvPr/>
        </p:nvSpPr>
        <p:spPr>
          <a:xfrm>
            <a:off x="455089" y="1275734"/>
            <a:ext cx="7224095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lang="en-US" sz="5000" noProof="0" dirty="0"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Fields of Activity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11C1A76-E171-32FD-CE47-566B2C89CB2D}"/>
              </a:ext>
            </a:extLst>
          </p:cNvPr>
          <p:cNvSpPr txBox="1"/>
          <p:nvPr/>
        </p:nvSpPr>
        <p:spPr>
          <a:xfrm>
            <a:off x="487690" y="2084892"/>
            <a:ext cx="55284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500" noProof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we support your business.</a:t>
            </a:r>
            <a:endParaRPr lang="en-US" sz="15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1889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C18D35-2402-4D41-82A1-0C7D88A68B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thank you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1FB43B-0390-4E03-9B84-1A7EA572E0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hello@guidnew.com</a:t>
            </a:r>
          </a:p>
          <a:p>
            <a:r>
              <a:rPr lang="en-US" noProof="0" dirty="0"/>
              <a:t>https://guidnew.com/ </a:t>
            </a:r>
          </a:p>
          <a:p>
            <a:endParaRPr lang="en-US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A95CE94-FB3A-4BC4-8EC6-CE8AE988DC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i="1" noProof="0" dirty="0">
                <a:latin typeface="Roboto Light" panose="02000000000000000000" pitchFamily="2" charset="0"/>
                <a:ea typeface="Roboto Light" panose="02000000000000000000" pitchFamily="2" charset="0"/>
              </a:rPr>
              <a:t>Don‘t hesitate to contact us…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783568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7B5125E6-468F-42A4-91C8-3CBA4A10CF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307" y="2243224"/>
            <a:ext cx="4499706" cy="443731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798AD36-1656-4C66-860F-6437D6C681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1"/>
                </a:solidFill>
              </a:rPr>
              <a:t>hello@guidnew.com</a:t>
            </a:r>
          </a:p>
          <a:p>
            <a:r>
              <a:rPr lang="en-US" noProof="0" dirty="0">
                <a:solidFill>
                  <a:schemeClr val="bg1"/>
                </a:solidFill>
              </a:rPr>
              <a:t>https://guidnew.com/ </a:t>
            </a:r>
          </a:p>
          <a:p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344C353-A0EF-406B-A31F-B18F8AE9F5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i="1" noProof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Don‘t hesitate to contact us…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0359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0" tIns="0" rIns="0" bIns="0" rtlCol="0">
        <a:normAutofit/>
      </a:bodyPr>
      <a:lstStyle>
        <a:defPPr>
          <a:defRPr sz="1200"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c2d7f97-05d8-47a4-a82f-3daa402fe536" xsi:nil="true"/>
    <lcf76f155ced4ddcb4097134ff3c332f xmlns="a588ca79-611b-4bc5-9bb6-5b1bf392bc2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EE0D4AD1AEE5348ABE5F818725F41EE" ma:contentTypeVersion="16" ma:contentTypeDescription="Ein neues Dokument erstellen." ma:contentTypeScope="" ma:versionID="92b3db747aa193bb077d1019a378c6eb">
  <xsd:schema xmlns:xsd="http://www.w3.org/2001/XMLSchema" xmlns:xs="http://www.w3.org/2001/XMLSchema" xmlns:p="http://schemas.microsoft.com/office/2006/metadata/properties" xmlns:ns2="a588ca79-611b-4bc5-9bb6-5b1bf392bc28" xmlns:ns3="ac2d7f97-05d8-47a4-a82f-3daa402fe536" targetNamespace="http://schemas.microsoft.com/office/2006/metadata/properties" ma:root="true" ma:fieldsID="0d45f8db6ba0be781779963e5951f39c" ns2:_="" ns3:_="">
    <xsd:import namespace="a588ca79-611b-4bc5-9bb6-5b1bf392bc28"/>
    <xsd:import namespace="ac2d7f97-05d8-47a4-a82f-3daa402fe53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88ca79-611b-4bc5-9bb6-5b1bf392bc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9f395c62-4594-40d5-931a-99582df1df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2d7f97-05d8-47a4-a82f-3daa402fe53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1a940a2-c4a2-4b38-9564-8b437b72eb82}" ma:internalName="TaxCatchAll" ma:showField="CatchAllData" ma:web="ac2d7f97-05d8-47a4-a82f-3daa402fe5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840C09-45AD-4E57-9F97-97AEFD06ABE3}">
  <ds:schemaRefs>
    <ds:schemaRef ds:uri="http://purl.org/dc/elements/1.1/"/>
    <ds:schemaRef ds:uri="http://purl.org/dc/terms/"/>
    <ds:schemaRef ds:uri="http://schemas.microsoft.com/office/2006/metadata/properties"/>
    <ds:schemaRef ds:uri="http://schemas.openxmlformats.org/package/2006/metadata/core-properties"/>
    <ds:schemaRef ds:uri="ac2d7f97-05d8-47a4-a82f-3daa402fe536"/>
    <ds:schemaRef ds:uri="http://purl.org/dc/dcmitype/"/>
    <ds:schemaRef ds:uri="a588ca79-611b-4bc5-9bb6-5b1bf392bc28"/>
    <ds:schemaRef ds:uri="http://schemas.microsoft.com/office/2006/documentManagement/typ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21C81B5-96F5-48CE-BCCA-475A3D2B55C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FC943B0-8AE7-4257-A0DC-FF60DAB39A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88ca79-611b-4bc5-9bb6-5b1bf392bc28"/>
    <ds:schemaRef ds:uri="ac2d7f97-05d8-47a4-a82f-3daa402fe5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1943</Words>
  <Application>Microsoft Office PowerPoint</Application>
  <PresentationFormat>Custom</PresentationFormat>
  <Paragraphs>227</Paragraphs>
  <Slides>64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64</vt:i4>
      </vt:variant>
    </vt:vector>
  </HeadingPairs>
  <TitlesOfParts>
    <vt:vector size="74" baseType="lpstr">
      <vt:lpstr>Arial</vt:lpstr>
      <vt:lpstr>Calibri</vt:lpstr>
      <vt:lpstr>Courier New</vt:lpstr>
      <vt:lpstr>Guidnew</vt:lpstr>
      <vt:lpstr>GuidnewOverlay</vt:lpstr>
      <vt:lpstr>Roboto</vt:lpstr>
      <vt:lpstr>Roboto Light</vt:lpstr>
      <vt:lpstr>Roboto Medium</vt:lpstr>
      <vt:lpstr>Office Theme</vt:lpstr>
      <vt:lpstr>Custom Design</vt:lpstr>
      <vt:lpstr>PowerPoint Presentation</vt:lpstr>
      <vt:lpstr>PowerPoint Presentation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Headline I  Subline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wolfgang@guidnew.com</dc:creator>
  <cp:lastModifiedBy>Jonathan Jeszenszky</cp:lastModifiedBy>
  <cp:revision>17</cp:revision>
  <dcterms:created xsi:type="dcterms:W3CDTF">2019-05-27T14:04:07Z</dcterms:created>
  <dcterms:modified xsi:type="dcterms:W3CDTF">2026-09-22T22:00:37Z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0x010100BEE0D4AD1AEE5348ABE5F818725F41EE</vt:lpwstr>
  </property>
  <property fmtid="{D5CDD505-2E9C-101B-9397-08002B2CF9AE}" pid="3" name="MediaServiceImageTags">
    <vt:lpwstr/>
  </property>
</Properties>
</file>