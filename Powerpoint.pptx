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2" r:id="rId5"/>
  </p:sldMasterIdLst>
  <p:notesMasterIdLst>
    <p:notesMasterId r:id="rId148"/>
  </p:notesMasterIdLst>
  <p:sldIdLst>
    <p:sldId id="1098" r:id="rId6"/>
    <p:sldId id="1149" r:id="rId7"/>
    <p:sldId id="1135" r:id="rId8"/>
    <p:sldId id="1151" r:id="rId9"/>
    <p:sldId id="1152" r:id="rId10"/>
    <p:sldId id="1153" r:id="rId11"/>
    <p:sldId id="1154" r:id="rId12"/>
    <p:sldId id="1155" r:id="rId13"/>
    <p:sldId id="1156" r:id="rId14"/>
    <p:sldId id="1157" r:id="rId15"/>
    <p:sldId id="1158" r:id="rId16"/>
    <p:sldId id="1159" r:id="rId17"/>
    <p:sldId id="1161" r:id="rId18"/>
    <p:sldId id="1160" r:id="rId19"/>
    <p:sldId id="1162" r:id="rId20"/>
    <p:sldId id="1163" r:id="rId21"/>
    <p:sldId id="1164" r:id="rId22"/>
    <p:sldId id="1165" r:id="rId23"/>
    <p:sldId id="1166" r:id="rId24"/>
    <p:sldId id="1168" r:id="rId25"/>
    <p:sldId id="1169" r:id="rId26"/>
    <p:sldId id="1167" r:id="rId27"/>
    <p:sldId id="1170" r:id="rId28"/>
    <p:sldId id="1171" r:id="rId29"/>
    <p:sldId id="1172" r:id="rId30"/>
    <p:sldId id="1173" r:id="rId31"/>
    <p:sldId id="1175" r:id="rId32"/>
    <p:sldId id="1176" r:id="rId33"/>
    <p:sldId id="1178" r:id="rId34"/>
    <p:sldId id="1179" r:id="rId35"/>
    <p:sldId id="1180" r:id="rId36"/>
    <p:sldId id="1181" r:id="rId37"/>
    <p:sldId id="1182" r:id="rId38"/>
    <p:sldId id="1183" r:id="rId39"/>
    <p:sldId id="1184" r:id="rId40"/>
    <p:sldId id="1185" r:id="rId41"/>
    <p:sldId id="1186" r:id="rId42"/>
    <p:sldId id="1187" r:id="rId43"/>
    <p:sldId id="1188" r:id="rId44"/>
    <p:sldId id="1189" r:id="rId45"/>
    <p:sldId id="1190" r:id="rId46"/>
    <p:sldId id="1191" r:id="rId47"/>
    <p:sldId id="1192" r:id="rId48"/>
    <p:sldId id="1193" r:id="rId49"/>
    <p:sldId id="1194" r:id="rId50"/>
    <p:sldId id="1199" r:id="rId51"/>
    <p:sldId id="1195" r:id="rId52"/>
    <p:sldId id="1196" r:id="rId53"/>
    <p:sldId id="1197" r:id="rId54"/>
    <p:sldId id="1200" r:id="rId55"/>
    <p:sldId id="1201" r:id="rId56"/>
    <p:sldId id="1202" r:id="rId57"/>
    <p:sldId id="1203" r:id="rId58"/>
    <p:sldId id="1204" r:id="rId59"/>
    <p:sldId id="1205" r:id="rId60"/>
    <p:sldId id="1206" r:id="rId61"/>
    <p:sldId id="1207" r:id="rId62"/>
    <p:sldId id="1208" r:id="rId63"/>
    <p:sldId id="1245" r:id="rId64"/>
    <p:sldId id="1244" r:id="rId65"/>
    <p:sldId id="1209" r:id="rId66"/>
    <p:sldId id="1210" r:id="rId67"/>
    <p:sldId id="1211" r:id="rId68"/>
    <p:sldId id="1212" r:id="rId69"/>
    <p:sldId id="1217" r:id="rId70"/>
    <p:sldId id="1265" r:id="rId71"/>
    <p:sldId id="1213" r:id="rId72"/>
    <p:sldId id="1214" r:id="rId73"/>
    <p:sldId id="1215" r:id="rId74"/>
    <p:sldId id="1243" r:id="rId75"/>
    <p:sldId id="1216" r:id="rId76"/>
    <p:sldId id="1218" r:id="rId77"/>
    <p:sldId id="1223" r:id="rId78"/>
    <p:sldId id="1242" r:id="rId79"/>
    <p:sldId id="1220" r:id="rId80"/>
    <p:sldId id="1221" r:id="rId81"/>
    <p:sldId id="1224" r:id="rId82"/>
    <p:sldId id="1225" r:id="rId83"/>
    <p:sldId id="1226" r:id="rId84"/>
    <p:sldId id="1227" r:id="rId85"/>
    <p:sldId id="1228" r:id="rId86"/>
    <p:sldId id="1229" r:id="rId87"/>
    <p:sldId id="1230" r:id="rId88"/>
    <p:sldId id="1247" r:id="rId89"/>
    <p:sldId id="1233" r:id="rId90"/>
    <p:sldId id="1231" r:id="rId91"/>
    <p:sldId id="1235" r:id="rId92"/>
    <p:sldId id="1236" r:id="rId93"/>
    <p:sldId id="1237" r:id="rId94"/>
    <p:sldId id="1240" r:id="rId95"/>
    <p:sldId id="1239" r:id="rId96"/>
    <p:sldId id="1241" r:id="rId97"/>
    <p:sldId id="1246" r:id="rId98"/>
    <p:sldId id="1263" r:id="rId99"/>
    <p:sldId id="1267" r:id="rId100"/>
    <p:sldId id="1268" r:id="rId101"/>
    <p:sldId id="1269" r:id="rId102"/>
    <p:sldId id="1264" r:id="rId103"/>
    <p:sldId id="1248" r:id="rId104"/>
    <p:sldId id="1249" r:id="rId105"/>
    <p:sldId id="1256" r:id="rId106"/>
    <p:sldId id="1258" r:id="rId107"/>
    <p:sldId id="1257" r:id="rId108"/>
    <p:sldId id="1253" r:id="rId109"/>
    <p:sldId id="1259" r:id="rId110"/>
    <p:sldId id="1260" r:id="rId111"/>
    <p:sldId id="1261" r:id="rId112"/>
    <p:sldId id="1262" r:id="rId113"/>
    <p:sldId id="1270" r:id="rId114"/>
    <p:sldId id="1271" r:id="rId115"/>
    <p:sldId id="1272" r:id="rId116"/>
    <p:sldId id="1273" r:id="rId117"/>
    <p:sldId id="1274" r:id="rId118"/>
    <p:sldId id="1276" r:id="rId119"/>
    <p:sldId id="1275" r:id="rId120"/>
    <p:sldId id="1284" r:id="rId121"/>
    <p:sldId id="1285" r:id="rId122"/>
    <p:sldId id="1286" r:id="rId123"/>
    <p:sldId id="1281" r:id="rId124"/>
    <p:sldId id="1277" r:id="rId125"/>
    <p:sldId id="1278" r:id="rId126"/>
    <p:sldId id="1279" r:id="rId127"/>
    <p:sldId id="1280" r:id="rId128"/>
    <p:sldId id="1287" r:id="rId129"/>
    <p:sldId id="1288" r:id="rId130"/>
    <p:sldId id="1289" r:id="rId131"/>
    <p:sldId id="1290" r:id="rId132"/>
    <p:sldId id="1291" r:id="rId133"/>
    <p:sldId id="1301" r:id="rId134"/>
    <p:sldId id="1302" r:id="rId135"/>
    <p:sldId id="1300" r:id="rId136"/>
    <p:sldId id="1292" r:id="rId137"/>
    <p:sldId id="1293" r:id="rId138"/>
    <p:sldId id="1303" r:id="rId139"/>
    <p:sldId id="1304" r:id="rId140"/>
    <p:sldId id="1294" r:id="rId141"/>
    <p:sldId id="1295" r:id="rId142"/>
    <p:sldId id="1296" r:id="rId143"/>
    <p:sldId id="1110" r:id="rId144"/>
    <p:sldId id="1297" r:id="rId145"/>
    <p:sldId id="1298" r:id="rId146"/>
    <p:sldId id="1299" r:id="rId147"/>
  </p:sldIdLst>
  <p:sldSz cx="10688638" cy="6016625"/>
  <p:notesSz cx="6858000" cy="9144000"/>
  <p:defaultTextStyle>
    <a:defPPr>
      <a:defRPr lang="en-US"/>
    </a:defPPr>
    <a:lvl1pPr marL="0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34504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69009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603515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38019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72523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07028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741534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76038" algn="l" defTabSz="53450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9" userDrawn="1">
          <p15:clr>
            <a:srgbClr val="A4A3A4"/>
          </p15:clr>
        </p15:guide>
        <p15:guide id="2" pos="4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2C6A"/>
    <a:srgbClr val="006EB4"/>
    <a:srgbClr val="00AA82"/>
    <a:srgbClr val="FFD755"/>
    <a:srgbClr val="8223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55" autoAdjust="0"/>
    <p:restoredTop sz="94607"/>
  </p:normalViewPr>
  <p:slideViewPr>
    <p:cSldViewPr snapToGrid="0">
      <p:cViewPr varScale="1">
        <p:scale>
          <a:sx n="171" d="100"/>
          <a:sy n="171" d="100"/>
        </p:scale>
        <p:origin x="354" y="132"/>
      </p:cViewPr>
      <p:guideLst>
        <p:guide orient="horz" pos="149"/>
        <p:guide pos="42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2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63" Type="http://schemas.openxmlformats.org/officeDocument/2006/relationships/slide" Target="slides/slide58.xml"/><Relationship Id="rId84" Type="http://schemas.openxmlformats.org/officeDocument/2006/relationships/slide" Target="slides/slide79.xml"/><Relationship Id="rId138" Type="http://schemas.openxmlformats.org/officeDocument/2006/relationships/slide" Target="slides/slide133.xml"/><Relationship Id="rId107" Type="http://schemas.openxmlformats.org/officeDocument/2006/relationships/slide" Target="slides/slide102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53" Type="http://schemas.openxmlformats.org/officeDocument/2006/relationships/slide" Target="slides/slide48.xml"/><Relationship Id="rId74" Type="http://schemas.openxmlformats.org/officeDocument/2006/relationships/slide" Target="slides/slide69.xml"/><Relationship Id="rId128" Type="http://schemas.openxmlformats.org/officeDocument/2006/relationships/slide" Target="slides/slide123.xml"/><Relationship Id="rId149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113" Type="http://schemas.openxmlformats.org/officeDocument/2006/relationships/slide" Target="slides/slide108.xml"/><Relationship Id="rId118" Type="http://schemas.openxmlformats.org/officeDocument/2006/relationships/slide" Target="slides/slide113.xml"/><Relationship Id="rId134" Type="http://schemas.openxmlformats.org/officeDocument/2006/relationships/slide" Target="slides/slide129.xml"/><Relationship Id="rId139" Type="http://schemas.openxmlformats.org/officeDocument/2006/relationships/slide" Target="slides/slide13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50" Type="http://schemas.openxmlformats.org/officeDocument/2006/relationships/viewProps" Target="viewProps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slide" Target="slides/slide98.xml"/><Relationship Id="rId108" Type="http://schemas.openxmlformats.org/officeDocument/2006/relationships/slide" Target="slides/slide103.xml"/><Relationship Id="rId124" Type="http://schemas.openxmlformats.org/officeDocument/2006/relationships/slide" Target="slides/slide119.xml"/><Relationship Id="rId129" Type="http://schemas.openxmlformats.org/officeDocument/2006/relationships/slide" Target="slides/slide124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40" Type="http://schemas.openxmlformats.org/officeDocument/2006/relationships/slide" Target="slides/slide135.xml"/><Relationship Id="rId145" Type="http://schemas.openxmlformats.org/officeDocument/2006/relationships/slide" Target="slides/slide140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49" Type="http://schemas.openxmlformats.org/officeDocument/2006/relationships/slide" Target="slides/slide44.xml"/><Relationship Id="rId114" Type="http://schemas.openxmlformats.org/officeDocument/2006/relationships/slide" Target="slides/slide109.xml"/><Relationship Id="rId119" Type="http://schemas.openxmlformats.org/officeDocument/2006/relationships/slide" Target="slides/slide114.xml"/><Relationship Id="rId44" Type="http://schemas.openxmlformats.org/officeDocument/2006/relationships/slide" Target="slides/slide39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130" Type="http://schemas.openxmlformats.org/officeDocument/2006/relationships/slide" Target="slides/slide125.xml"/><Relationship Id="rId135" Type="http://schemas.openxmlformats.org/officeDocument/2006/relationships/slide" Target="slides/slide130.xml"/><Relationship Id="rId151" Type="http://schemas.openxmlformats.org/officeDocument/2006/relationships/theme" Target="theme/theme1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slide" Target="slides/slide104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slide" Target="slides/slide99.xml"/><Relationship Id="rId120" Type="http://schemas.openxmlformats.org/officeDocument/2006/relationships/slide" Target="slides/slide115.xml"/><Relationship Id="rId125" Type="http://schemas.openxmlformats.org/officeDocument/2006/relationships/slide" Target="slides/slide120.xml"/><Relationship Id="rId141" Type="http://schemas.openxmlformats.org/officeDocument/2006/relationships/slide" Target="slides/slide136.xml"/><Relationship Id="rId146" Type="http://schemas.openxmlformats.org/officeDocument/2006/relationships/slide" Target="slides/slide14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openxmlformats.org/officeDocument/2006/relationships/slide" Target="slides/slide105.xml"/><Relationship Id="rId115" Type="http://schemas.openxmlformats.org/officeDocument/2006/relationships/slide" Target="slides/slide110.xml"/><Relationship Id="rId131" Type="http://schemas.openxmlformats.org/officeDocument/2006/relationships/slide" Target="slides/slide126.xml"/><Relationship Id="rId136" Type="http://schemas.openxmlformats.org/officeDocument/2006/relationships/slide" Target="slides/slide131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52" Type="http://schemas.openxmlformats.org/officeDocument/2006/relationships/tableStyles" Target="tableStyles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slide" Target="slides/slide100.xml"/><Relationship Id="rId126" Type="http://schemas.openxmlformats.org/officeDocument/2006/relationships/slide" Target="slides/slide121.xml"/><Relationship Id="rId147" Type="http://schemas.openxmlformats.org/officeDocument/2006/relationships/slide" Target="slides/slide142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121" Type="http://schemas.openxmlformats.org/officeDocument/2006/relationships/slide" Target="slides/slide116.xml"/><Relationship Id="rId142" Type="http://schemas.openxmlformats.org/officeDocument/2006/relationships/slide" Target="slides/slide137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116" Type="http://schemas.openxmlformats.org/officeDocument/2006/relationships/slide" Target="slides/slide111.xml"/><Relationship Id="rId137" Type="http://schemas.openxmlformats.org/officeDocument/2006/relationships/slide" Target="slides/slide13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Relationship Id="rId111" Type="http://schemas.openxmlformats.org/officeDocument/2006/relationships/slide" Target="slides/slide106.xml"/><Relationship Id="rId132" Type="http://schemas.openxmlformats.org/officeDocument/2006/relationships/slide" Target="slides/slide127.xml"/><Relationship Id="rId15" Type="http://schemas.openxmlformats.org/officeDocument/2006/relationships/slide" Target="slides/slide10.xml"/><Relationship Id="rId36" Type="http://schemas.openxmlformats.org/officeDocument/2006/relationships/slide" Target="slides/slide31.xml"/><Relationship Id="rId57" Type="http://schemas.openxmlformats.org/officeDocument/2006/relationships/slide" Target="slides/slide52.xml"/><Relationship Id="rId106" Type="http://schemas.openxmlformats.org/officeDocument/2006/relationships/slide" Target="slides/slide101.xml"/><Relationship Id="rId127" Type="http://schemas.openxmlformats.org/officeDocument/2006/relationships/slide" Target="slides/slide122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52" Type="http://schemas.openxmlformats.org/officeDocument/2006/relationships/slide" Target="slides/slide47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122" Type="http://schemas.openxmlformats.org/officeDocument/2006/relationships/slide" Target="slides/slide117.xml"/><Relationship Id="rId143" Type="http://schemas.openxmlformats.org/officeDocument/2006/relationships/slide" Target="slides/slide138.xml"/><Relationship Id="rId148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47" Type="http://schemas.openxmlformats.org/officeDocument/2006/relationships/slide" Target="slides/slide42.xml"/><Relationship Id="rId68" Type="http://schemas.openxmlformats.org/officeDocument/2006/relationships/slide" Target="slides/slide63.xml"/><Relationship Id="rId89" Type="http://schemas.openxmlformats.org/officeDocument/2006/relationships/slide" Target="slides/slide84.xml"/><Relationship Id="rId112" Type="http://schemas.openxmlformats.org/officeDocument/2006/relationships/slide" Target="slides/slide107.xml"/><Relationship Id="rId133" Type="http://schemas.openxmlformats.org/officeDocument/2006/relationships/slide" Target="slides/slide128.xml"/><Relationship Id="rId16" Type="http://schemas.openxmlformats.org/officeDocument/2006/relationships/slide" Target="slides/slide11.xml"/><Relationship Id="rId37" Type="http://schemas.openxmlformats.org/officeDocument/2006/relationships/slide" Target="slides/slide32.xml"/><Relationship Id="rId58" Type="http://schemas.openxmlformats.org/officeDocument/2006/relationships/slide" Target="slides/slide53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123" Type="http://schemas.openxmlformats.org/officeDocument/2006/relationships/slide" Target="slides/slide118.xml"/><Relationship Id="rId144" Type="http://schemas.openxmlformats.org/officeDocument/2006/relationships/slide" Target="slides/slide139.xml"/><Relationship Id="rId90" Type="http://schemas.openxmlformats.org/officeDocument/2006/relationships/slide" Target="slides/slide8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68A28C-1B42-4640-93F3-579B966A99F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AT"/>
              <a:t>Click to edit Master text styles</a:t>
            </a:r>
          </a:p>
          <a:p>
            <a:pPr lvl="1"/>
            <a:r>
              <a:rPr lang="de-AT"/>
              <a:t>Second level</a:t>
            </a:r>
          </a:p>
          <a:p>
            <a:pPr lvl="2"/>
            <a:r>
              <a:rPr lang="de-AT"/>
              <a:t>Third level</a:t>
            </a:r>
          </a:p>
          <a:p>
            <a:pPr lvl="3"/>
            <a:r>
              <a:rPr lang="de-AT"/>
              <a:t>Fourth level</a:t>
            </a:r>
          </a:p>
          <a:p>
            <a:pPr lvl="4"/>
            <a:r>
              <a:rPr lang="de-AT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24CFF0-5AA8-6148-B41C-3039E58D35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84214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534504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69009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603515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138019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672523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07028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741534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276038" algn="l" defTabSz="534504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586651" y="1593700"/>
            <a:ext cx="9619773" cy="491509"/>
          </a:xfrm>
        </p:spPr>
        <p:txBody>
          <a:bodyPr/>
          <a:lstStyle>
            <a:lvl1pPr>
              <a:defRPr>
                <a:solidFill>
                  <a:srgbClr val="D82C6A"/>
                </a:solidFill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587375" y="3029472"/>
            <a:ext cx="2493963" cy="3206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587375" y="5555207"/>
            <a:ext cx="2493963" cy="320675"/>
          </a:xfrm>
        </p:spPr>
        <p:txBody>
          <a:bodyPr>
            <a:noAutofit/>
          </a:bodyPr>
          <a:lstStyle>
            <a:lvl1pPr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6225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pink">
    <p:bg>
      <p:bgPr>
        <a:solidFill>
          <a:srgbClr val="D82C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86651" y="2088790"/>
            <a:ext cx="9085342" cy="720000"/>
          </a:xfrm>
        </p:spPr>
        <p:txBody>
          <a:bodyPr lIns="0" tIns="0" rIns="0" bIns="0"/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14"/>
          </p:nvPr>
        </p:nvSpPr>
        <p:spPr>
          <a:xfrm>
            <a:off x="587375" y="3029472"/>
            <a:ext cx="2493963" cy="32067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Text Placeholder 10"/>
          <p:cNvSpPr>
            <a:spLocks noGrp="1"/>
          </p:cNvSpPr>
          <p:nvPr>
            <p:ph type="body" sz="quarter" idx="12"/>
          </p:nvPr>
        </p:nvSpPr>
        <p:spPr>
          <a:xfrm>
            <a:off x="586651" y="1593700"/>
            <a:ext cx="9619773" cy="491509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586651" y="5555207"/>
            <a:ext cx="2493963" cy="32067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838765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ail">
    <p:bg>
      <p:bgPr>
        <a:solidFill>
          <a:srgbClr val="D82C6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0"/>
          <p:cNvSpPr>
            <a:spLocks noGrp="1"/>
          </p:cNvSpPr>
          <p:nvPr>
            <p:ph type="body" sz="quarter" idx="12" hasCustomPrompt="1"/>
          </p:nvPr>
        </p:nvSpPr>
        <p:spPr>
          <a:xfrm>
            <a:off x="586651" y="1593700"/>
            <a:ext cx="9619773" cy="1619400"/>
          </a:xfrm>
        </p:spPr>
        <p:txBody>
          <a:bodyPr/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 lvl="0"/>
            <a:r>
              <a:rPr lang="de-AT"/>
              <a:t>email</a:t>
            </a:r>
          </a:p>
        </p:txBody>
      </p:sp>
    </p:spTree>
    <p:extLst>
      <p:ext uri="{BB962C8B-B14F-4D97-AF65-F5344CB8AC3E}">
        <p14:creationId xmlns:p14="http://schemas.microsoft.com/office/powerpoint/2010/main" val="61757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8380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>
                <a:latin typeface="Roboto Light"/>
                <a:cs typeface="Roboto Light"/>
              </a:defRPr>
            </a:lvl2pPr>
            <a:lvl3pPr>
              <a:defRPr>
                <a:latin typeface="Roboto Light"/>
                <a:cs typeface="Roboto Light"/>
              </a:defRPr>
            </a:lvl3pPr>
            <a:lvl4pPr>
              <a:defRPr>
                <a:latin typeface="Roboto Light"/>
                <a:cs typeface="Roboto Light"/>
              </a:defRPr>
            </a:lvl4pPr>
            <a:lvl5pPr>
              <a:defRPr>
                <a:latin typeface="Roboto Light"/>
                <a:cs typeface="Roboto Light"/>
              </a:defRPr>
            </a:lvl5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309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100950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988" y="1905000"/>
            <a:ext cx="5307012" cy="3835400"/>
          </a:xfrm>
        </p:spPr>
        <p:txBody>
          <a:bodyPr lIns="0" tIns="0" rIns="0" bIns="0" numCol="1">
            <a:noAutofit/>
          </a:bodyPr>
          <a:lstStyle>
            <a:lvl1pPr>
              <a:defRPr sz="1600" baseline="0"/>
            </a:lvl1pPr>
            <a:lvl2pPr>
              <a:defRPr sz="1600">
                <a:latin typeface="Roboto Light"/>
                <a:cs typeface="Roboto Light"/>
              </a:defRPr>
            </a:lvl2pPr>
            <a:lvl3pPr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046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9523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88" y="1908175"/>
            <a:ext cx="9618662" cy="2346326"/>
          </a:xfrm>
        </p:spPr>
        <p:txBody>
          <a:bodyPr lIns="0" tIns="0" rIns="0" bIns="0" numCol="1" anchor="t">
            <a:norm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600">
                <a:latin typeface="Roboto Light"/>
                <a:cs typeface="Roboto Light"/>
              </a:defRPr>
            </a:lvl2pPr>
            <a:lvl3pPr marL="540000" indent="-228600">
              <a:buFont typeface="Arial"/>
              <a:buChar char="•"/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43000" y="2552700"/>
            <a:ext cx="8445500" cy="3086099"/>
          </a:xfrm>
        </p:spPr>
        <p:txBody>
          <a:bodyPr lIns="0" tIns="0" rIns="0" bIns="0" numCol="1" anchor="t"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582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952351"/>
          </a:xfrm>
        </p:spPr>
        <p:txBody>
          <a:bodyPr/>
          <a:lstStyle>
            <a:lvl1pPr>
              <a:defRPr>
                <a:latin typeface="Roboto Medium"/>
                <a:cs typeface="Roboto Medium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4988" y="1908175"/>
            <a:ext cx="4811712" cy="3730624"/>
          </a:xfrm>
        </p:spPr>
        <p:txBody>
          <a:bodyPr lIns="0" tIns="0" rIns="0" bIns="0" numCol="1" anchor="t">
            <a:normAutofit/>
          </a:bodyPr>
          <a:lstStyle>
            <a:lvl1pPr>
              <a:defRPr sz="1600">
                <a:solidFill>
                  <a:schemeClr val="tx1"/>
                </a:solidFill>
              </a:defRPr>
            </a:lvl1pPr>
            <a:lvl2pPr marL="0" indent="0">
              <a:buNone/>
              <a:defRPr sz="1600">
                <a:latin typeface="Roboto Light"/>
                <a:cs typeface="Roboto Light"/>
              </a:defRPr>
            </a:lvl2pPr>
            <a:lvl3pPr marL="540000" indent="-228600">
              <a:buFont typeface="Arial"/>
              <a:buChar char="•"/>
              <a:defRPr sz="1600">
                <a:latin typeface="Roboto Light"/>
                <a:cs typeface="Roboto Light"/>
              </a:defRPr>
            </a:lvl3pPr>
            <a:lvl4pPr>
              <a:defRPr sz="1600">
                <a:latin typeface="Roboto Light"/>
                <a:cs typeface="Roboto Light"/>
              </a:defRPr>
            </a:lvl4pPr>
            <a:lvl5pPr>
              <a:defRPr sz="1600">
                <a:latin typeface="Roboto Light"/>
                <a:cs typeface="Roboto Light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half" idx="10"/>
          </p:nvPr>
        </p:nvSpPr>
        <p:spPr>
          <a:xfrm>
            <a:off x="6781800" y="1003300"/>
            <a:ext cx="3371850" cy="4737100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319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>
            <a:lvl1pPr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63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5463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7" name="Content Placeholder 2"/>
          <p:cNvSpPr>
            <a:spLocks noGrp="1"/>
          </p:cNvSpPr>
          <p:nvPr>
            <p:ph idx="11"/>
          </p:nvPr>
        </p:nvSpPr>
        <p:spPr>
          <a:xfrm>
            <a:off x="2518793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8" name="Text Placeholder 4"/>
          <p:cNvSpPr>
            <a:spLocks noGrp="1"/>
          </p:cNvSpPr>
          <p:nvPr>
            <p:ph type="body" sz="quarter" idx="12"/>
          </p:nvPr>
        </p:nvSpPr>
        <p:spPr>
          <a:xfrm>
            <a:off x="2518793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9" name="Content Placeholder 2"/>
          <p:cNvSpPr>
            <a:spLocks noGrp="1"/>
          </p:cNvSpPr>
          <p:nvPr>
            <p:ph idx="13"/>
          </p:nvPr>
        </p:nvSpPr>
        <p:spPr>
          <a:xfrm>
            <a:off x="4470687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0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4470687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1" name="Content Placeholder 2"/>
          <p:cNvSpPr>
            <a:spLocks noGrp="1"/>
          </p:cNvSpPr>
          <p:nvPr>
            <p:ph idx="15"/>
          </p:nvPr>
        </p:nvSpPr>
        <p:spPr>
          <a:xfrm>
            <a:off x="6440489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2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6440489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3" name="Content Placeholder 2"/>
          <p:cNvSpPr>
            <a:spLocks noGrp="1"/>
          </p:cNvSpPr>
          <p:nvPr>
            <p:ph idx="17"/>
          </p:nvPr>
        </p:nvSpPr>
        <p:spPr>
          <a:xfrm>
            <a:off x="8389652" y="10858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/>
          <a:p>
            <a:pPr lvl="0"/>
            <a:endParaRPr lang="en-US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8389652" y="25501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5" name="Content Placeholder 2"/>
          <p:cNvSpPr>
            <a:spLocks noGrp="1"/>
          </p:cNvSpPr>
          <p:nvPr>
            <p:ph idx="19"/>
          </p:nvPr>
        </p:nvSpPr>
        <p:spPr>
          <a:xfrm>
            <a:off x="5463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6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5463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7" name="Content Placeholder 2"/>
          <p:cNvSpPr>
            <a:spLocks noGrp="1"/>
          </p:cNvSpPr>
          <p:nvPr>
            <p:ph idx="21"/>
          </p:nvPr>
        </p:nvSpPr>
        <p:spPr>
          <a:xfrm>
            <a:off x="2518793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18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2518793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19" name="Content Placeholder 2"/>
          <p:cNvSpPr>
            <a:spLocks noGrp="1"/>
          </p:cNvSpPr>
          <p:nvPr>
            <p:ph idx="23"/>
          </p:nvPr>
        </p:nvSpPr>
        <p:spPr>
          <a:xfrm>
            <a:off x="4470687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4"/>
          </p:nvPr>
        </p:nvSpPr>
        <p:spPr>
          <a:xfrm>
            <a:off x="4470687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1" name="Content Placeholder 2"/>
          <p:cNvSpPr>
            <a:spLocks noGrp="1"/>
          </p:cNvSpPr>
          <p:nvPr>
            <p:ph idx="25"/>
          </p:nvPr>
        </p:nvSpPr>
        <p:spPr>
          <a:xfrm>
            <a:off x="6440489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26"/>
          </p:nvPr>
        </p:nvSpPr>
        <p:spPr>
          <a:xfrm>
            <a:off x="6440489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  <p:sp>
        <p:nvSpPr>
          <p:cNvPr id="23" name="Content Placeholder 2"/>
          <p:cNvSpPr>
            <a:spLocks noGrp="1"/>
          </p:cNvSpPr>
          <p:nvPr>
            <p:ph idx="27"/>
          </p:nvPr>
        </p:nvSpPr>
        <p:spPr>
          <a:xfrm>
            <a:off x="8389652" y="3041651"/>
            <a:ext cx="1763998" cy="1764000"/>
          </a:xfrm>
          <a:ln w="6350">
            <a:solidFill>
              <a:srgbClr val="D82C6A"/>
            </a:solidFill>
          </a:ln>
        </p:spPr>
        <p:txBody>
          <a:bodyPr numCol="1"/>
          <a:lstStyle>
            <a:lvl1pPr>
              <a:defRPr>
                <a:latin typeface="Roboto"/>
                <a:cs typeface="Roboto"/>
              </a:defRPr>
            </a:lvl1pPr>
          </a:lstStyle>
          <a:p>
            <a:pPr lvl="0"/>
            <a:endParaRPr lang="en-US"/>
          </a:p>
        </p:txBody>
      </p:sp>
      <p:sp>
        <p:nvSpPr>
          <p:cNvPr id="24" name="Text Placeholder 4"/>
          <p:cNvSpPr>
            <a:spLocks noGrp="1"/>
          </p:cNvSpPr>
          <p:nvPr>
            <p:ph type="body" sz="quarter" idx="28"/>
          </p:nvPr>
        </p:nvSpPr>
        <p:spPr>
          <a:xfrm>
            <a:off x="8389652" y="4505975"/>
            <a:ext cx="1752600" cy="299676"/>
          </a:xfrm>
        </p:spPr>
        <p:txBody>
          <a:bodyPr lIns="0" tIns="0" rIns="0" bIns="0" numCol="1">
            <a:normAutofit/>
          </a:bodyPr>
          <a:lstStyle>
            <a:lvl1pPr algn="ctr">
              <a:defRPr sz="10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632204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8.xml"/><Relationship Id="rId4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6651" y="2085209"/>
            <a:ext cx="9619774" cy="696092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de-AT" err="1"/>
              <a:t>titel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6651" y="1593700"/>
            <a:ext cx="9619774" cy="491509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de-AT" err="1"/>
              <a:t>Subtitel</a:t>
            </a:r>
            <a:endParaRPr lang="de-AT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2"/>
          </p:nvPr>
        </p:nvSpPr>
        <p:spPr>
          <a:xfrm>
            <a:off x="586651" y="2950097"/>
            <a:ext cx="2493962" cy="3206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rgbClr val="D82C6A"/>
                </a:solidFill>
                <a:latin typeface="Roboto"/>
                <a:cs typeface="Roboto"/>
              </a:defRPr>
            </a:lvl1pPr>
          </a:lstStyle>
          <a:p>
            <a:r>
              <a:rPr lang="en-US"/>
              <a:t>Ort, </a:t>
            </a:r>
            <a:fld id="{80D1854D-94AC-454A-B099-7121A7BE7EA6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586651" y="5555207"/>
            <a:ext cx="3386138" cy="320675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marR="0" indent="0" algn="ctr" defTabSz="53450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r>
              <a:rPr lang="en-US" sz="1000">
                <a:solidFill>
                  <a:srgbClr val="E1467D"/>
                </a:solidFill>
                <a:latin typeface="Roboto"/>
                <a:cs typeface="Roboto"/>
              </a:rPr>
              <a:t>© </a:t>
            </a:r>
            <a:r>
              <a:rPr lang="en-US" sz="1000" err="1">
                <a:solidFill>
                  <a:srgbClr val="E1467D"/>
                </a:solidFill>
                <a:latin typeface="Roboto"/>
                <a:cs typeface="Roboto"/>
              </a:rPr>
              <a:t>Jahreszahl</a:t>
            </a:r>
            <a:endParaRPr lang="it-IT" sz="1000">
              <a:solidFill>
                <a:srgbClr val="E1467D"/>
              </a:solidFill>
              <a:latin typeface="+mn-lt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967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49" r:id="rId2"/>
    <p:sldLayoutId id="2147483676" r:id="rId3"/>
  </p:sldLayoutIdLst>
  <p:txStyles>
    <p:titleStyle>
      <a:lvl1pPr algn="l" defTabSz="534504" rtl="0" eaLnBrk="1" latinLnBrk="0" hangingPunct="1">
        <a:spcBef>
          <a:spcPct val="0"/>
        </a:spcBef>
        <a:buNone/>
        <a:defRPr sz="4800" kern="1200">
          <a:solidFill>
            <a:schemeClr val="tx1"/>
          </a:solidFill>
          <a:latin typeface="Guidnew"/>
          <a:ea typeface="+mj-ea"/>
          <a:cs typeface="Guidnew"/>
        </a:defRPr>
      </a:lvl1pPr>
    </p:titleStyle>
    <p:bodyStyle>
      <a:lvl1pPr marL="0" indent="0" algn="l" defTabSz="534504" rtl="0" eaLnBrk="1" latinLnBrk="0" hangingPunct="1">
        <a:spcBef>
          <a:spcPct val="20000"/>
        </a:spcBef>
        <a:buFont typeface="Arial"/>
        <a:buNone/>
        <a:defRPr sz="3200" kern="1200">
          <a:solidFill>
            <a:srgbClr val="D82C6A"/>
          </a:solidFill>
          <a:latin typeface="Roboto"/>
          <a:ea typeface="+mn-ea"/>
          <a:cs typeface="Roboto"/>
        </a:defRPr>
      </a:lvl1pPr>
      <a:lvl2pPr marL="868569" indent="-334065" algn="l" defTabSz="534504" rtl="0" eaLnBrk="1" latinLnBrk="0" hangingPunct="1">
        <a:spcBef>
          <a:spcPct val="20000"/>
        </a:spcBef>
        <a:buFont typeface="Arial"/>
        <a:buChar char="–"/>
        <a:defRPr sz="3300" kern="1200">
          <a:solidFill>
            <a:schemeClr val="tx1"/>
          </a:solidFill>
          <a:latin typeface="+mn-lt"/>
          <a:ea typeface="+mn-ea"/>
          <a:cs typeface="+mn-cs"/>
        </a:defRPr>
      </a:lvl2pPr>
      <a:lvl3pPr marL="1336262" indent="-267252" algn="l" defTabSz="534504" rtl="0" eaLnBrk="1" latinLnBrk="0" hangingPunct="1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70767" indent="-267252" algn="l" defTabSz="534504" rtl="0" eaLnBrk="1" latinLnBrk="0" hangingPunct="1">
        <a:spcBef>
          <a:spcPct val="20000"/>
        </a:spcBef>
        <a:buFont typeface="Arial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405271" indent="-267252" algn="l" defTabSz="534504" rtl="0" eaLnBrk="1" latinLnBrk="0" hangingPunct="1">
        <a:spcBef>
          <a:spcPct val="20000"/>
        </a:spcBef>
        <a:buFont typeface="Arial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939776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74281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08786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43290" indent="-267252" algn="l" defTabSz="534504" rtl="0" eaLnBrk="1" latinLnBrk="0" hangingPunct="1">
        <a:spcBef>
          <a:spcPct val="20000"/>
        </a:spcBef>
        <a:buFont typeface="Arial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34504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69009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03515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38019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72523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07028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741534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76038" algn="l" defTabSz="53450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988" y="393849"/>
            <a:ext cx="9618662" cy="40846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988" y="1403350"/>
            <a:ext cx="9618662" cy="3971925"/>
          </a:xfrm>
          <a:prstGeom prst="rect">
            <a:avLst/>
          </a:prstGeom>
        </p:spPr>
        <p:txBody>
          <a:bodyPr vert="horz" lIns="91440" tIns="45720" rIns="91440" bIns="45720" numCol="2" rtlCol="0">
            <a:normAutofit/>
          </a:bodyPr>
          <a:lstStyle/>
          <a:p>
            <a:pPr lvl="0"/>
            <a:r>
              <a:rPr lang="de-AT"/>
              <a:t>Click </a:t>
            </a:r>
            <a:r>
              <a:rPr lang="de-AT" err="1"/>
              <a:t>to</a:t>
            </a:r>
            <a:r>
              <a:rPr lang="de-AT"/>
              <a:t> </a:t>
            </a:r>
            <a:r>
              <a:rPr lang="de-AT" err="1"/>
              <a:t>edit</a:t>
            </a:r>
            <a:r>
              <a:rPr lang="de-AT"/>
              <a:t> Master </a:t>
            </a:r>
            <a:r>
              <a:rPr lang="de-AT" err="1"/>
              <a:t>text</a:t>
            </a:r>
            <a:r>
              <a:rPr lang="de-AT"/>
              <a:t> </a:t>
            </a:r>
            <a:r>
              <a:rPr lang="de-AT" err="1"/>
              <a:t>styles</a:t>
            </a:r>
            <a:endParaRPr lang="de-AT"/>
          </a:p>
          <a:p>
            <a:pPr lvl="0"/>
            <a:endParaRPr lang="de-AT"/>
          </a:p>
          <a:p>
            <a:pPr lvl="1"/>
            <a:r>
              <a:rPr lang="de-AT"/>
              <a:t>Second </a:t>
            </a:r>
            <a:r>
              <a:rPr lang="de-AT" err="1"/>
              <a:t>level</a:t>
            </a:r>
            <a:endParaRPr lang="de-AT"/>
          </a:p>
          <a:p>
            <a:pPr lvl="2"/>
            <a:r>
              <a:rPr lang="de-AT"/>
              <a:t>Third </a:t>
            </a:r>
            <a:r>
              <a:rPr lang="de-AT" err="1"/>
              <a:t>level</a:t>
            </a:r>
            <a:endParaRPr lang="de-AT"/>
          </a:p>
          <a:p>
            <a:pPr lvl="3"/>
            <a:r>
              <a:rPr lang="de-AT" err="1"/>
              <a:t>Fourth</a:t>
            </a:r>
            <a:r>
              <a:rPr lang="de-AT"/>
              <a:t> </a:t>
            </a:r>
            <a:r>
              <a:rPr lang="de-AT" err="1"/>
              <a:t>level</a:t>
            </a:r>
            <a:endParaRPr lang="de-AT"/>
          </a:p>
          <a:p>
            <a:pPr lvl="4"/>
            <a:r>
              <a:rPr lang="de-AT" err="1"/>
              <a:t>Fifth</a:t>
            </a:r>
            <a:r>
              <a:rPr lang="de-AT"/>
              <a:t> </a:t>
            </a:r>
            <a:r>
              <a:rPr lang="de-AT" err="1"/>
              <a:t>level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17031" y="493230"/>
            <a:ext cx="1276582" cy="142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629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6" r:id="rId2"/>
    <p:sldLayoutId id="2147483667" r:id="rId3"/>
    <p:sldLayoutId id="2147483674" r:id="rId4"/>
    <p:sldLayoutId id="2147483677" r:id="rId5"/>
  </p:sldLayoutIdLst>
  <p:txStyles>
    <p:titleStyle>
      <a:lvl1pPr marL="0" algn="l" defTabSz="457200" rtl="0" eaLnBrk="1" latinLnBrk="0" hangingPunct="1">
        <a:lnSpc>
          <a:spcPct val="100000"/>
        </a:lnSpc>
        <a:spcBef>
          <a:spcPct val="0"/>
        </a:spcBef>
        <a:buNone/>
        <a:defRPr sz="3200" kern="1200">
          <a:solidFill>
            <a:schemeClr val="tx1"/>
          </a:solidFill>
          <a:latin typeface="Roboto Medium"/>
          <a:ea typeface="+mj-ea"/>
          <a:cs typeface="Roboto Medium"/>
        </a:defRPr>
      </a:lvl1pPr>
    </p:titleStyle>
    <p:bodyStyle>
      <a:lvl1pPr marL="0" indent="0" algn="l" defTabSz="457200" rtl="0" eaLnBrk="1" latinLnBrk="0" hangingPunct="1">
        <a:spcBef>
          <a:spcPct val="20000"/>
        </a:spcBef>
        <a:buFont typeface="Arial"/>
        <a:buNone/>
        <a:defRPr sz="1600" kern="1200">
          <a:solidFill>
            <a:srgbClr val="D82C6A"/>
          </a:solidFill>
          <a:latin typeface="Roboto Medium"/>
          <a:ea typeface="+mn-ea"/>
          <a:cs typeface="Roboto Medium"/>
        </a:defRPr>
      </a:lvl1pPr>
      <a:lvl2pPr marL="0" indent="-285750" algn="l" defTabSz="457200" rtl="0" eaLnBrk="1" latinLnBrk="0" hangingPunct="1">
        <a:spcBef>
          <a:spcPct val="20000"/>
        </a:spcBef>
        <a:buClr>
          <a:srgbClr val="D82C6A"/>
        </a:buClr>
        <a:buFont typeface="Arial"/>
        <a:buChar char="•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2pPr>
      <a:lvl3pPr marL="54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3pPr>
      <a:lvl4pPr marL="108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4pPr>
      <a:lvl5pPr marL="1620000" indent="-228600" algn="l" defTabSz="457200" rtl="0" eaLnBrk="1" latinLnBrk="0" hangingPunct="1">
        <a:spcBef>
          <a:spcPct val="20000"/>
        </a:spcBef>
        <a:buClr>
          <a:srgbClr val="D82C6A"/>
        </a:buClr>
        <a:buFont typeface="Courier New"/>
        <a:buChar char="o"/>
        <a:defRPr sz="1600" kern="1200">
          <a:solidFill>
            <a:schemeClr val="tx1"/>
          </a:solidFill>
          <a:latin typeface="Roboto Light"/>
          <a:ea typeface="+mn-ea"/>
          <a:cs typeface="Roboto Light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5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7">
            <a:extLst>
              <a:ext uri="{FF2B5EF4-FFF2-40B4-BE49-F238E27FC236}">
                <a16:creationId xmlns:a16="http://schemas.microsoft.com/office/drawing/2014/main" id="{264026FD-2829-4B98-9184-E086A3492DA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84510" y="94502"/>
            <a:ext cx="4606925" cy="515892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extplatzhalter 2">
            <a:extLst>
              <a:ext uri="{FF2B5EF4-FFF2-40B4-BE49-F238E27FC236}">
                <a16:creationId xmlns:a16="http://schemas.microsoft.com/office/drawing/2014/main" id="{6ABB7A6A-34CA-3642-7E0C-879206975D3E}"/>
              </a:ext>
            </a:extLst>
          </p:cNvPr>
          <p:cNvSpPr txBox="1">
            <a:spLocks/>
          </p:cNvSpPr>
          <p:nvPr/>
        </p:nvSpPr>
        <p:spPr>
          <a:xfrm>
            <a:off x="968892" y="2317438"/>
            <a:ext cx="8750854" cy="138174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534504" rtl="0" eaLnBrk="1" latinLnBrk="0" hangingPunct="1">
              <a:spcBef>
                <a:spcPct val="20000"/>
              </a:spcBef>
              <a:buFont typeface="Arial"/>
              <a:buNone/>
              <a:defRPr sz="3200" kern="1200">
                <a:solidFill>
                  <a:srgbClr val="D82C6A"/>
                </a:solidFill>
                <a:latin typeface="Roboto"/>
                <a:ea typeface="+mn-ea"/>
                <a:cs typeface="Roboto"/>
              </a:defRPr>
            </a:lvl1pPr>
            <a:lvl2pPr marL="868569" indent="-334065" algn="l" defTabSz="534504" rtl="0" eaLnBrk="1" latinLnBrk="0" hangingPunct="1">
              <a:spcBef>
                <a:spcPct val="20000"/>
              </a:spcBef>
              <a:buFont typeface="Arial"/>
              <a:buChar char="–"/>
              <a:defRPr sz="3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336262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70767" indent="-267252" algn="l" defTabSz="534504" rtl="0" eaLnBrk="1" latinLnBrk="0" hangingPunct="1">
              <a:spcBef>
                <a:spcPct val="20000"/>
              </a:spcBef>
              <a:buFont typeface="Arial"/>
              <a:buChar char="–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05271" indent="-267252" algn="l" defTabSz="534504" rtl="0" eaLnBrk="1" latinLnBrk="0" hangingPunct="1">
              <a:spcBef>
                <a:spcPct val="20000"/>
              </a:spcBef>
              <a:buFont typeface="Arial"/>
              <a:buChar char="»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39776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474281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08786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543290" indent="-267252" algn="l" defTabSz="534504" rtl="0" eaLnBrk="1" latinLnBrk="0" hangingPunct="1">
              <a:spcBef>
                <a:spcPct val="20000"/>
              </a:spcBef>
              <a:buFont typeface="Arial"/>
              <a:buChar char="•"/>
              <a:defRPr sz="2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400" cap="all" noProof="0" dirty="0"/>
              <a:t>Performance optimizations</a:t>
            </a:r>
            <a:br>
              <a:rPr lang="en-US" sz="4400" cap="all" noProof="0" dirty="0"/>
            </a:br>
            <a:r>
              <a:rPr lang="en-US" sz="4400" cap="all" noProof="0" dirty="0"/>
              <a:t>in C#</a:t>
            </a:r>
            <a:endParaRPr lang="en-US" sz="4400" noProof="0" dirty="0"/>
          </a:p>
        </p:txBody>
      </p:sp>
      <p:sp>
        <p:nvSpPr>
          <p:cNvPr id="9" name="Rechteck 4">
            <a:extLst>
              <a:ext uri="{FF2B5EF4-FFF2-40B4-BE49-F238E27FC236}">
                <a16:creationId xmlns:a16="http://schemas.microsoft.com/office/drawing/2014/main" id="{D7D6C096-04EB-33F5-7CB1-F946B0363EDB}"/>
              </a:ext>
            </a:extLst>
          </p:cNvPr>
          <p:cNvSpPr/>
          <p:nvPr/>
        </p:nvSpPr>
        <p:spPr>
          <a:xfrm>
            <a:off x="3165372" y="4928953"/>
            <a:ext cx="425345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Jonathan Jeszenszky</a:t>
            </a:r>
            <a:b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</a:br>
            <a:r>
              <a:rPr lang="en-US" sz="18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@ </a:t>
            </a:r>
            <a:r>
              <a:rPr lang="en-US" sz="1800" noProof="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Guid.New</a:t>
            </a:r>
            <a:endParaRPr lang="en-US" sz="18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92976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66"/>
    </mc:Choice>
    <mc:Fallback xmlns="">
      <p:transition spd="slow" advTm="76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3771E-89BC-2747-A378-49F8ADD9C6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2334AE8-111B-BD9E-B209-8D53C502EA7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706EA7E-929E-D988-F4A0-6BFAFDED2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Overview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Agenda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A8D5E45-F926-18EF-4C13-70E222E0CD0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Agenda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7525A983-F0E9-B68A-676A-080077A3E5AC}"/>
              </a:ext>
            </a:extLst>
          </p:cNvPr>
          <p:cNvSpPr txBox="1"/>
          <p:nvPr/>
        </p:nvSpPr>
        <p:spPr>
          <a:xfrm>
            <a:off x="534988" y="1849724"/>
            <a:ext cx="9349241" cy="1794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When to optimize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to optimize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Measure optimizations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tools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examples</a:t>
            </a:r>
          </a:p>
        </p:txBody>
      </p:sp>
    </p:spTree>
    <p:extLst>
      <p:ext uri="{BB962C8B-B14F-4D97-AF65-F5344CB8AC3E}">
        <p14:creationId xmlns:p14="http://schemas.microsoft.com/office/powerpoint/2010/main" val="1310976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4"/>
    </mc:Choice>
    <mc:Fallback xmlns="">
      <p:transition spd="slow" advTm="144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C2811-630F-3C21-28A2-0C78132AE3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FDA8647-81D3-3B42-3197-94ABA8954D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306978-B995-1B8B-A3B4-BB9AB9DE7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94F0CC1-ACF6-19F2-593C-31CDFD38186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Online Store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4020D55-CDCC-B056-16BE-E2477362EFD9}"/>
              </a:ext>
            </a:extLst>
          </p:cNvPr>
          <p:cNvSpPr txBox="1"/>
          <p:nvPr/>
        </p:nvSpPr>
        <p:spPr>
          <a:xfrm>
            <a:off x="534988" y="1849724"/>
            <a:ext cx="9349241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Implement variable pricing for a product depending on the quantity ordered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Example: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Normal Price: 1.00€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10 units: 0.90€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100 units: 0.80€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&gt; 1.000 units: 0.70€ per unit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11925435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8"/>
    </mc:Choice>
    <mc:Fallback xmlns="">
      <p:transition spd="slow" advTm="158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7B56D-2D31-5D07-2AB9-8CB48056C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92F66B0-6C0C-6D82-3522-4C53D151BF4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CC68B04-A025-6F04-1190-2023FE4AE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43BFDC1-9C53-8854-F70C-CDD4EF93A9B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2205990"/>
            <a:ext cx="9572467" cy="31775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569CD6"/>
                </a:solidFill>
                <a:latin typeface="Consolas"/>
              </a:rPr>
              <a:t>record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DCDCAA"/>
                </a:solidFill>
                <a:latin typeface="Consolas"/>
              </a:rPr>
              <a:t>PriceTier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569CD6"/>
                </a:solidFill>
                <a:latin typeface="Consolas"/>
              </a:rPr>
              <a:t>int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4EC9B0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, </a:t>
            </a:r>
            <a:r>
              <a:rPr sz="20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4EC9B0"/>
                </a:solidFill>
                <a:latin typeface="Consolas"/>
              </a:rPr>
              <a:t>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569CD6"/>
                </a:solidFill>
                <a:latin typeface="Consolas"/>
              </a:rPr>
              <a:t>int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, </a:t>
            </a:r>
            <a:r>
              <a:rPr sz="2050" b="0">
                <a:solidFill>
                  <a:srgbClr val="4EC9B0"/>
                </a:solidFill>
                <a:latin typeface="Consolas"/>
              </a:rPr>
              <a:t>List</a:t>
            </a:r>
            <a:r>
              <a:rPr sz="2050" b="0">
                <a:solidFill>
                  <a:srgbClr val="D4D4D4"/>
                </a:solidFill>
                <a:latin typeface="Consolas"/>
              </a:rPr>
              <a:t>&lt;</a:t>
            </a:r>
            <a:r>
              <a:rPr sz="20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20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</a:t>
            </a:r>
            <a:r>
              <a:rPr sz="20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MaxBy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8434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9"/>
    </mc:Choice>
    <mc:Fallback xmlns="">
      <p:transition spd="slow" advTm="139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1C5DA-64E1-FD53-B7A1-83DAE0CF9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23FFACA-37C8-8C0E-3DEA-DB9B5A824C4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9BFB282-6036-BA42-D6BB-9D4EDD5A30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B36079-ECCC-55B6-9F84-E9D584D6A27B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FA613AB-1E32-1CCF-07C5-160F46436C01}"/>
              </a:ext>
            </a:extLst>
          </p:cNvPr>
          <p:cNvSpPr txBox="1"/>
          <p:nvPr/>
        </p:nvSpPr>
        <p:spPr>
          <a:xfrm>
            <a:off x="7183438" y="272427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  <p:sp>
        <p:nvSpPr>
          <p:cNvPr id="8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82101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1"/>
    </mc:Choice>
    <mc:Fallback xmlns="">
      <p:transition spd="slow" advTm="23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CF50B-0D56-5429-21A1-5FBC2CF4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73532F2-022E-11CA-09C9-C138D9F0B3B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74C6004-0647-5CFD-E699-1B46DA644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2CED9A3-3E98-EBF3-694C-48525DFCDDD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870C6CC7-97B2-937C-D37D-606EBC0CDDAE}"/>
              </a:ext>
            </a:extLst>
          </p:cNvPr>
          <p:cNvSpPr txBox="1"/>
          <p:nvPr/>
        </p:nvSpPr>
        <p:spPr>
          <a:xfrm>
            <a:off x="7183438" y="272427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  <p:sp>
        <p:nvSpPr>
          <p:cNvPr id="13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71337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"/>
    </mc:Choice>
    <mc:Fallback xmlns="">
      <p:transition spd="slow" advTm="68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0533C-4DDF-8FB6-20AA-E676FC7BC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B3956C-DA0C-2282-E20D-B37CF7CDE26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4243B03-63E8-A6CA-B96C-14C73EF6F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4221BD2-C885-3765-7537-21953B5D20F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49AC5F63-5373-8E4E-B11D-380C1C316E90}"/>
              </a:ext>
            </a:extLst>
          </p:cNvPr>
          <p:cNvSpPr txBox="1"/>
          <p:nvPr/>
        </p:nvSpPr>
        <p:spPr>
          <a:xfrm>
            <a:off x="7183438" y="2724274"/>
            <a:ext cx="297021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Example 20 units: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 – 1.00€</a:t>
            </a:r>
          </a:p>
          <a:p>
            <a:pPr>
              <a:lnSpc>
                <a:spcPts val="2700"/>
              </a:lnSpc>
            </a:pP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 – 0.90€ </a:t>
            </a: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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 – 0.80€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 – 0.70€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</p:txBody>
      </p:sp>
      <p:sp>
        <p:nvSpPr>
          <p:cNvPr id="13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38680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"/>
    </mc:Choice>
    <mc:Fallback xmlns="">
      <p:transition spd="slow" advTm="67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368A7-9D9A-AB50-114A-2585C5A02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3085094-FEBD-9795-40DA-EC442575FE3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377DF9D-F5DC-DFF8-7C6C-B374DED89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12604C2-9E6C-6744-9220-70D8F8CE020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First Implementation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7183438" y="3589895"/>
            <a:ext cx="2970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O(n) Solution</a:t>
            </a:r>
          </a:p>
        </p:txBody>
      </p:sp>
      <p:sp>
        <p:nvSpPr>
          <p:cNvPr id="8" name="Code"/>
          <p:cNvSpPr/>
          <p:nvPr/>
        </p:nvSpPr>
        <p:spPr>
          <a:xfrm>
            <a:off x="548640" y="2891789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 err="1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 dirty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 dirty="0" err="1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 dirty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 dirty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 dirty="0" err="1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27196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"/>
    </mc:Choice>
    <mc:Fallback xmlns="">
      <p:transition spd="slow" advTm="66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061D1-8F43-6CBB-FBC8-C0E5A6C4A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EC92EE-44EA-31E6-7351-8E16D4BD7BC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7325C0E-8EBB-193B-EF96-DF9DB4785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2CD593-CD1A-0F78-9A79-0A4D262B045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8C14BE5-724A-994D-769B-6B3094764FEC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1.000: 0.70€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341BBF95-BCC3-A26E-D253-58BA47039BB2}"/>
              </a:ext>
            </a:extLst>
          </p:cNvPr>
          <p:cNvSpPr/>
          <p:nvPr/>
        </p:nvSpPr>
        <p:spPr>
          <a:xfrm>
            <a:off x="3691863" y="2306350"/>
            <a:ext cx="6444325" cy="18059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>
                <a:solidFill>
                  <a:srgbClr val="569CD6"/>
                </a:solidFill>
                <a:latin typeface="Consolas"/>
              </a:rPr>
              <a:t>decimal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 err="1">
                <a:solidFill>
                  <a:srgbClr val="DCDCAA"/>
                </a:solidFill>
                <a:latin typeface="Consolas"/>
              </a:rPr>
              <a:t>GetUnitPrice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 dirty="0">
                <a:solidFill>
                  <a:srgbClr val="4EC9B0"/>
                </a:solidFill>
                <a:latin typeface="Consolas"/>
              </a:rPr>
              <a:t>List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 dirty="0" err="1">
                <a:solidFill>
                  <a:srgbClr val="4EC9B0"/>
                </a:solidFill>
                <a:latin typeface="Consolas"/>
              </a:rPr>
              <a:t>PriceTier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tiers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 dirty="0">
                <a:solidFill>
                  <a:srgbClr val="C586C0"/>
                </a:solidFill>
                <a:latin typeface="Consolas"/>
              </a:rPr>
              <a:t>return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 dirty="0">
                <a:solidFill>
                  <a:srgbClr val="DCDCAA"/>
                </a:solidFill>
                <a:latin typeface="Consolas"/>
              </a:rPr>
              <a:t>Where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&gt;= 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 dirty="0" err="1">
                <a:solidFill>
                  <a:srgbClr val="DCDCAA"/>
                </a:solidFill>
                <a:latin typeface="Consolas"/>
              </a:rPr>
              <a:t>MaxBy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 dirty="0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t</a:t>
            </a:r>
            <a:r>
              <a:rPr sz="13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MinQuantity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        .</a:t>
            </a:r>
            <a:r>
              <a:rPr sz="1350" b="0" dirty="0" err="1">
                <a:solidFill>
                  <a:srgbClr val="9CDCFE"/>
                </a:solidFill>
                <a:latin typeface="Consolas"/>
              </a:rPr>
              <a:t>UnitPrice</a:t>
            </a:r>
            <a:r>
              <a:rPr sz="135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01661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0"/>
    </mc:Choice>
    <mc:Fallback xmlns="">
      <p:transition spd="slow" advTm="9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3A048-3523-C61F-9DF7-9D4F051F8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DBFB71B-8D64-3C87-3F88-A4F68670C6A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90456FE-7EC2-872C-AC3B-117066ECA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080528E-29DE-B4E7-D62A-46672C2118D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A498ACE5-5EB2-1A06-6311-E2AE9604B3C0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0452CA8-7431-28C2-9E5C-0132CF947FEB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268986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1990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"/>
    </mc:Choice>
    <mc:Fallback xmlns="">
      <p:transition spd="slow" advTm="7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EB119-6745-3D2A-5F12-DB7522F294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860CC95-AC7F-A25E-0BDB-F42F82E76C4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C2EA786-9D13-A793-199B-43582EC2C3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F3F0992-EB84-ED5E-E7CF-991C694F592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1CA5DAD-4FC0-3065-9C37-51A1F30035FB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00D0A61-7184-51FF-03B8-1AA78BA00B27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268986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061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5"/>
    </mc:Choice>
    <mc:Fallback xmlns="">
      <p:transition spd="slow" advTm="175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CBA25A-D34A-FC41-9DE8-3518DD35F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850D90-E938-A4D3-7D6A-494699CCD0A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22FD44D-4988-4873-66E4-4204B5FA2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BAED2FA-3B3C-35C2-598E-0EB2EFFB70D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EC9C357-B6FE-352F-4316-3DB947C19D5E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7CAAD51-C749-1481-C074-FF2ACEE40BBE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9982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0751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"/>
    </mc:Choice>
    <mc:Fallback xmlns="">
      <p:transition spd="slow" advTm="7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4DFC8-DC7D-7A06-F4F4-3CD5185B2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DC35861-88DE-0CBE-4ACE-9CC4893B9EC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10CB4B3-9C22-A35E-1A92-6307B0060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42BB98E-FFAB-38ED-1478-8DDD4E1D791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86AEFA9-2153-8E0E-67B9-EE989418BAE2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EA810FA-3B6D-74C4-7A9F-6085B0B03B08}"/>
              </a:ext>
            </a:extLst>
          </p:cNvPr>
          <p:cNvCxnSpPr>
            <a:cxnSpLocks/>
          </p:cNvCxnSpPr>
          <p:nvPr/>
        </p:nvCxnSpPr>
        <p:spPr>
          <a:xfrm flipV="1">
            <a:off x="489268" y="1920240"/>
            <a:ext cx="0" cy="9982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12394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2"/>
    </mc:Choice>
    <mc:Fallback xmlns="">
      <p:transition spd="slow" advTm="112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258E89-7EFD-8E41-D147-A37D27EAD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AFB8BD9-6B31-75EF-8C42-126D3122F83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45BD52-612B-A102-FF1E-BC1EF1612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7FA0AE2-AB1F-00D5-F1F1-AB7DB12A910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524F2CC4-3FE2-9017-588B-72413ECA9A8E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77476F-C407-5D65-AF76-7015FCEA9F6D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6934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88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6"/>
    </mc:Choice>
    <mc:Fallback xmlns="">
      <p:transition spd="slow" advTm="66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85734-3076-9DBD-7C4D-BE2805F164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F801A23-BFAA-3412-DEE9-61B24C8FBA7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7A6D060-6A37-FEBB-A7D7-50B8D70B4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BCBCC9-15E9-7A01-3A2A-BF1675DD982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8783FD5-51A3-9826-862E-E5BD972D1EAF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7DDA4D5-8E05-E172-CFAD-798505CF14A4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69342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8795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2"/>
    </mc:Choice>
    <mc:Fallback xmlns="">
      <p:transition spd="slow" advTm="102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32F625-1A26-EDB6-A7B5-B25E15EFFB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4CE4947-3940-6161-DB7D-1BFBD234889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DED49B3-7C89-8496-2790-6B3DCB22C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D12B0F8-4F35-AF35-099D-D109E951BC3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530BBC3-DB2D-46A0-DD1F-CC50EE77CD99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8CFB7B4-94A4-6D9E-CCB0-1190E3FA30FA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3733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431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3"/>
    </mc:Choice>
    <mc:Fallback xmlns="">
      <p:transition spd="slow" advTm="113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0389-865C-E2E3-2FC9-3A2686ACA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DA36FE4-D14A-2C37-5DB7-2D66A0A437F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C977BBA-27CE-C2C3-30D6-50700A66C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0F02748-A96B-370D-04AF-EECA837E3B9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8F2D957B-3C96-315E-681B-5C2E8DEB734D}"/>
              </a:ext>
            </a:extLst>
          </p:cNvPr>
          <p:cNvSpPr txBox="1"/>
          <p:nvPr/>
        </p:nvSpPr>
        <p:spPr>
          <a:xfrm>
            <a:off x="534988" y="1846291"/>
            <a:ext cx="9349241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1: 1.00€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10: 0.90€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&lt; 20                      </a:t>
            </a:r>
            <a: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Solution: 0.90€</a:t>
            </a:r>
            <a:br>
              <a:rPr lang="en-US" sz="1800" b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100: 0.80€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1.000: 0.70€ </a:t>
            </a:r>
            <a:r>
              <a:rPr lang="en-US" sz="1800" noProof="0" dirty="0">
                <a:solidFill>
                  <a:schemeClr val="bg1">
                    <a:lumMod val="5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&gt; 20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10.000: 0.60€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100.000: 0.50€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1.000.000: 0.40€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35AC06B-B600-47A7-7F5B-8E373A6E0991}"/>
              </a:ext>
            </a:extLst>
          </p:cNvPr>
          <p:cNvCxnSpPr>
            <a:cxnSpLocks/>
          </p:cNvCxnSpPr>
          <p:nvPr/>
        </p:nvCxnSpPr>
        <p:spPr>
          <a:xfrm flipV="1">
            <a:off x="489268" y="2225040"/>
            <a:ext cx="0" cy="373380"/>
          </a:xfrm>
          <a:prstGeom prst="line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067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3"/>
    </mc:Choice>
    <mc:Fallback xmlns="">
      <p:transition spd="slow" advTm="63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4ECDA-91A1-9FB5-2D19-D572C310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59903E1-E029-928F-E8CF-E91F04D3DB5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4D0E4BF-64F7-6527-864C-5C0A8178AC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76DC419-F008-958A-6C63-F93A22B20E4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1874520"/>
            <a:ext cx="9565485" cy="38404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class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int</a:t>
            </a:r>
            <a:r>
              <a:rPr sz="1900" b="0">
                <a:solidFill>
                  <a:srgbClr val="D4D4D4"/>
                </a:solidFill>
                <a:latin typeface="Consolas"/>
              </a:rPr>
              <a:t>[] </a:t>
            </a:r>
            <a:r>
              <a:rPr sz="1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900" b="0">
                <a:solidFill>
                  <a:srgbClr val="D4D4D4"/>
                </a:solidFill>
                <a:latin typeface="Consolas"/>
              </a:rPr>
              <a:t>[] </a:t>
            </a:r>
            <a:r>
              <a:rPr sz="1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4EC9B0"/>
                </a:solidFill>
                <a:latin typeface="Consolas"/>
              </a:rPr>
              <a:t>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var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OrderBy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900" b="0">
                <a:solidFill>
                  <a:srgbClr val="D4D4D4"/>
                </a:solidFill>
                <a:latin typeface="Consolas"/>
              </a:rPr>
              <a:t>).</a:t>
            </a:r>
            <a:r>
              <a:rPr sz="1900" b="0">
                <a:solidFill>
                  <a:srgbClr val="DCDCAA"/>
                </a:solidFill>
                <a:latin typeface="Consolas"/>
              </a:rPr>
              <a:t>ToList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900" b="0">
                <a:solidFill>
                  <a:srgbClr val="D4D4D4"/>
                </a:solidFill>
                <a:latin typeface="Consolas"/>
              </a:rPr>
              <a:t>).</a:t>
            </a:r>
            <a:r>
              <a:rPr sz="1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t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900" b="0">
                <a:solidFill>
                  <a:srgbClr val="D4D4D4"/>
                </a:solidFill>
                <a:latin typeface="Consolas"/>
              </a:rPr>
              <a:t>).</a:t>
            </a:r>
            <a:r>
              <a:rPr sz="1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02973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7"/>
    </mc:Choice>
    <mc:Fallback xmlns="">
      <p:transition spd="slow" advTm="107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507AC-05C9-0B4D-850E-192DE30C0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1ACA4C2-1B13-CB6D-2B88-23D8219C560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024BB7C-BA55-ABA6-6193-EE43E6A21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59CCB30-471E-546E-F5ED-A263B68150EB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7" name="Code"/>
          <p:cNvSpPr/>
          <p:nvPr/>
        </p:nvSpPr>
        <p:spPr>
          <a:xfrm>
            <a:off x="671234" y="1851660"/>
            <a:ext cx="9356011" cy="38862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100" b="0">
                <a:solidFill>
                  <a:srgbClr val="D4D4D4"/>
                </a:solidFill>
                <a:latin typeface="Consolas"/>
              </a:rPr>
              <a:t>(</a:t>
            </a:r>
            <a:r>
              <a:rPr sz="2100" b="0">
                <a:solidFill>
                  <a:srgbClr val="569CD6"/>
                </a:solidFill>
                <a:latin typeface="Consolas"/>
              </a:rPr>
              <a:t>int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</a:t>
            </a:r>
            <a:r>
              <a:rPr sz="2100" b="0">
                <a:solidFill>
                  <a:srgbClr val="569CD6"/>
                </a:solidFill>
                <a:latin typeface="Consolas"/>
              </a:rPr>
              <a:t>var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= </a:t>
            </a:r>
            <a:r>
              <a:rPr sz="2100" b="0">
                <a:solidFill>
                  <a:srgbClr val="4EC9B0"/>
                </a:solidFill>
                <a:latin typeface="Consolas"/>
              </a:rPr>
              <a:t>Array</a:t>
            </a:r>
            <a:r>
              <a:rPr sz="2100" b="0">
                <a:solidFill>
                  <a:srgbClr val="D4D4D4"/>
                </a:solidFill>
                <a:latin typeface="Consolas"/>
              </a:rPr>
              <a:t>.</a:t>
            </a:r>
            <a:r>
              <a:rPr sz="2100" b="0">
                <a:solidFill>
                  <a:srgbClr val="DCDCAA"/>
                </a:solidFill>
                <a:latin typeface="Consolas"/>
              </a:rPr>
              <a:t>BinarySearch</a:t>
            </a:r>
            <a:r>
              <a:rPr sz="2100" b="0">
                <a:solidFill>
                  <a:srgbClr val="D4D4D4"/>
                </a:solidFill>
                <a:latin typeface="Consolas"/>
              </a:rPr>
              <a:t>(</a:t>
            </a:r>
            <a:r>
              <a:rPr sz="21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2100" b="0">
                <a:solidFill>
                  <a:srgbClr val="D4D4D4"/>
                </a:solidFill>
                <a:latin typeface="Consolas"/>
              </a:rPr>
              <a:t>, </a:t>
            </a:r>
            <a:r>
              <a:rPr sz="21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1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</a:t>
            </a:r>
            <a:r>
              <a:rPr sz="2100" b="0">
                <a:solidFill>
                  <a:srgbClr val="C586C0"/>
                </a:solidFill>
                <a:latin typeface="Consolas"/>
              </a:rPr>
              <a:t>if</a:t>
            </a:r>
            <a:r>
              <a:rPr sz="2100" b="0">
                <a:solidFill>
                  <a:srgbClr val="D4D4D4"/>
                </a:solidFill>
                <a:latin typeface="Consolas"/>
              </a:rPr>
              <a:t> (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2100" b="0">
                <a:solidFill>
                  <a:srgbClr val="B5CEA8"/>
                </a:solidFill>
                <a:latin typeface="Consolas"/>
              </a:rPr>
              <a:t>0</a:t>
            </a:r>
            <a:r>
              <a:rPr sz="2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= ~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 - </a:t>
            </a:r>
            <a:r>
              <a:rPr sz="2100" b="0">
                <a:solidFill>
                  <a:srgbClr val="B5CEA8"/>
                </a:solidFill>
                <a:latin typeface="Consolas"/>
              </a:rPr>
              <a:t>1</a:t>
            </a:r>
            <a:r>
              <a:rPr sz="21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    </a:t>
            </a:r>
            <a:r>
              <a:rPr sz="2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100" b="0">
                <a:solidFill>
                  <a:srgbClr val="D4D4D4"/>
                </a:solidFill>
                <a:latin typeface="Consolas"/>
              </a:rPr>
              <a:t> </a:t>
            </a:r>
            <a:r>
              <a:rPr sz="21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2100" b="0">
                <a:solidFill>
                  <a:srgbClr val="D4D4D4"/>
                </a:solidFill>
                <a:latin typeface="Consolas"/>
              </a:rPr>
              <a:t>[</a:t>
            </a:r>
            <a:r>
              <a:rPr sz="2100" b="0">
                <a:solidFill>
                  <a:srgbClr val="9CDCFE"/>
                </a:solidFill>
                <a:latin typeface="Consolas"/>
              </a:rPr>
              <a:t>index</a:t>
            </a:r>
            <a:r>
              <a:rPr sz="21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991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6"/>
    </mc:Choice>
    <mc:Fallback xmlns="">
      <p:transition spd="slow" advTm="106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9F740-12D9-905F-9211-67B719B86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BFD6213-DC9F-C708-C582-6D70CDEAE57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5C86199-356E-67A8-AD12-A17B9B6E5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E8BF748-185C-DAEF-1392-2589E8489F9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7" name="Code"/>
          <p:cNvSpPr/>
          <p:nvPr/>
        </p:nvSpPr>
        <p:spPr>
          <a:xfrm>
            <a:off x="702655" y="1965960"/>
            <a:ext cx="9293169" cy="36575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class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[] </a:t>
            </a:r>
            <a:r>
              <a:rPr sz="24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400" b="0">
                <a:solidFill>
                  <a:srgbClr val="D4D4D4"/>
                </a:solidFill>
                <a:latin typeface="Consolas"/>
              </a:rPr>
              <a:t>[] </a:t>
            </a:r>
            <a:r>
              <a:rPr sz="24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4EC9B0"/>
                </a:solidFill>
                <a:latin typeface="Consolas"/>
              </a:rPr>
              <a:t>List</a:t>
            </a:r>
            <a:r>
              <a:rPr sz="2400" b="0">
                <a:solidFill>
                  <a:srgbClr val="D4D4D4"/>
                </a:solidFill>
                <a:latin typeface="Consolas"/>
              </a:rPr>
              <a:t>&lt;</a:t>
            </a:r>
            <a:r>
              <a:rPr sz="24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2400" b="0">
                <a:solidFill>
                  <a:srgbClr val="D4D4D4"/>
                </a:solidFill>
                <a:latin typeface="Consolas"/>
              </a:rPr>
              <a:t>&gt; </a:t>
            </a:r>
            <a:r>
              <a:rPr sz="2400" b="0">
                <a:solidFill>
                  <a:srgbClr val="9CDCFE"/>
                </a:solidFill>
                <a:latin typeface="Consolas"/>
              </a:rPr>
              <a:t>tiers</a:t>
            </a:r>
            <a:r>
              <a:rPr sz="24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4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140405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3"/>
    </mc:Choice>
    <mc:Fallback xmlns="">
      <p:transition spd="slow" advTm="93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D602C-F9DF-37B1-2176-A9783FF72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DC7E632-8CC8-A280-246E-90CE240B5E7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933E0C6-D023-113B-1398-95AC542F9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FBC9D7-DDB6-8C08-3D55-5045EE094D7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8F979706-EC2F-2F06-A0F7-838859DF63C3}"/>
              </a:ext>
            </a:extLst>
          </p:cNvPr>
          <p:cNvSpPr txBox="1"/>
          <p:nvPr/>
        </p:nvSpPr>
        <p:spPr>
          <a:xfrm>
            <a:off x="7831138" y="3589896"/>
            <a:ext cx="2970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O(log(n)) Solution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377440"/>
            <a:ext cx="7072746" cy="28346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class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int</a:t>
            </a:r>
            <a:r>
              <a:rPr sz="1800" b="0">
                <a:solidFill>
                  <a:srgbClr val="D4D4D4"/>
                </a:solidFill>
                <a:latin typeface="Consolas"/>
              </a:rPr>
              <a:t>[] </a:t>
            </a:r>
            <a:r>
              <a:rPr sz="18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8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800" b="0">
                <a:solidFill>
                  <a:srgbClr val="D4D4D4"/>
                </a:solidFill>
                <a:latin typeface="Consolas"/>
              </a:rPr>
              <a:t>[] </a:t>
            </a:r>
            <a:r>
              <a:rPr sz="18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8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180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b="0">
                <a:solidFill>
                  <a:srgbClr val="4EC9B0"/>
                </a:solidFill>
                <a:latin typeface="Consolas"/>
              </a:rPr>
              <a:t>List</a:t>
            </a:r>
            <a:r>
              <a:rPr sz="1800" b="0">
                <a:solidFill>
                  <a:srgbClr val="D4D4D4"/>
                </a:solidFill>
                <a:latin typeface="Consolas"/>
              </a:rPr>
              <a:t>&lt;</a:t>
            </a:r>
            <a:r>
              <a:rPr sz="18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8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8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8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    </a:t>
            </a:r>
            <a:r>
              <a:rPr sz="18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80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b="0">
                <a:solidFill>
                  <a:srgbClr val="569CD6"/>
                </a:solidFill>
                <a:latin typeface="Consolas"/>
              </a:rPr>
              <a:t>int</a:t>
            </a:r>
            <a:r>
              <a:rPr sz="180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800" b="0">
                <a:solidFill>
                  <a:srgbClr val="D4D4D4"/>
                </a:solidFill>
                <a:latin typeface="Consolas"/>
              </a:rPr>
              <a:t>) { ...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11055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1"/>
    </mc:Choice>
    <mc:Fallback xmlns="">
      <p:transition spd="slow" advTm="8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7FADC-8EF9-3B79-C325-FAB0A3959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98FAA98-E385-61D7-AA01-6ACEABFF4BE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D80F42F-711A-32DB-D8A1-DB742E217E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4500387-7B87-1CFC-F390-3A5635DDE49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Comparison</a:t>
            </a:r>
          </a:p>
        </p:txBody>
      </p:sp>
      <p:sp>
        <p:nvSpPr>
          <p:cNvPr id="7" name="Code"/>
          <p:cNvSpPr/>
          <p:nvPr/>
        </p:nvSpPr>
        <p:spPr>
          <a:xfrm>
            <a:off x="621597" y="3131820"/>
            <a:ext cx="4433376" cy="13258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569CD6"/>
                </a:solidFill>
                <a:latin typeface="Consolas"/>
              </a:rPr>
              <a:t>int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, </a:t>
            </a:r>
            <a:r>
              <a:rPr sz="900" b="0">
                <a:solidFill>
                  <a:srgbClr val="4EC9B0"/>
                </a:solidFill>
                <a:latin typeface="Consolas"/>
              </a:rPr>
              <a:t>List</a:t>
            </a:r>
            <a:r>
              <a:rPr sz="900" b="0">
                <a:solidFill>
                  <a:srgbClr val="D4D4D4"/>
                </a:solidFill>
                <a:latin typeface="Consolas"/>
              </a:rPr>
              <a:t>&lt;</a:t>
            </a:r>
            <a:r>
              <a:rPr sz="9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900" b="0">
                <a:solidFill>
                  <a:srgbClr val="DCDCAA"/>
                </a:solidFill>
                <a:latin typeface="Consolas"/>
              </a:rPr>
              <a:t>Where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900" b="0">
                <a:solidFill>
                  <a:srgbClr val="DCDCAA"/>
                </a:solidFill>
                <a:latin typeface="Consolas"/>
              </a:rPr>
              <a:t>MaxBy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9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5329294" y="1965960"/>
            <a:ext cx="4747587" cy="36575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class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int</a:t>
            </a:r>
            <a:r>
              <a:rPr sz="900" b="0">
                <a:solidFill>
                  <a:srgbClr val="D4D4D4"/>
                </a:solidFill>
                <a:latin typeface="Consolas"/>
              </a:rPr>
              <a:t>[] </a:t>
            </a:r>
            <a:r>
              <a:rPr sz="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900" b="0">
                <a:solidFill>
                  <a:srgbClr val="D4D4D4"/>
                </a:solidFill>
                <a:latin typeface="Consolas"/>
              </a:rPr>
              <a:t>[] </a:t>
            </a:r>
            <a:r>
              <a:rPr sz="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4EC9B0"/>
                </a:solidFill>
                <a:latin typeface="Consolas"/>
              </a:rPr>
              <a:t>List</a:t>
            </a:r>
            <a:r>
              <a:rPr sz="900" b="0">
                <a:solidFill>
                  <a:srgbClr val="D4D4D4"/>
                </a:solidFill>
                <a:latin typeface="Consolas"/>
              </a:rPr>
              <a:t>&lt;</a:t>
            </a:r>
            <a:r>
              <a:rPr sz="9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569CD6"/>
                </a:solidFill>
                <a:latin typeface="Consolas"/>
              </a:rPr>
              <a:t>var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9CDCFE"/>
                </a:solidFill>
                <a:latin typeface="Consolas"/>
              </a:rPr>
              <a:t>tiers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OrderBy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).</a:t>
            </a:r>
            <a:r>
              <a:rPr sz="900" b="0">
                <a:solidFill>
                  <a:srgbClr val="DCDCAA"/>
                </a:solidFill>
                <a:latin typeface="Consolas"/>
              </a:rPr>
              <a:t>ToList</a:t>
            </a:r>
            <a:r>
              <a:rPr sz="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).</a:t>
            </a:r>
            <a:r>
              <a:rPr sz="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900" b="0">
                <a:solidFill>
                  <a:srgbClr val="9CDCFE"/>
                </a:solidFill>
                <a:latin typeface="Consolas"/>
              </a:rPr>
              <a:t>t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).</a:t>
            </a:r>
            <a:r>
              <a:rPr sz="9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9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</a:t>
            </a:r>
            <a:r>
              <a:rPr sz="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569CD6"/>
                </a:solidFill>
                <a:latin typeface="Consolas"/>
              </a:rPr>
              <a:t>int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569CD6"/>
                </a:solidFill>
                <a:latin typeface="Consolas"/>
              </a:rPr>
              <a:t>var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= </a:t>
            </a:r>
            <a:r>
              <a:rPr sz="900" b="0">
                <a:solidFill>
                  <a:srgbClr val="4EC9B0"/>
                </a:solidFill>
                <a:latin typeface="Consolas"/>
              </a:rPr>
              <a:t>Array</a:t>
            </a:r>
            <a:r>
              <a:rPr sz="900" b="0">
                <a:solidFill>
                  <a:srgbClr val="D4D4D4"/>
                </a:solidFill>
                <a:latin typeface="Consolas"/>
              </a:rPr>
              <a:t>.</a:t>
            </a:r>
            <a:r>
              <a:rPr sz="900" b="0">
                <a:solidFill>
                  <a:srgbClr val="DCDCAA"/>
                </a:solidFill>
                <a:latin typeface="Consolas"/>
              </a:rPr>
              <a:t>BinarySearch</a:t>
            </a:r>
            <a:r>
              <a:rPr sz="900" b="0">
                <a:solidFill>
                  <a:srgbClr val="D4D4D4"/>
                </a:solidFill>
                <a:latin typeface="Consolas"/>
              </a:rPr>
              <a:t>(</a:t>
            </a:r>
            <a:r>
              <a:rPr sz="9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900" b="0">
                <a:solidFill>
                  <a:srgbClr val="D4D4D4"/>
                </a:solidFill>
                <a:latin typeface="Consolas"/>
              </a:rPr>
              <a:t>, </a:t>
            </a:r>
            <a:r>
              <a:rPr sz="9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9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C586C0"/>
                </a:solidFill>
                <a:latin typeface="Consolas"/>
              </a:rPr>
              <a:t>if</a:t>
            </a:r>
            <a:r>
              <a:rPr sz="900" b="0">
                <a:solidFill>
                  <a:srgbClr val="D4D4D4"/>
                </a:solidFill>
                <a:latin typeface="Consolas"/>
              </a:rPr>
              <a:t> (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900" b="0">
                <a:solidFill>
                  <a:srgbClr val="B5CEA8"/>
                </a:solidFill>
                <a:latin typeface="Consolas"/>
              </a:rPr>
              <a:t>0</a:t>
            </a:r>
            <a:r>
              <a:rPr sz="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= ~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 - </a:t>
            </a:r>
            <a:r>
              <a:rPr sz="900" b="0">
                <a:solidFill>
                  <a:srgbClr val="B5CEA8"/>
                </a:solidFill>
                <a:latin typeface="Consolas"/>
              </a:rPr>
              <a:t>1</a:t>
            </a:r>
            <a:r>
              <a:rPr sz="9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900" b="0">
                <a:solidFill>
                  <a:srgbClr val="D4D4D4"/>
                </a:solidFill>
                <a:latin typeface="Consolas"/>
              </a:rPr>
              <a:t> </a:t>
            </a:r>
            <a:r>
              <a:rPr sz="9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900" b="0">
                <a:solidFill>
                  <a:srgbClr val="D4D4D4"/>
                </a:solidFill>
                <a:latin typeface="Consolas"/>
              </a:rPr>
              <a:t>[</a:t>
            </a:r>
            <a:r>
              <a:rPr sz="900" b="0">
                <a:solidFill>
                  <a:srgbClr val="9CDCFE"/>
                </a:solidFill>
                <a:latin typeface="Consolas"/>
              </a:rPr>
              <a:t>index</a:t>
            </a:r>
            <a:r>
              <a:rPr sz="9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7395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6"/>
    </mc:Choice>
    <mc:Fallback xmlns="">
      <p:transition spd="slow" advTm="116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AC307-298C-531E-A163-9D80F2A7C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3EE8131-3755-2FDD-3BCA-0BB60DA6E94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7F75BF4-4407-BD66-9C9B-BCA847C99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0620074-2334-5B00-7637-992765C4377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Next Meeting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D9C2E28-120F-56DC-0B9F-BCA4ED556641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</a:t>
            </a:r>
          </a:p>
        </p:txBody>
      </p:sp>
    </p:spTree>
    <p:extLst>
      <p:ext uri="{BB962C8B-B14F-4D97-AF65-F5344CB8AC3E}">
        <p14:creationId xmlns:p14="http://schemas.microsoft.com/office/powerpoint/2010/main" val="3538043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"/>
    </mc:Choice>
    <mc:Fallback xmlns="">
      <p:transition spd="slow" advTm="74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100A1-073F-4D35-ECDF-39048D1FE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55D5FF9-DFAD-5278-2ABA-6731C89DFB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82876CF-8B74-07A7-9511-33A32DBA8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2D04ADA-C5EB-5131-53E9-A8830ADA470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Next Meeting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CC667C6A-056C-3B44-0949-0070AFEB6AE5}"/>
              </a:ext>
            </a:extLst>
          </p:cNvPr>
          <p:cNvSpPr txBox="1"/>
          <p:nvPr/>
        </p:nvSpPr>
        <p:spPr>
          <a:xfrm>
            <a:off x="534988" y="1849724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is basically not existing at that level</a:t>
            </a:r>
          </a:p>
        </p:txBody>
      </p:sp>
    </p:spTree>
    <p:extLst>
      <p:ext uri="{BB962C8B-B14F-4D97-AF65-F5344CB8AC3E}">
        <p14:creationId xmlns:p14="http://schemas.microsoft.com/office/powerpoint/2010/main" val="668778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7"/>
    </mc:Choice>
    <mc:Fallback xmlns="">
      <p:transition spd="slow" advTm="127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4CCD7-AEB5-70C4-54D6-4123063C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3037428-E064-A710-B02B-20211D0E1AB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63AD21D-D114-345F-4F7E-EE113AF22F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271EBAC-B615-234B-F4A4-01C478A936D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Next Meeting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5A462709-8971-6DB0-B202-07EE842A0833}"/>
              </a:ext>
            </a:extLst>
          </p:cNvPr>
          <p:cNvSpPr txBox="1"/>
          <p:nvPr/>
        </p:nvSpPr>
        <p:spPr>
          <a:xfrm>
            <a:off x="534988" y="1849724"/>
            <a:ext cx="9349241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Product Owner: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This feature is going to have at most 3 tiers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Optimization is basically not existing at that level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also introduced a possible failure for other developers (or LLMs) because they might directly use 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new 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PriceTable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(tiers).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GetUnitPrice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fr-FR" sz="1800" i="1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quantity</a:t>
            </a:r>
            <a:r>
              <a:rPr lang="fr-FR" sz="1800" i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)</a:t>
            </a:r>
            <a:r>
              <a:rPr lang="fr-FR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fr-FR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removing</a:t>
            </a:r>
            <a:r>
              <a:rPr lang="fr-FR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all the </a:t>
            </a:r>
            <a:r>
              <a:rPr lang="fr-FR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advantages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30042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6"/>
    </mc:Choice>
    <mc:Fallback xmlns="">
      <p:transition spd="slow" advTm="76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10C5B-8DE7-D19C-D63D-57B0706E0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9D93523-3E3E-796C-8C9A-0A4154276DC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0375B7F-92EB-73E3-3A33-716672ABB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Premature optimization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78502A2-1C31-8617-8C19-E1E2FB40EF4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Premature optimization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6057E59-A2FF-A3D9-C754-912F6083F3A3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“Premature Optimization is the root of all evil“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~ Donald Knuth</a:t>
            </a:r>
          </a:p>
        </p:txBody>
      </p:sp>
    </p:spTree>
    <p:extLst>
      <p:ext uri="{BB962C8B-B14F-4D97-AF65-F5344CB8AC3E}">
        <p14:creationId xmlns:p14="http://schemas.microsoft.com/office/powerpoint/2010/main" val="3368402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"/>
    </mc:Choice>
    <mc:Fallback xmlns="">
      <p:transition spd="slow" advTm="67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8334B-1A18-C819-9867-11C11A74E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8D8B2F9-7DE5-2346-BFD9-8BD7F5C204F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D5365D6-BEF8-1723-CA9E-48742F525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Premature optimization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666EC19-4FD3-28FD-EA6B-A63FE4897B0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Premature optimization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02694547-330F-4853-93F8-B7ADCF3541D1}"/>
              </a:ext>
            </a:extLst>
          </p:cNvPr>
          <p:cNvSpPr txBox="1"/>
          <p:nvPr/>
        </p:nvSpPr>
        <p:spPr>
          <a:xfrm>
            <a:off x="534988" y="1849724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Optimizing before we know that we actually need to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(and potentially spending a lot of time on it)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Code itself may be harder to understand</a:t>
            </a:r>
          </a:p>
        </p:txBody>
      </p:sp>
    </p:spTree>
    <p:extLst>
      <p:ext uri="{BB962C8B-B14F-4D97-AF65-F5344CB8AC3E}">
        <p14:creationId xmlns:p14="http://schemas.microsoft.com/office/powerpoint/2010/main" val="15624169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"/>
    </mc:Choice>
    <mc:Fallback xmlns="">
      <p:transition spd="slow" advTm="78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7A893-C548-0709-9988-2FC56D6E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458E9D-253E-A552-E970-5599F51B4A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C5633E1-B6A3-2FAA-941D-9D726D336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When to optimize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F77BFE3-77D4-4348-A005-251E11A37ED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When to optimize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C6995307-6D29-C319-6C23-8967FA2F0597}"/>
              </a:ext>
            </a:extLst>
          </p:cNvPr>
          <p:cNvSpPr txBox="1"/>
          <p:nvPr/>
        </p:nvSpPr>
        <p:spPr>
          <a:xfrm>
            <a:off x="534988" y="1849724"/>
            <a:ext cx="9618662" cy="21409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“Make it work, make it right, make it fast”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~ Kent Beck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 the code to run and solve the problem</a:t>
            </a: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Refactor the code to make it clean, readable and maintainable</a:t>
            </a:r>
          </a:p>
          <a:p>
            <a:pPr marL="342900" indent="-342900">
              <a:lnSpc>
                <a:spcPts val="2700"/>
              </a:lnSpc>
              <a:buAutoNum type="arabicPeriod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Only then, if you have proof that the code needs optimization, you should start to optimize</a:t>
            </a:r>
          </a:p>
        </p:txBody>
      </p:sp>
    </p:spTree>
    <p:extLst>
      <p:ext uri="{BB962C8B-B14F-4D97-AF65-F5344CB8AC3E}">
        <p14:creationId xmlns:p14="http://schemas.microsoft.com/office/powerpoint/2010/main" val="2946511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"/>
    </mc:Choice>
    <mc:Fallback xmlns="">
      <p:transition spd="slow" advTm="67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461C80-C281-CE8C-CB0C-88AA19694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EC78849-2B43-95C8-9DF4-4E3092C0EE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5B7A6C-AF1C-60F0-595A-EDB9418EC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EEC5287-26BD-8A47-B290-2F71C9ACC0C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06189967-39C7-FE2F-DB39-0363E5457FFA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want to count all the persons that are older than 50</a:t>
            </a:r>
          </a:p>
        </p:txBody>
      </p:sp>
    </p:spTree>
    <p:extLst>
      <p:ext uri="{BB962C8B-B14F-4D97-AF65-F5344CB8AC3E}">
        <p14:creationId xmlns:p14="http://schemas.microsoft.com/office/powerpoint/2010/main" val="843719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"/>
    </mc:Choice>
    <mc:Fallback xmlns="">
      <p:transition spd="slow" advTm="78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A8AB60-0FD1-EE0C-81D6-AA0116B5F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0E4D884-D28C-212C-EB18-39BB68DFF8B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CCAC8C9-D0D0-BFE1-AC83-BA324597B3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CE9DB4-4FDB-8316-0D54-3F4E2CC71E9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Code"/>
          <p:cNvSpPr/>
          <p:nvPr/>
        </p:nvSpPr>
        <p:spPr>
          <a:xfrm>
            <a:off x="587444" y="2125980"/>
            <a:ext cx="9523590" cy="242315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record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Name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Gender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CountPersonsOver50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2250" b="0">
                <a:solidFill>
                  <a:srgbClr val="D4D4D4"/>
                </a:solidFill>
                <a:latin typeface="Consolas"/>
              </a:rPr>
              <a:t>&lt;</a:t>
            </a:r>
            <a:r>
              <a:rPr sz="2250" b="0">
                <a:solidFill>
                  <a:srgbClr val="4EC9B0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   </a:t>
            </a:r>
            <a:r>
              <a:rPr sz="22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250" b="0">
                <a:solidFill>
                  <a:srgbClr val="B5CEA8"/>
                </a:solidFill>
                <a:latin typeface="Consolas"/>
              </a:rPr>
              <a:t>50</a:t>
            </a:r>
            <a:r>
              <a:rPr sz="2250" b="0">
                <a:solidFill>
                  <a:srgbClr val="D4D4D4"/>
                </a:solidFill>
                <a:latin typeface="Consolas"/>
              </a:rPr>
              <a:t>).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</a:t>
            </a:r>
            <a:r>
              <a:rPr sz="22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67201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"/>
    </mc:Choice>
    <mc:Fallback xmlns="">
      <p:transition spd="slow" advTm="7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B611C-CAD6-5B07-638E-5831BE6E9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40FE5EF-008E-5984-F4D2-86DEB98DC36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AFF57D-821E-28D0-7A1B-9FBB2E257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828B80-388C-5BB7-F306-BC1F367F17F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B14C2FAB-BA6A-1B86-E966-16A6C1390C64}"/>
              </a:ext>
            </a:extLst>
          </p:cNvPr>
          <p:cNvSpPr txBox="1"/>
          <p:nvPr/>
        </p:nvSpPr>
        <p:spPr>
          <a:xfrm>
            <a:off x="534987" y="5026008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we optimize this?</a:t>
            </a:r>
          </a:p>
        </p:txBody>
      </p:sp>
      <p:sp>
        <p:nvSpPr>
          <p:cNvPr id="8" name="Code"/>
          <p:cNvSpPr/>
          <p:nvPr/>
        </p:nvSpPr>
        <p:spPr>
          <a:xfrm>
            <a:off x="587444" y="2125980"/>
            <a:ext cx="9523590" cy="242315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record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Name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string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Gender</a:t>
            </a:r>
            <a:r>
              <a:rPr sz="2250" b="0">
                <a:solidFill>
                  <a:srgbClr val="D4D4D4"/>
                </a:solidFill>
                <a:latin typeface="Consolas"/>
              </a:rPr>
              <a:t>,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4EC9B0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569CD6"/>
                </a:solidFill>
                <a:latin typeface="Consolas"/>
              </a:rPr>
              <a:t>int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CountPersonsOver50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2250" b="0">
                <a:solidFill>
                  <a:srgbClr val="D4D4D4"/>
                </a:solidFill>
                <a:latin typeface="Consolas"/>
              </a:rPr>
              <a:t>&lt;</a:t>
            </a:r>
            <a:r>
              <a:rPr sz="2250" b="0">
                <a:solidFill>
                  <a:srgbClr val="4EC9B0"/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   </a:t>
            </a:r>
            <a:r>
              <a:rPr sz="22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250" b="0">
                <a:solidFill>
                  <a:srgbClr val="B5CEA8"/>
                </a:solidFill>
                <a:latin typeface="Consolas"/>
              </a:rPr>
              <a:t>50</a:t>
            </a:r>
            <a:r>
              <a:rPr sz="2250" b="0">
                <a:solidFill>
                  <a:srgbClr val="D4D4D4"/>
                </a:solidFill>
                <a:latin typeface="Consolas"/>
              </a:rPr>
              <a:t>).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</a:t>
            </a:r>
            <a:r>
              <a:rPr sz="22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64119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"/>
    </mc:Choice>
    <mc:Fallback xmlns="">
      <p:transition spd="slow" advTm="86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02DB2-B0AC-86B2-EC2A-91F8710AA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51B46916-9B32-127F-F1A1-59668DF0E44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0633A9E-021A-9FC7-D39A-3093CD9AF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864BB77-CEAE-5C58-554A-635ED4E935C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8241D0-87B0-EBF4-63B8-848BB7E8F8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7447" y="1995847"/>
            <a:ext cx="6073744" cy="94785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0FB4833-5D3E-B9D2-3B8F-74777E73C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807" y="3241044"/>
            <a:ext cx="6709023" cy="249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8754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54"/>
    </mc:Choice>
    <mc:Fallback xmlns="">
      <p:transition spd="slow" advTm="154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9223C-3922-7DEF-72CE-BD9EF9FC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44F004E-2966-7B4E-5A36-74B649D4E27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E24AD28-84ED-426C-DA7F-7B1F8994D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1769D2-FD15-2A3D-9B31-2E0E0CE46E9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Code"/>
          <p:cNvSpPr/>
          <p:nvPr/>
        </p:nvSpPr>
        <p:spPr>
          <a:xfrm>
            <a:off x="587444" y="2926080"/>
            <a:ext cx="9523590" cy="1737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22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22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2250" b="0">
                <a:solidFill>
                  <a:srgbClr val="4EC9B0">
                    <a:alpha val="45000"/>
                  </a:srgbClr>
                </a:solidFill>
                <a:latin typeface="Consolas"/>
              </a:rPr>
              <a:t>IEnumerable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22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2250" b="0">
                <a:solidFill>
                  <a:srgbClr val="9CDCFE">
                    <a:alpha val="45000"/>
                  </a:srgbClr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/>
                </a:solidFill>
                <a:latin typeface="Consolas"/>
              </a:rPr>
              <a:t>    </a:t>
            </a:r>
            <a:r>
              <a:rPr sz="22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250" b="0">
                <a:solidFill>
                  <a:srgbClr val="D4D4D4"/>
                </a:solidFill>
                <a:latin typeface="Consolas"/>
              </a:rPr>
              <a:t> </a:t>
            </a:r>
            <a:r>
              <a:rPr sz="22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Count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x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Age</a:t>
            </a:r>
            <a:r>
              <a:rPr sz="22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2250" b="0">
                <a:solidFill>
                  <a:srgbClr val="B5CEA8"/>
                </a:solidFill>
                <a:latin typeface="Consolas"/>
              </a:rPr>
              <a:t>50</a:t>
            </a:r>
            <a:r>
              <a:rPr sz="22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33864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"/>
    </mc:Choice>
    <mc:Fallback xmlns="">
      <p:transition spd="slow" advTm="74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54769-B1D2-14C0-B370-DB21FD8CB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6320247-F83D-5852-7F3C-6A4660480BE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1A0923F-D6D4-A22D-06F2-6E1774438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BBEB44F-9DB9-D1AF-0202-363DBC31CEC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Code"/>
          <p:cNvSpPr/>
          <p:nvPr/>
        </p:nvSpPr>
        <p:spPr>
          <a:xfrm>
            <a:off x="1802392" y="1851660"/>
            <a:ext cx="7093694" cy="38862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IEnumerable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persons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569CD6"/>
                </a:solidFill>
                <a:latin typeface="Consolas"/>
              </a:rPr>
              <a:t>var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 = </a:t>
            </a:r>
            <a:r>
              <a:rPr sz="1650" b="0">
                <a:solidFill>
                  <a:srgbClr val="B5CEA8"/>
                </a:solidFill>
                <a:latin typeface="Consolas"/>
              </a:rPr>
              <a:t>0</a:t>
            </a:r>
            <a:r>
              <a:rPr sz="16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50" b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>
                <a:solidFill>
                  <a:srgbClr val="569CD6"/>
                </a:solidFill>
                <a:latin typeface="Consolas"/>
              </a:rPr>
              <a:t>var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person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C586C0"/>
                </a:solidFill>
                <a:latin typeface="Consolas"/>
              </a:rPr>
              <a:t>in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if</a:t>
            </a:r>
            <a:r>
              <a:rPr sz="1650" b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>
                <a:solidFill>
                  <a:srgbClr val="9CDCFE"/>
                </a:solidFill>
                <a:latin typeface="Consolas"/>
              </a:rPr>
              <a:t>person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Age</a:t>
            </a:r>
            <a:r>
              <a:rPr sz="165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650" b="0">
                <a:solidFill>
                  <a:srgbClr val="B5CEA8"/>
                </a:solidFill>
                <a:latin typeface="Consolas"/>
              </a:rPr>
              <a:t>50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650" b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13728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"/>
    </mc:Choice>
    <mc:Fallback xmlns="">
      <p:transition spd="slow" advTm="97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0FEFB-A2B5-7549-A40C-809F01DA0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E0E88F-5E5E-7459-3030-0075C94798D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8004DEE-53CC-1059-0AFF-BE26B172FB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CB43901-169D-9E43-A4D5-09D6B70ACB5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7D3181B-D14C-D004-8D37-5ED5763EFA74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</a:t>
            </a:r>
          </a:p>
        </p:txBody>
      </p:sp>
    </p:spTree>
    <p:extLst>
      <p:ext uri="{BB962C8B-B14F-4D97-AF65-F5344CB8AC3E}">
        <p14:creationId xmlns:p14="http://schemas.microsoft.com/office/powerpoint/2010/main" val="3626678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8"/>
    </mc:Choice>
    <mc:Fallback xmlns="">
      <p:transition spd="slow" advTm="68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F88CD-57EF-670A-0B4D-DFA6913E3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05B9BD-AA80-D0FE-4959-37EF026494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9525550-7D15-0F49-DB54-0FFB1A5CD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0ACBCB0-5145-97A9-90CD-36497FC9EC1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FF3C5687-7150-E7C3-5424-4EF239CB142F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 (probably)</a:t>
            </a:r>
          </a:p>
        </p:txBody>
      </p:sp>
    </p:spTree>
    <p:extLst>
      <p:ext uri="{BB962C8B-B14F-4D97-AF65-F5344CB8AC3E}">
        <p14:creationId xmlns:p14="http://schemas.microsoft.com/office/powerpoint/2010/main" val="36596685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"/>
    </mc:Choice>
    <mc:Fallback xmlns="">
      <p:transition spd="slow" advTm="78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51B0-DBDD-7E92-AE71-B400FE72F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56AEBC-9530-274B-449D-288FF8372E8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24E334C-5D64-7C6D-3AD8-1212B420B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6919B7C-55B2-DE04-A6A7-198DBA5857E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persons over 50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F145507F-B7D5-D30E-84B1-7978AC983764}"/>
              </a:ext>
            </a:extLst>
          </p:cNvPr>
          <p:cNvSpPr txBox="1"/>
          <p:nvPr/>
        </p:nvSpPr>
        <p:spPr>
          <a:xfrm>
            <a:off x="534988" y="1849724"/>
            <a:ext cx="9618662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now the code is faster (probably)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haven’t measured it, so we don’t know if it is faster</a:t>
            </a:r>
          </a:p>
        </p:txBody>
      </p:sp>
    </p:spTree>
    <p:extLst>
      <p:ext uri="{BB962C8B-B14F-4D97-AF65-F5344CB8AC3E}">
        <p14:creationId xmlns:p14="http://schemas.microsoft.com/office/powerpoint/2010/main" val="823603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4"/>
    </mc:Choice>
    <mc:Fallback xmlns="">
      <p:transition spd="slow" advTm="114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256B8-AAF3-BD51-FA8F-FDE92C3BB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4B76A8B-CA6B-4FEF-C681-E1A3BB11743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889EDEE-DFA0-D1E3-0059-2DA43EE26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Tool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BenchmarkDotNet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A08A0D-A5B6-3AA5-C82B-9A1F9AF00F1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2D1A81BE-169B-F068-AE9C-D0ED526D31AA}"/>
              </a:ext>
            </a:extLst>
          </p:cNvPr>
          <p:cNvSpPr txBox="1"/>
          <p:nvPr/>
        </p:nvSpPr>
        <p:spPr>
          <a:xfrm>
            <a:off x="534988" y="1849724"/>
            <a:ext cx="961866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Lets us write Benchmarks to measure the performance of our code</a:t>
            </a:r>
          </a:p>
        </p:txBody>
      </p:sp>
    </p:spTree>
    <p:extLst>
      <p:ext uri="{BB962C8B-B14F-4D97-AF65-F5344CB8AC3E}">
        <p14:creationId xmlns:p14="http://schemas.microsoft.com/office/powerpoint/2010/main" val="393208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5"/>
    </mc:Choice>
    <mc:Fallback xmlns="">
      <p:transition spd="slow" advTm="135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457634-67C7-A0A9-B682-F2C8A9DAE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CD09686-5315-6888-10DC-3CA22EFEB15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ABBF1D2-EE1C-0A63-E4BB-3C9459AAE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Tool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BenchmarkDotNet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F7DB12-A895-AEB1-3A27-32ED55CEC72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EAC6A16A-742C-66AB-1ED1-438E7D2DCC18}"/>
              </a:ext>
            </a:extLst>
          </p:cNvPr>
          <p:cNvSpPr txBox="1"/>
          <p:nvPr/>
        </p:nvSpPr>
        <p:spPr>
          <a:xfrm>
            <a:off x="534988" y="1849724"/>
            <a:ext cx="9618662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Does some Heavy Lifting for us: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Isolated Execution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Overhead Evaluations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Figures out “unroll factor” (optimal number of invocations per iteration)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Warms up JIT compiler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Cleans up outliners and collects statistical information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Can be used to measure both time and memory</a:t>
            </a:r>
          </a:p>
        </p:txBody>
      </p:sp>
    </p:spTree>
    <p:extLst>
      <p:ext uri="{BB962C8B-B14F-4D97-AF65-F5344CB8AC3E}">
        <p14:creationId xmlns:p14="http://schemas.microsoft.com/office/powerpoint/2010/main" val="348412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4"/>
    </mc:Choice>
    <mc:Fallback xmlns="">
      <p:transition spd="slow" advTm="64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47D7C-026F-7A11-0AF2-9CCEDA3FD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C63FFD4-7629-BCE5-23EA-DDDC30D1DB7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D3C14E9-535B-047E-8D7B-B84EAD921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Tool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BenchmarkDotNet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1BD696E-A2DA-7A1B-F9B6-DB336CABED2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BenchmarkDotNet</a:t>
            </a:r>
          </a:p>
        </p:txBody>
      </p:sp>
      <p:sp>
        <p:nvSpPr>
          <p:cNvPr id="7" name="Code"/>
          <p:cNvSpPr/>
          <p:nvPr/>
        </p:nvSpPr>
        <p:spPr>
          <a:xfrm>
            <a:off x="1797156" y="1863090"/>
            <a:ext cx="7104167" cy="38633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[</a:t>
            </a:r>
            <a:r>
              <a:rPr sz="1350" b="0">
                <a:solidFill>
                  <a:srgbClr val="4EC9B0"/>
                </a:solidFill>
                <a:latin typeface="Consolas"/>
              </a:rPr>
              <a:t>MemoryDiagnoser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[</a:t>
            </a:r>
            <a:r>
              <a:rPr sz="1350" b="0">
                <a:solidFill>
                  <a:srgbClr val="DCDCAA"/>
                </a:solidFill>
                <a:latin typeface="Consolas"/>
              </a:rPr>
              <a:t>SimpleJob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4EC9B0"/>
                </a:solidFill>
                <a:latin typeface="Consolas"/>
              </a:rPr>
              <a:t>RuntimeMoniker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Net60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class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CountPersonsOver50Benchmark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1350" b="0">
                <a:solidFill>
                  <a:srgbClr val="D4D4D4"/>
                </a:solidFill>
                <a:latin typeface="Consolas"/>
              </a:rPr>
              <a:t>&lt;</a:t>
            </a:r>
            <a:r>
              <a:rPr sz="135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35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 = </a:t>
            </a:r>
            <a:r>
              <a:rPr sz="1350" b="0">
                <a:solidFill>
                  <a:srgbClr val="569CD6"/>
                </a:solidFill>
                <a:latin typeface="Consolas"/>
              </a:rPr>
              <a:t>null</a:t>
            </a:r>
            <a:r>
              <a:rPr sz="1350" b="0">
                <a:solidFill>
                  <a:srgbClr val="D4D4D4"/>
                </a:solidFill>
                <a:latin typeface="Consolas"/>
              </a:rPr>
              <a:t>!;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/>
                </a:solidFill>
                <a:latin typeface="Consolas"/>
              </a:rPr>
              <a:t>GlobalSetup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void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Setup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 = </a:t>
            </a:r>
            <a:r>
              <a:rPr sz="1350" b="0">
                <a:solidFill>
                  <a:srgbClr val="4EC9B0"/>
                </a:solidFill>
                <a:latin typeface="Consolas"/>
              </a:rPr>
              <a:t>PersonFaker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Generate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B5CEA8"/>
                </a:solidFill>
                <a:latin typeface="Consolas"/>
              </a:rPr>
              <a:t>10_000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/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4EC9B0"/>
                </a:solidFill>
                <a:latin typeface="Consolas"/>
              </a:rPr>
              <a:t>Baseline</a:t>
            </a:r>
            <a:r>
              <a:rPr sz="1350" b="0">
                <a:solidFill>
                  <a:srgbClr val="D4D4D4"/>
                </a:solidFill>
                <a:latin typeface="Consolas"/>
              </a:rPr>
              <a:t> = </a:t>
            </a:r>
            <a:r>
              <a:rPr sz="1350" b="0">
                <a:solidFill>
                  <a:srgbClr val="569CD6"/>
                </a:solidFill>
                <a:latin typeface="Consolas"/>
              </a:rPr>
              <a:t>true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/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/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DCDCAA"/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/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/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DCDCAA"/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9CDCFE"/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88894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6"/>
    </mc:Choice>
    <mc:Fallback xmlns="">
      <p:transition spd="slow" advTm="86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5D593-33B8-8C0D-911F-8EB4DF3BB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2C4CB8-EE9C-BDB6-CAD4-B4FB5CEE1B2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76BAA1B-8A70-EEC9-6284-CFAF90BB3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0E9154-24F3-C75A-6D01-ECCFE595A2B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F1FEBC5-0F39-AB40-D260-E04F2D93DF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92" y="3008312"/>
            <a:ext cx="7906853" cy="103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86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5"/>
    </mc:Choice>
    <mc:Fallback xmlns="">
      <p:transition spd="slow" advTm="85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4D99A-4CFB-DFBE-FDA5-01C0615A9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8DD3C49-E89A-A6EA-BD13-5E9E907C04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5D73888-F0E4-911A-DA38-0840CEA48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2201FA2-8D70-D0D6-1630-41FC4F11DE9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Result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7267351-F383-ADED-80E0-BAC23959FB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892" y="3008312"/>
            <a:ext cx="7906853" cy="1038370"/>
          </a:xfrm>
          <a:prstGeom prst="rect">
            <a:avLst/>
          </a:prstGeom>
        </p:spPr>
      </p:pic>
      <p:sp>
        <p:nvSpPr>
          <p:cNvPr id="4" name="Textfeld 7">
            <a:extLst>
              <a:ext uri="{FF2B5EF4-FFF2-40B4-BE49-F238E27FC236}">
                <a16:creationId xmlns:a16="http://schemas.microsoft.com/office/drawing/2014/main" id="{99302529-6A3E-35E0-F03E-689060246C97}"/>
              </a:ext>
            </a:extLst>
          </p:cNvPr>
          <p:cNvSpPr txBox="1"/>
          <p:nvPr/>
        </p:nvSpPr>
        <p:spPr>
          <a:xfrm>
            <a:off x="2525712" y="4616280"/>
            <a:ext cx="5637212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Huh?</a:t>
            </a:r>
          </a:p>
        </p:txBody>
      </p:sp>
    </p:spTree>
    <p:extLst>
      <p:ext uri="{BB962C8B-B14F-4D97-AF65-F5344CB8AC3E}">
        <p14:creationId xmlns:p14="http://schemas.microsoft.com/office/powerpoint/2010/main" val="424484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3"/>
    </mc:Choice>
    <mc:Fallback xmlns="">
      <p:transition spd="slow" advTm="83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A0C72-FEB9-B135-2B87-E11D8388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5CDC0F2-A414-CB23-E70F-8F96DB67617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AC32BC1-DD75-AFA8-AFC4-2738889E5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5A927C6-2D2C-9559-AD3D-9C17086B3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.net6.0 vs 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1797156" y="1863090"/>
            <a:ext cx="7104167" cy="38633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MemoryDiagnoser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[</a:t>
            </a:r>
            <a:r>
              <a:rPr sz="1350" b="0">
                <a:solidFill>
                  <a:srgbClr val="DCDCAA"/>
                </a:solidFill>
                <a:latin typeface="Consolas"/>
              </a:rPr>
              <a:t>SimpleJob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4EC9B0"/>
                </a:solidFill>
                <a:latin typeface="Consolas"/>
              </a:rPr>
              <a:t>RuntimeMoniker</a:t>
            </a:r>
            <a:r>
              <a:rPr sz="1350" b="0">
                <a:solidFill>
                  <a:srgbClr val="D4D4D4"/>
                </a:solidFill>
                <a:latin typeface="Consolas"/>
              </a:rPr>
              <a:t>.</a:t>
            </a:r>
            <a:r>
              <a:rPr sz="1350" b="0">
                <a:solidFill>
                  <a:srgbClr val="9CDCFE"/>
                </a:solidFill>
                <a:latin typeface="Consolas"/>
              </a:rPr>
              <a:t>Net60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class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CountPersonsOver50Benchmark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private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IEnumerable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null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!;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GlobalSetup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void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Setup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PersonFaker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Generate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B5CEA8">
                    <a:alpha val="45000"/>
                  </a:srgbClr>
                </a:solidFill>
                <a:latin typeface="Consolas"/>
              </a:rPr>
              <a:t>10_000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Baseline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true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CountPersonsOver50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ForEach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_persons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067737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2"/>
    </mc:Choice>
    <mc:Fallback xmlns="">
      <p:transition spd="slow" advTm="132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CD556-836A-4F31-DB54-A3C1F950FF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6AED22-F8AA-F198-39FC-301CC25AEA1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593E611-CB4A-3E0C-C9B3-E22DA1A14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700E83-A384-BB86-78FA-BEBEC56ACFF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.net6.0 vs 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17B98D8-F72C-4204-CC66-A0BC54DE3F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443" y="2833561"/>
            <a:ext cx="1022175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088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3"/>
    </mc:Choice>
    <mc:Fallback xmlns="">
      <p:transition spd="slow" advTm="123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77CAA-301F-061F-C707-088247ED4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A6DF7D9-27DD-AEA5-CDB6-66C77FA72F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F950B78-7354-8544-2057-B7A5EF7A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948FF70-0AAB-B189-C2CA-A585EDBDF210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Why?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8CCD4954-8EDF-BA24-25FD-941A04F079C0}"/>
              </a:ext>
            </a:extLst>
          </p:cNvPr>
          <p:cNvSpPr txBox="1"/>
          <p:nvPr/>
        </p:nvSpPr>
        <p:spPr>
          <a:xfrm>
            <a:off x="534988" y="1849724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Used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 but it is actually a List in the Background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(net6.0 does not check underlying data structure)</a:t>
            </a:r>
          </a:p>
        </p:txBody>
      </p:sp>
    </p:spTree>
    <p:extLst>
      <p:ext uri="{BB962C8B-B14F-4D97-AF65-F5344CB8AC3E}">
        <p14:creationId xmlns:p14="http://schemas.microsoft.com/office/powerpoint/2010/main" val="1847071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0"/>
    </mc:Choice>
    <mc:Fallback xmlns="">
      <p:transition spd="slow" advTm="90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87535-8BBF-4930-96B9-9F8ED3C6E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00C1551-E6EA-4179-390B-16D5E51CF72E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2B23D06-617F-7749-138D-067EB4336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A951924-B43A-A5AE-9275-68594ECEC9B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Why?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E28077A6-D17A-65EF-0AEE-C85F54DFD242}"/>
              </a:ext>
            </a:extLst>
          </p:cNvPr>
          <p:cNvSpPr txBox="1"/>
          <p:nvPr/>
        </p:nvSpPr>
        <p:spPr>
          <a:xfrm>
            <a:off x="534988" y="1849724"/>
            <a:ext cx="9349241" cy="14474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Used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IEnumerable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but it is actually a List in the Background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(net6.0 does not check underlying data structure)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 in .net6.0 checks if source is a List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uses specialized Iterator that Count can use directly  becomes plain indexed loop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0651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"/>
    </mc:Choice>
    <mc:Fallback xmlns="">
      <p:transition spd="slow" advTm="74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305CAA-5857-D4C6-B5DF-6C7D47D80B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993DBF-8FE1-3163-4E0C-3F8BAF0DCFE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E31E974-75EC-7EF9-FF95-341BEB87C9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EB56580-C531-55FC-F62D-1FD3F5258EA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Where in .net6.0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2465726" y="1828800"/>
            <a:ext cx="5767026" cy="393192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A9955"/>
                </a:solidFill>
                <a:latin typeface="Consolas"/>
              </a:rPr>
              <a:t>// Where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9CDCFE"/>
                </a:solidFill>
                <a:latin typeface="Consolas"/>
              </a:rPr>
              <a:t>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C586C0"/>
                </a:solidFill>
                <a:latin typeface="Consolas"/>
              </a:rPr>
              <a:t>is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List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569CD6"/>
                </a:solidFill>
                <a:latin typeface="Consolas"/>
              </a:rPr>
              <a:t>new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WhereListIterator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&gt;(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</a:t>
            </a:r>
            <a:r>
              <a:rPr sz="130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>
                <a:solidFill>
                  <a:srgbClr val="9CDCFE"/>
                </a:solidFill>
                <a:latin typeface="Consolas"/>
              </a:rPr>
              <a:t>predicate</a:t>
            </a:r>
            <a:r>
              <a:rPr sz="13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A9955"/>
                </a:solidFill>
                <a:latin typeface="Consolas"/>
              </a:rPr>
              <a:t>// Count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9CDCFE"/>
                </a:solidFill>
                <a:latin typeface="Consolas"/>
              </a:rPr>
              <a:t>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C586C0"/>
                </a:solidFill>
                <a:latin typeface="Consolas"/>
              </a:rPr>
              <a:t>is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IIListProvider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listProv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listProv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DCDCAA"/>
                </a:solidFill>
                <a:latin typeface="Consolas"/>
              </a:rPr>
              <a:t>GetCount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onlyIfCheap</a:t>
            </a:r>
            <a:r>
              <a:rPr sz="130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b="0">
                <a:solidFill>
                  <a:srgbClr val="569CD6"/>
                </a:solidFill>
                <a:latin typeface="Consolas"/>
              </a:rPr>
              <a:t>false</a:t>
            </a:r>
            <a:r>
              <a:rPr sz="13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A9955"/>
                </a:solidFill>
                <a:latin typeface="Consolas"/>
              </a:rPr>
              <a:t>// WhereListIterator.GetCount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for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569CD6"/>
                </a:solidFill>
                <a:latin typeface="Consolas"/>
              </a:rPr>
              <a:t>int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b="0">
                <a:solidFill>
                  <a:srgbClr val="B5CEA8"/>
                </a:solidFill>
                <a:latin typeface="Consolas"/>
              </a:rPr>
              <a:t>0</a:t>
            </a:r>
            <a:r>
              <a:rPr sz="130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1300" b="0">
                <a:solidFill>
                  <a:srgbClr val="9CDCFE"/>
                </a:solidFill>
                <a:latin typeface="Consolas"/>
              </a:rPr>
              <a:t>_source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; 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++)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item</a:t>
            </a:r>
            <a:r>
              <a:rPr sz="130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b="0">
                <a:solidFill>
                  <a:srgbClr val="9CDCFE"/>
                </a:solidFill>
                <a:latin typeface="Consolas"/>
              </a:rPr>
              <a:t>_source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i</a:t>
            </a:r>
            <a:r>
              <a:rPr sz="13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DCDCAA"/>
                </a:solidFill>
                <a:latin typeface="Consolas"/>
              </a:rPr>
              <a:t>_predicate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item</a:t>
            </a:r>
            <a:r>
              <a:rPr sz="1300" b="0">
                <a:solidFill>
                  <a:srgbClr val="D4D4D4"/>
                </a:solidFill>
                <a:latin typeface="Consolas"/>
              </a:rPr>
              <a:t>)) { </a:t>
            </a:r>
            <a:r>
              <a:rPr sz="1300" b="0">
                <a:solidFill>
                  <a:srgbClr val="569CD6"/>
                </a:solidFill>
                <a:latin typeface="Consolas"/>
              </a:rPr>
              <a:t>checked</a:t>
            </a:r>
            <a:r>
              <a:rPr sz="1300" b="0">
                <a:solidFill>
                  <a:srgbClr val="D4D4D4"/>
                </a:solidFill>
                <a:latin typeface="Consolas"/>
              </a:rPr>
              <a:t> { </a:t>
            </a:r>
            <a:r>
              <a:rPr sz="13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++; }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2256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3"/>
    </mc:Choice>
    <mc:Fallback xmlns="">
      <p:transition spd="slow" advTm="73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43FB-91C3-26AB-9140-AFE8A5066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B5437BD-D616-F2A1-1190-78BEB3F1CE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C6577E6-02DA-0145-BA1B-17E48017B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4C7AE8-9CF1-1CD0-78AA-ABBC766D041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Count in .net6.0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7E813DC4-EE0B-A37A-C049-F1A5655A8701}"/>
              </a:ext>
            </a:extLst>
          </p:cNvPr>
          <p:cNvSpPr txBox="1"/>
          <p:nvPr/>
        </p:nvSpPr>
        <p:spPr>
          <a:xfrm>
            <a:off x="669697" y="4387202"/>
            <a:ext cx="9349241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Has to do Boxing for the Enumerator</a:t>
            </a:r>
          </a:p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Needs to call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MoveNext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and Current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Same Issue for foreach</a:t>
            </a:r>
          </a:p>
        </p:txBody>
      </p:sp>
      <p:sp>
        <p:nvSpPr>
          <p:cNvPr id="10" name="Code"/>
          <p:cNvSpPr/>
          <p:nvPr/>
        </p:nvSpPr>
        <p:spPr>
          <a:xfrm>
            <a:off x="1121603" y="1965960"/>
            <a:ext cx="8455273" cy="2194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int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count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0</a:t>
            </a:r>
            <a:r>
              <a:rPr sz="24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2400" b="0">
                <a:solidFill>
                  <a:srgbClr val="D4D4D4"/>
                </a:solidFill>
                <a:latin typeface="Consolas"/>
              </a:rPr>
              <a:t> (</a:t>
            </a:r>
            <a:r>
              <a:rPr sz="2400" b="0">
                <a:solidFill>
                  <a:srgbClr val="4EC9B0"/>
                </a:solidFill>
                <a:latin typeface="Consolas"/>
              </a:rPr>
              <a:t>TSource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element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C586C0"/>
                </a:solidFill>
                <a:latin typeface="Consolas"/>
              </a:rPr>
              <a:t>in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9CDCFE"/>
                </a:solidFill>
                <a:latin typeface="Consolas"/>
              </a:rPr>
              <a:t>source</a:t>
            </a:r>
            <a:r>
              <a:rPr sz="24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569CD6"/>
                </a:solidFill>
                <a:latin typeface="Consolas"/>
              </a:rPr>
              <a:t>checked</a:t>
            </a:r>
            <a:r>
              <a:rPr sz="2400" b="0">
                <a:solidFill>
                  <a:srgbClr val="D4D4D4"/>
                </a:solidFill>
                <a:latin typeface="Consolas"/>
              </a:rPr>
              <a:t> { </a:t>
            </a:r>
            <a:r>
              <a:rPr sz="2400" b="0">
                <a:solidFill>
                  <a:srgbClr val="C586C0"/>
                </a:solidFill>
                <a:latin typeface="Consolas"/>
              </a:rPr>
              <a:t>if</a:t>
            </a:r>
            <a:r>
              <a:rPr sz="2400" b="0">
                <a:solidFill>
                  <a:srgbClr val="D4D4D4"/>
                </a:solidFill>
                <a:latin typeface="Consolas"/>
              </a:rPr>
              <a:t> (</a:t>
            </a:r>
            <a:r>
              <a:rPr sz="2400" b="0">
                <a:solidFill>
                  <a:srgbClr val="DCDCAA"/>
                </a:solidFill>
                <a:latin typeface="Consolas"/>
              </a:rPr>
              <a:t>predicate</a:t>
            </a:r>
            <a:r>
              <a:rPr sz="2400" b="0">
                <a:solidFill>
                  <a:srgbClr val="D4D4D4"/>
                </a:solidFill>
                <a:latin typeface="Consolas"/>
              </a:rPr>
              <a:t>(</a:t>
            </a:r>
            <a:r>
              <a:rPr sz="2400" b="0">
                <a:solidFill>
                  <a:srgbClr val="9CDCFE"/>
                </a:solidFill>
                <a:latin typeface="Consolas"/>
              </a:rPr>
              <a:t>element</a:t>
            </a:r>
            <a:r>
              <a:rPr sz="2400" b="0">
                <a:solidFill>
                  <a:srgbClr val="D4D4D4"/>
                </a:solidFill>
                <a:latin typeface="Consolas"/>
              </a:rPr>
              <a:t>)) </a:t>
            </a:r>
            <a:r>
              <a:rPr sz="2400" b="0">
                <a:solidFill>
                  <a:srgbClr val="9CDCFE"/>
                </a:solidFill>
                <a:latin typeface="Consolas"/>
              </a:rPr>
              <a:t>count</a:t>
            </a:r>
            <a:r>
              <a:rPr sz="2400" b="0">
                <a:solidFill>
                  <a:srgbClr val="D4D4D4"/>
                </a:solidFill>
                <a:latin typeface="Consolas"/>
              </a:rPr>
              <a:t>++;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2816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3"/>
    </mc:Choice>
    <mc:Fallback xmlns="">
      <p:transition spd="slow" advTm="73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EAE6D-FE3B-2081-50D6-E551DA39D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004AE86-B212-7557-F182-A1538E174EF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04E826C-80A4-D02F-5FB4-9610D3EED4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0A39DA8-5CD6-E992-AB2B-4620571DB03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.net10.0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454478D-A4FB-ACD4-04CE-EF458C06436F}"/>
              </a:ext>
            </a:extLst>
          </p:cNvPr>
          <p:cNvSpPr txBox="1"/>
          <p:nvPr/>
        </p:nvSpPr>
        <p:spPr>
          <a:xfrm>
            <a:off x="534988" y="1844149"/>
            <a:ext cx="9349241" cy="2910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also uses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direct is 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List / Array checks for </a:t>
            </a:r>
            <a:r>
              <a:rPr lang="en-US" sz="1800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Enumerables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Same behavior as Where then Count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and foreach additionally got faster because of PGO (Profile-Guided Optimization) being enabled by default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foreach uses same List enumerator  direct calls instead of interface calls, no boxing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Count uses same lambda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JIT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inlines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 it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 then Count doesn’t inline lambda</a:t>
            </a:r>
          </a:p>
        </p:txBody>
      </p:sp>
    </p:spTree>
    <p:extLst>
      <p:ext uri="{BB962C8B-B14F-4D97-AF65-F5344CB8AC3E}">
        <p14:creationId xmlns:p14="http://schemas.microsoft.com/office/powerpoint/2010/main" val="2280950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7"/>
    </mc:Choice>
    <mc:Fallback xmlns="">
      <p:transition spd="slow" advTm="67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92980D-336F-B61A-76D5-FE11B7D44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457C24D-F188-8182-A056-F00B08B2D72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1FD62D6-EA64-15DF-593C-C1A3FC920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Measuring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17572B8-7CB1-743E-AD83-26053222953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Optimization is hard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B8E99F11-B1F7-43BF-8979-8397C8C46D72}"/>
              </a:ext>
            </a:extLst>
          </p:cNvPr>
          <p:cNvSpPr txBox="1"/>
          <p:nvPr/>
        </p:nvSpPr>
        <p:spPr>
          <a:xfrm>
            <a:off x="534988" y="1844149"/>
            <a:ext cx="9349241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and you have to measure it.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Relying on intuition is not enough.</a:t>
            </a:r>
          </a:p>
        </p:txBody>
      </p:sp>
    </p:spTree>
    <p:extLst>
      <p:ext uri="{BB962C8B-B14F-4D97-AF65-F5344CB8AC3E}">
        <p14:creationId xmlns:p14="http://schemas.microsoft.com/office/powerpoint/2010/main" val="20368693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1"/>
    </mc:Choice>
    <mc:Fallback xmlns="">
      <p:transition spd="slow" advTm="8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8217B-B217-7A28-043A-4D9BF18D88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87D2C6D-BA8A-4389-A80A-D4AC5E0B6AD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3A770E7-91F0-EBD8-463E-833E49844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Measuring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B332829-F0A1-BEDF-C089-111B56B578A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Optimization is hard</a:t>
            </a:r>
            <a:endParaRPr lang="en-US" sz="3000" noProof="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627974C3-5159-4C37-19E8-15BA767A6C8B}"/>
              </a:ext>
            </a:extLst>
          </p:cNvPr>
          <p:cNvSpPr txBox="1"/>
          <p:nvPr/>
        </p:nvSpPr>
        <p:spPr>
          <a:xfrm>
            <a:off x="534988" y="1844149"/>
            <a:ext cx="9691854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…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and you have to measure it.</a:t>
            </a: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Relying on intuition is not enough.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Benchmarking is also hard and you need to make sure that you are measuring the right thing.</a:t>
            </a:r>
          </a:p>
        </p:txBody>
      </p:sp>
    </p:spTree>
    <p:extLst>
      <p:ext uri="{BB962C8B-B14F-4D97-AF65-F5344CB8AC3E}">
        <p14:creationId xmlns:p14="http://schemas.microsoft.com/office/powerpoint/2010/main" val="1464621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4"/>
    </mc:Choice>
    <mc:Fallback xmlns="">
      <p:transition spd="slow" advTm="74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33EE-A856-AF06-6E17-C1C5EC54B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C6F52C1-872E-3C27-0199-DA159436927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6624420-30F4-4C5E-664C-D8B5BE847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70847F9-49AA-4764-1925-94B57D459FE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.net6.0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1EC6F258-B19E-A732-AEBF-D8C55DEDAF14}"/>
              </a:ext>
            </a:extLst>
          </p:cNvPr>
          <p:cNvSpPr txBox="1"/>
          <p:nvPr/>
        </p:nvSpPr>
        <p:spPr>
          <a:xfrm>
            <a:off x="534988" y="1844149"/>
            <a:ext cx="9691854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I optimize this in .net6.0?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int 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WhereCount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IEnumerable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&lt;Person&gt; persons) { … }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It is going to be called with this data: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List&lt;Person&gt; Generate(int count) { … }</a:t>
            </a:r>
          </a:p>
          <a:p>
            <a:pPr>
              <a:lnSpc>
                <a:spcPts val="2700"/>
              </a:lnSpc>
            </a:pP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Person looks like this: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record Person(string Name, string Gender, int Age);</a:t>
            </a:r>
          </a:p>
        </p:txBody>
      </p:sp>
    </p:spTree>
    <p:extLst>
      <p:ext uri="{BB962C8B-B14F-4D97-AF65-F5344CB8AC3E}">
        <p14:creationId xmlns:p14="http://schemas.microsoft.com/office/powerpoint/2010/main" val="4003391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1"/>
    </mc:Choice>
    <mc:Fallback xmlns="">
      <p:transition spd="slow" advTm="7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AECBE-1106-8F59-983B-4D2586639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71E70D4-7BF4-A2F4-E7EE-F5E5AAF5166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E08715C-B56E-6863-3D8B-2B5D102B3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B897314-4F3A-F3F3-B01A-90214E459DA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.net6.0</a:t>
            </a:r>
          </a:p>
        </p:txBody>
      </p:sp>
      <p:sp>
        <p:nvSpPr>
          <p:cNvPr id="7" name="Code"/>
          <p:cNvSpPr/>
          <p:nvPr/>
        </p:nvSpPr>
        <p:spPr>
          <a:xfrm>
            <a:off x="3837960" y="2399477"/>
            <a:ext cx="3237490" cy="5334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9CDCFE"/>
                </a:solidFill>
                <a:latin typeface="Consolas"/>
              </a:rPr>
              <a:t>Age</a:t>
            </a:r>
            <a:r>
              <a:rPr sz="11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10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b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8" name="Code"/>
          <p:cNvSpPr/>
          <p:nvPr/>
        </p:nvSpPr>
        <p:spPr>
          <a:xfrm>
            <a:off x="325325" y="3154679"/>
            <a:ext cx="5019903" cy="20421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static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int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TypeSwitch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4EC9B0"/>
                </a:solidFill>
                <a:latin typeface="Consolas"/>
              </a:rPr>
              <a:t>IEnumerable</a:t>
            </a:r>
            <a:r>
              <a:rPr sz="1100" b="0">
                <a:solidFill>
                  <a:srgbClr val="D4D4D4"/>
                </a:solidFill>
                <a:latin typeface="Consolas"/>
              </a:rPr>
              <a:t>&lt;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if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C586C0"/>
                </a:solidFill>
                <a:latin typeface="Consolas"/>
              </a:rPr>
              <a:t>is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4EC9B0"/>
                </a:solidFill>
                <a:latin typeface="Consolas"/>
              </a:rPr>
              <a:t>List</a:t>
            </a:r>
            <a:r>
              <a:rPr sz="1100" b="0">
                <a:solidFill>
                  <a:srgbClr val="D4D4D4"/>
                </a:solidFill>
                <a:latin typeface="Consolas"/>
              </a:rPr>
              <a:t>&lt;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list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CountOver50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4EC9B0"/>
                </a:solidFill>
                <a:latin typeface="Consolas"/>
              </a:rPr>
              <a:t>CollectionsMarshal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DCDCAA"/>
                </a:solidFill>
                <a:latin typeface="Consolas"/>
              </a:rPr>
              <a:t>AsSpan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list</a:t>
            </a:r>
            <a:r>
              <a:rPr sz="11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if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C586C0"/>
                </a:solidFill>
                <a:latin typeface="Consolas"/>
              </a:rPr>
              <a:t>is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[] </a:t>
            </a:r>
            <a:r>
              <a:rPr sz="1100" b="0">
                <a:solidFill>
                  <a:srgbClr val="9CDCFE"/>
                </a:solidFill>
                <a:latin typeface="Consolas"/>
              </a:rPr>
              <a:t>array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CountOver50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array</a:t>
            </a:r>
            <a:r>
              <a:rPr sz="11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persons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x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9CDCFE"/>
                </a:solidFill>
                <a:latin typeface="Consolas"/>
              </a:rPr>
              <a:t>Age</a:t>
            </a:r>
            <a:r>
              <a:rPr sz="11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10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9" name="Code"/>
          <p:cNvSpPr/>
          <p:nvPr/>
        </p:nvSpPr>
        <p:spPr>
          <a:xfrm>
            <a:off x="5573831" y="3377888"/>
            <a:ext cx="4789482" cy="1595741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static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569CD6"/>
                </a:solidFill>
                <a:latin typeface="Consolas"/>
              </a:rPr>
              <a:t>int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DCDCAA"/>
                </a:solidFill>
                <a:latin typeface="Consolas"/>
              </a:rPr>
              <a:t>CountOver50</a:t>
            </a:r>
            <a:r>
              <a:rPr sz="110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b="0">
                <a:solidFill>
                  <a:srgbClr val="4EC9B0"/>
                </a:solidFill>
                <a:latin typeface="Consolas"/>
              </a:rPr>
              <a:t>ReadOnlySpan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&lt;</a:t>
            </a:r>
            <a:r>
              <a:rPr sz="1100" b="0">
                <a:solidFill>
                  <a:srgbClr val="4EC9B0"/>
                </a:solidFill>
                <a:latin typeface="Consolas"/>
              </a:rPr>
              <a:t>Person</a:t>
            </a:r>
            <a:r>
              <a:rPr sz="11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100" b="0">
                <a:solidFill>
                  <a:srgbClr val="9CDCFE"/>
                </a:solidFill>
                <a:latin typeface="Consolas"/>
              </a:rPr>
              <a:t>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569CD6"/>
                </a:solidFill>
                <a:latin typeface="Consolas"/>
              </a:rPr>
              <a:t>int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 = </a:t>
            </a:r>
            <a:r>
              <a:rPr sz="1100" b="0">
                <a:solidFill>
                  <a:srgbClr val="B5CEA8"/>
                </a:solidFill>
                <a:latin typeface="Consolas"/>
              </a:rPr>
              <a:t>0</a:t>
            </a:r>
            <a:r>
              <a:rPr sz="11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569CD6"/>
                </a:solidFill>
                <a:latin typeface="Consolas"/>
              </a:rPr>
              <a:t>var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p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C586C0"/>
                </a:solidFill>
                <a:latin typeface="Consolas"/>
              </a:rPr>
              <a:t>in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span</a:t>
            </a:r>
            <a:r>
              <a:rPr sz="11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if</a:t>
            </a:r>
            <a:r>
              <a:rPr sz="1100" b="0">
                <a:solidFill>
                  <a:srgbClr val="D4D4D4"/>
                </a:solidFill>
                <a:latin typeface="Consolas"/>
              </a:rPr>
              <a:t> (</a:t>
            </a:r>
            <a:r>
              <a:rPr sz="1100" b="0">
                <a:solidFill>
                  <a:srgbClr val="9CDCFE"/>
                </a:solidFill>
                <a:latin typeface="Consolas"/>
              </a:rPr>
              <a:t>p</a:t>
            </a:r>
            <a:r>
              <a:rPr sz="110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b="0">
                <a:solidFill>
                  <a:srgbClr val="9CDCFE"/>
                </a:solidFill>
                <a:latin typeface="Consolas"/>
              </a:rPr>
              <a:t>Age</a:t>
            </a:r>
            <a:r>
              <a:rPr sz="11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100" b="0">
                <a:solidFill>
                  <a:srgbClr val="B5CEA8"/>
                </a:solidFill>
                <a:latin typeface="Consolas"/>
              </a:rPr>
              <a:t>50</a:t>
            </a:r>
            <a:r>
              <a:rPr sz="1100" b="0">
                <a:solidFill>
                  <a:srgbClr val="D4D4D4"/>
                </a:solidFill>
                <a:latin typeface="Consolas"/>
              </a:rPr>
              <a:t>) </a:t>
            </a:r>
            <a:r>
              <a:rPr sz="11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10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1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42912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"/>
    </mc:Choice>
    <mc:Fallback xmlns="">
      <p:transition spd="slow" advTm="77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533B3-CCD4-469D-737E-DD4C2E53E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48D00A5-2385-7889-D3FC-3A6B882996E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42875FC-6E7E-C728-2263-54FB9971F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DD8C94B-9F9A-E607-A673-12CCDC1B2DE5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.net6.0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E337CB-D607-210F-D685-A68629BB1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32" y="2677795"/>
            <a:ext cx="10193173" cy="2152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0633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7"/>
    </mc:Choice>
    <mc:Fallback xmlns="">
      <p:transition spd="slow" advTm="77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9EE23-8B4A-FD97-C30A-A46F9ABA1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F9E021D-DA8B-982B-218A-0D14F6C972A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AA05E27-CD1E-FC49-D6CB-BAE179212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DE0D7D7-59BC-9A78-ECB8-989AB8A7881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.net10.0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FA970FE7-A639-3776-0698-AC74CDB6AB74}"/>
              </a:ext>
            </a:extLst>
          </p:cNvPr>
          <p:cNvSpPr txBox="1"/>
          <p:nvPr/>
        </p:nvSpPr>
        <p:spPr>
          <a:xfrm>
            <a:off x="534988" y="1844149"/>
            <a:ext cx="9691854" cy="3179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How could I optimize this in .net10.0?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int 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WhereCount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(</a:t>
            </a:r>
            <a:r>
              <a:rPr lang="en-US" sz="1800" i="1" noProof="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IEnumerable</a:t>
            </a: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&lt;Person&gt; persons) { … }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It is going to be called with this data: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static List&lt;Person&gt; Generate(int count) { … }</a:t>
            </a:r>
          </a:p>
          <a:p>
            <a:pPr>
              <a:lnSpc>
                <a:spcPts val="2700"/>
              </a:lnSpc>
            </a:pP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Person looks like this:</a:t>
            </a:r>
          </a:p>
          <a:p>
            <a:pPr>
              <a:lnSpc>
                <a:spcPts val="2700"/>
              </a:lnSpc>
            </a:pPr>
            <a:r>
              <a:rPr lang="en-US" sz="1800" i="1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public record Person(string Name, string Gender, int Age);</a:t>
            </a:r>
          </a:p>
        </p:txBody>
      </p:sp>
    </p:spTree>
    <p:extLst>
      <p:ext uri="{BB962C8B-B14F-4D97-AF65-F5344CB8AC3E}">
        <p14:creationId xmlns:p14="http://schemas.microsoft.com/office/powerpoint/2010/main" val="3501476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0"/>
    </mc:Choice>
    <mc:Fallback xmlns="">
      <p:transition spd="slow" advTm="140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817D7-0BB0-1211-1D36-70B9D46B2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89E95F-6A33-34D7-F609-7588C334E90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104F0D-ECA0-DBBA-B3A2-8E2D1AC06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Count persons over 50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51466FD-0B50-E790-B710-38FD0AEA5D7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Fable .net10.0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EC640DE-7645-2A40-5F5C-BC72026404BA}"/>
              </a:ext>
            </a:extLst>
          </p:cNvPr>
          <p:cNvSpPr txBox="1"/>
          <p:nvPr/>
        </p:nvSpPr>
        <p:spPr>
          <a:xfrm>
            <a:off x="534988" y="1844149"/>
            <a:ext cx="9691854" cy="7559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Outputs practically the same code as in .net6.0 prompt, except that it says that Where then Count is already optimized and Count will probably not be faster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0034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0"/>
    </mc:Choice>
    <mc:Fallback xmlns="">
      <p:transition spd="slow" advTm="130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C133C-10D1-E258-EDE0-A5FBD5DC9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2B8637C-1C5E-C75B-A03F-5C7662476C8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62ABD7A-D0E0-94BE-386C-615EDC057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Takeaway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LLMs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4F0649D-1376-696B-E348-A00D842FDA80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Working with LLMs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9AFD6A9D-817B-C0A1-41BC-C7DE68091BF3}"/>
              </a:ext>
            </a:extLst>
          </p:cNvPr>
          <p:cNvSpPr txBox="1"/>
          <p:nvPr/>
        </p:nvSpPr>
        <p:spPr>
          <a:xfrm>
            <a:off x="534988" y="1844149"/>
            <a:ext cx="9691854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Take its output and reasoning with a grain of salt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Benchmark its output</a:t>
            </a:r>
          </a:p>
        </p:txBody>
      </p:sp>
    </p:spTree>
    <p:extLst>
      <p:ext uri="{BB962C8B-B14F-4D97-AF65-F5344CB8AC3E}">
        <p14:creationId xmlns:p14="http://schemas.microsoft.com/office/powerpoint/2010/main" val="1115451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8"/>
    </mc:Choice>
    <mc:Fallback xmlns="">
      <p:transition spd="slow" advTm="88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5D7-9DF5-11AC-76EC-8346F4AF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A273EA-FF2B-71D2-5E65-B6D93884AF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EC6632D-EF4D-9C35-37E7-7111E562C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478E54-6B6A-3570-F75B-958AA5963DC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2518410"/>
            <a:ext cx="9572467" cy="25527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569CD6"/>
                </a:solidFill>
                <a:latin typeface="Consolas"/>
              </a:rPr>
              <a:t>int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, </a:t>
            </a:r>
            <a:r>
              <a:rPr sz="2050" b="0">
                <a:solidFill>
                  <a:srgbClr val="4EC9B0"/>
                </a:solidFill>
                <a:latin typeface="Consolas"/>
              </a:rPr>
              <a:t>List</a:t>
            </a:r>
            <a:r>
              <a:rPr sz="2050" b="0">
                <a:solidFill>
                  <a:srgbClr val="D4D4D4"/>
                </a:solidFill>
                <a:latin typeface="Consolas"/>
              </a:rPr>
              <a:t>&lt;</a:t>
            </a:r>
            <a:r>
              <a:rPr sz="205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2050" b="0">
                <a:solidFill>
                  <a:srgbClr val="D4D4D4"/>
                </a:solidFill>
                <a:latin typeface="Consolas"/>
              </a:rPr>
              <a:t>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</a:t>
            </a:r>
            <a:r>
              <a:rPr sz="2050" b="0">
                <a:solidFill>
                  <a:srgbClr val="C586C0"/>
                </a:solidFill>
                <a:latin typeface="Consolas"/>
              </a:rPr>
              <a:t>return</a:t>
            </a:r>
            <a:r>
              <a:rPr sz="2050" b="0">
                <a:solidFill>
                  <a:srgbClr val="D4D4D4"/>
                </a:solidFill>
                <a:latin typeface="Consolas"/>
              </a:rPr>
              <a:t> </a:t>
            </a:r>
            <a:r>
              <a:rPr sz="2050" b="0">
                <a:solidFill>
                  <a:srgbClr val="9CDCFE"/>
                </a:solidFill>
                <a:latin typeface="Consolas"/>
              </a:rPr>
              <a:t>tiers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Where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 &gt;=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DCDCAA"/>
                </a:solidFill>
                <a:latin typeface="Consolas"/>
              </a:rPr>
              <a:t>MaxBy</a:t>
            </a:r>
            <a:r>
              <a:rPr sz="2050" b="0">
                <a:solidFill>
                  <a:srgbClr val="D4D4D4"/>
                </a:solidFill>
                <a:latin typeface="Consolas"/>
              </a:rPr>
              <a:t>(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050" b="0">
                <a:solidFill>
                  <a:srgbClr val="9CDCFE"/>
                </a:solidFill>
                <a:latin typeface="Consolas"/>
              </a:rPr>
              <a:t>t</a:t>
            </a:r>
            <a:r>
              <a:rPr sz="2050" b="0">
                <a:solidFill>
                  <a:srgbClr val="D4D4D4"/>
                </a:solidFill>
                <a:latin typeface="Consolas"/>
              </a:rPr>
              <a:t>.</a:t>
            </a:r>
            <a:r>
              <a:rPr sz="205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2050" b="0">
                <a:solidFill>
                  <a:srgbClr val="D4D4D4"/>
                </a:solidFill>
                <a:latin typeface="Consolas"/>
              </a:rPr>
              <a:t>)!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205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20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5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28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1"/>
    </mc:Choice>
    <mc:Fallback xmlns="">
      <p:transition spd="slow" advTm="9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5D7-9DF5-11AC-76EC-8346F4AF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A273EA-FF2B-71D2-5E65-B6D93884AF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EC6632D-EF4D-9C35-37E7-7111E562C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478E54-6B6A-3570-F75B-958AA5963DC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2734551" y="1828799"/>
            <a:ext cx="52293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class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4EC9B0"/>
                </a:solidFill>
                <a:latin typeface="Consolas"/>
              </a:rPr>
              <a:t>PriceTable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int</a:t>
            </a:r>
            <a:r>
              <a:rPr sz="1000" b="0">
                <a:solidFill>
                  <a:srgbClr val="D4D4D4"/>
                </a:solidFill>
                <a:latin typeface="Consolas"/>
              </a:rPr>
              <a:t>[] </a:t>
            </a:r>
            <a:r>
              <a:rPr sz="10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0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000" b="0">
                <a:solidFill>
                  <a:srgbClr val="D4D4D4"/>
                </a:solidFill>
                <a:latin typeface="Consolas"/>
              </a:rPr>
              <a:t>[] </a:t>
            </a:r>
            <a:r>
              <a:rPr sz="10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0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DCDCAA"/>
                </a:solidFill>
                <a:latin typeface="Consolas"/>
              </a:rPr>
              <a:t>PriceTable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4EC9B0"/>
                </a:solidFill>
                <a:latin typeface="Consolas"/>
              </a:rPr>
              <a:t>List</a:t>
            </a:r>
            <a:r>
              <a:rPr sz="1000" b="0">
                <a:solidFill>
                  <a:srgbClr val="D4D4D4"/>
                </a:solidFill>
                <a:latin typeface="Consolas"/>
              </a:rPr>
              <a:t>&lt;</a:t>
            </a:r>
            <a:r>
              <a:rPr sz="1000" b="0">
                <a:solidFill>
                  <a:srgbClr val="4EC9B0"/>
                </a:solidFill>
                <a:latin typeface="Consolas"/>
              </a:rPr>
              <a:t>PriceTier</a:t>
            </a:r>
            <a:r>
              <a:rPr sz="10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0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var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9CDCFE"/>
                </a:solidFill>
                <a:latin typeface="Consolas"/>
              </a:rPr>
              <a:t>tiers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OrderBy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).</a:t>
            </a:r>
            <a:r>
              <a:rPr sz="1000" b="0">
                <a:solidFill>
                  <a:srgbClr val="DCDCAA"/>
                </a:solidFill>
                <a:latin typeface="Consolas"/>
              </a:rPr>
              <a:t>ToList</a:t>
            </a:r>
            <a:r>
              <a:rPr sz="10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9CDCFE"/>
                </a:solidFill>
                <a:latin typeface="Consolas"/>
              </a:rPr>
              <a:t>MinQuantity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).</a:t>
            </a:r>
            <a:r>
              <a:rPr sz="10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0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9CDCFE"/>
                </a:solidFill>
                <a:latin typeface="Consolas"/>
              </a:rPr>
              <a:t>sorted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Select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000" b="0">
                <a:solidFill>
                  <a:srgbClr val="9CDCFE"/>
                </a:solidFill>
                <a:latin typeface="Consolas"/>
              </a:rPr>
              <a:t>t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9CDCFE"/>
                </a:solidFill>
                <a:latin typeface="Consolas"/>
              </a:rPr>
              <a:t>UnitPrice</a:t>
            </a:r>
            <a:r>
              <a:rPr sz="1000" b="0">
                <a:solidFill>
                  <a:srgbClr val="D4D4D4"/>
                </a:solidFill>
                <a:latin typeface="Consolas"/>
              </a:rPr>
              <a:t>).</a:t>
            </a:r>
            <a:r>
              <a:rPr sz="1000" b="0">
                <a:solidFill>
                  <a:srgbClr val="DCDCAA"/>
                </a:solidFill>
                <a:latin typeface="Consolas"/>
              </a:rPr>
              <a:t>ToArray</a:t>
            </a:r>
            <a:r>
              <a:rPr sz="10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569CD6"/>
                </a:solidFill>
                <a:latin typeface="Consolas"/>
              </a:rPr>
              <a:t>decimal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DCDCAA"/>
                </a:solidFill>
                <a:latin typeface="Consolas"/>
              </a:rPr>
              <a:t>GetUnitPrice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569CD6"/>
                </a:solidFill>
                <a:latin typeface="Consolas"/>
              </a:rPr>
              <a:t>int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569CD6"/>
                </a:solidFill>
                <a:latin typeface="Consolas"/>
              </a:rPr>
              <a:t>var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= </a:t>
            </a:r>
            <a:r>
              <a:rPr sz="1000" b="0">
                <a:solidFill>
                  <a:srgbClr val="4EC9B0"/>
                </a:solidFill>
                <a:latin typeface="Consolas"/>
              </a:rPr>
              <a:t>Array</a:t>
            </a:r>
            <a:r>
              <a:rPr sz="1000" b="0">
                <a:solidFill>
                  <a:srgbClr val="D4D4D4"/>
                </a:solidFill>
                <a:latin typeface="Consolas"/>
              </a:rPr>
              <a:t>.</a:t>
            </a:r>
            <a:r>
              <a:rPr sz="1000" b="0">
                <a:solidFill>
                  <a:srgbClr val="DCDCAA"/>
                </a:solidFill>
                <a:latin typeface="Consolas"/>
              </a:rPr>
              <a:t>BinarySearch</a:t>
            </a:r>
            <a:r>
              <a:rPr sz="1000" b="0">
                <a:solidFill>
                  <a:srgbClr val="D4D4D4"/>
                </a:solidFill>
                <a:latin typeface="Consolas"/>
              </a:rPr>
              <a:t>(</a:t>
            </a:r>
            <a:r>
              <a:rPr sz="1000" b="0">
                <a:solidFill>
                  <a:srgbClr val="9CDCFE"/>
                </a:solidFill>
                <a:latin typeface="Consolas"/>
              </a:rPr>
              <a:t>_minQuantities</a:t>
            </a:r>
            <a:r>
              <a:rPr sz="1000" b="0">
                <a:solidFill>
                  <a:srgbClr val="D4D4D4"/>
                </a:solidFill>
                <a:latin typeface="Consolas"/>
              </a:rPr>
              <a:t>, </a:t>
            </a:r>
            <a:r>
              <a:rPr sz="1000" b="0">
                <a:solidFill>
                  <a:srgbClr val="9CDCFE"/>
                </a:solidFill>
                <a:latin typeface="Consolas"/>
              </a:rPr>
              <a:t>quantity</a:t>
            </a:r>
            <a:r>
              <a:rPr sz="10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C586C0"/>
                </a:solidFill>
                <a:latin typeface="Consolas"/>
              </a:rPr>
              <a:t>if</a:t>
            </a:r>
            <a:r>
              <a:rPr sz="1000" b="0">
                <a:solidFill>
                  <a:srgbClr val="D4D4D4"/>
                </a:solidFill>
                <a:latin typeface="Consolas"/>
              </a:rPr>
              <a:t> (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&lt; </a:t>
            </a:r>
            <a:r>
              <a:rPr sz="1000" b="0">
                <a:solidFill>
                  <a:srgbClr val="B5CEA8"/>
                </a:solidFill>
                <a:latin typeface="Consolas"/>
              </a:rPr>
              <a:t>0</a:t>
            </a:r>
            <a:r>
              <a:rPr sz="10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= ~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 - </a:t>
            </a:r>
            <a:r>
              <a:rPr sz="1000" b="0">
                <a:solidFill>
                  <a:srgbClr val="B5CEA8"/>
                </a:solidFill>
                <a:latin typeface="Consolas"/>
              </a:rPr>
              <a:t>1</a:t>
            </a:r>
            <a:r>
              <a:rPr sz="10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0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000" b="0">
                <a:solidFill>
                  <a:srgbClr val="D4D4D4"/>
                </a:solidFill>
                <a:latin typeface="Consolas"/>
              </a:rPr>
              <a:t> </a:t>
            </a:r>
            <a:r>
              <a:rPr sz="1000" b="0">
                <a:solidFill>
                  <a:srgbClr val="9CDCFE"/>
                </a:solidFill>
                <a:latin typeface="Consolas"/>
              </a:rPr>
              <a:t>_unitPrices</a:t>
            </a:r>
            <a:r>
              <a:rPr sz="1000" b="0">
                <a:solidFill>
                  <a:srgbClr val="D4D4D4"/>
                </a:solidFill>
                <a:latin typeface="Consolas"/>
              </a:rPr>
              <a:t>[</a:t>
            </a:r>
            <a:r>
              <a:rPr sz="1000" b="0">
                <a:solidFill>
                  <a:srgbClr val="9CDCFE"/>
                </a:solidFill>
                <a:latin typeface="Consolas"/>
              </a:rPr>
              <a:t>index</a:t>
            </a:r>
            <a:r>
              <a:rPr sz="1000" b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28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7"/>
    </mc:Choice>
    <mc:Fallback xmlns="">
      <p:transition spd="slow" advTm="117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DE5D7-9DF5-11AC-76EC-8346F4AF8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3A273EA-FF2B-71D2-5E65-B6D93884AFE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EC6632D-EF4D-9C35-37E7-7111E562C3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3478E54-6B6A-3570-F75B-958AA5963DC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1418999" y="2103120"/>
            <a:ext cx="7850641" cy="33832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>
                <a:solidFill>
                  <a:srgbClr val="569CD6"/>
                </a:solidFill>
                <a:latin typeface="Consolas"/>
              </a:rPr>
              <a:t>decimal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 err="1">
                <a:solidFill>
                  <a:srgbClr val="DCDCAA"/>
                </a:solidFill>
                <a:latin typeface="Consolas"/>
              </a:rPr>
              <a:t>GetUnitPrice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>
                <a:solidFill>
                  <a:srgbClr val="9CDCFE"/>
                </a:solidFill>
                <a:latin typeface="Consolas"/>
              </a:rPr>
              <a:t>quantity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 dirty="0">
                <a:solidFill>
                  <a:srgbClr val="4EC9B0"/>
                </a:solidFill>
                <a:latin typeface="Consolas"/>
              </a:rPr>
              <a:t>List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650" b="0" dirty="0" err="1">
                <a:solidFill>
                  <a:srgbClr val="4EC9B0"/>
                </a:solidFill>
                <a:latin typeface="Consolas"/>
              </a:rPr>
              <a:t>PriceTier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&gt; </a:t>
            </a:r>
            <a:r>
              <a:rPr sz="1650" b="0" dirty="0">
                <a:solidFill>
                  <a:srgbClr val="9CDCFE"/>
                </a:solidFill>
                <a:latin typeface="Consolas"/>
              </a:rPr>
              <a:t>tiers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tiers</a:t>
            </a:r>
            <a:r>
              <a:rPr sz="16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- </a:t>
            </a:r>
            <a:r>
              <a:rPr sz="165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&gt;= </a:t>
            </a:r>
            <a:r>
              <a:rPr sz="165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--)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    </a:t>
            </a:r>
            <a:r>
              <a:rPr sz="1650" b="0" dirty="0">
                <a:solidFill>
                  <a:srgbClr val="C586C0"/>
                </a:solidFill>
                <a:latin typeface="Consolas"/>
              </a:rPr>
              <a:t>if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1650" b="0" dirty="0">
                <a:solidFill>
                  <a:srgbClr val="9CDCFE"/>
                </a:solidFill>
                <a:latin typeface="Consolas"/>
              </a:rPr>
              <a:t>quantity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&gt;= </a:t>
            </a:r>
            <a:r>
              <a:rPr sz="1650" b="0" dirty="0">
                <a:solidFill>
                  <a:srgbClr val="9CDCFE"/>
                </a:solidFill>
                <a:latin typeface="Consolas"/>
              </a:rPr>
              <a:t>tiers 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].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MinQuantity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50" b="0" dirty="0">
                <a:solidFill>
                  <a:srgbClr val="C586C0"/>
                </a:solidFill>
                <a:latin typeface="Consolas"/>
              </a:rPr>
              <a:t>return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>
                <a:solidFill>
                  <a:srgbClr val="9CDCFE"/>
                </a:solidFill>
                <a:latin typeface="Consolas"/>
              </a:rPr>
              <a:t>tiers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i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].</a:t>
            </a:r>
            <a:r>
              <a:rPr sz="1650" b="0" dirty="0" err="1">
                <a:solidFill>
                  <a:srgbClr val="9CDCFE"/>
                </a:solidFill>
                <a:latin typeface="Consolas"/>
              </a:rPr>
              <a:t>UnitPrice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650" b="0" dirty="0">
                <a:solidFill>
                  <a:srgbClr val="C586C0"/>
                </a:solidFill>
                <a:latin typeface="Consolas"/>
              </a:rPr>
              <a:t>throw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50" b="0" dirty="0" err="1">
                <a:solidFill>
                  <a:srgbClr val="DCDCAA"/>
                </a:solidFill>
                <a:latin typeface="Consolas"/>
              </a:rPr>
              <a:t>InvalidOperationException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 dirty="0">
                <a:solidFill>
                  <a:srgbClr val="CE9178"/>
                </a:solidFill>
                <a:latin typeface="Consolas"/>
              </a:rPr>
              <a:t>"No matching tier"</a:t>
            </a:r>
            <a:r>
              <a:rPr sz="1650" b="0" dirty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08284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9"/>
    </mc:Choice>
    <mc:Fallback xmlns="">
      <p:transition spd="slow" advTm="89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6E534-2321-E6B5-E691-9AB338DCB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6C2355-8446-883D-B899-34E890BCC54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C9A648F-7A60-3842-00C4-841AAB0F2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737A8A6-65DD-F1BE-0362-E180A88C87B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sp>
        <p:nvSpPr>
          <p:cNvPr id="7" name="Code"/>
          <p:cNvSpPr/>
          <p:nvPr/>
        </p:nvSpPr>
        <p:spPr>
          <a:xfrm>
            <a:off x="1608629" y="1863090"/>
            <a:ext cx="7481220" cy="38633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class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UnitPriceBenchmark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/>
                </a:solidFill>
                <a:latin typeface="Consolas"/>
              </a:rPr>
              <a:t>Params</a:t>
            </a:r>
            <a:r>
              <a:rPr sz="1350" b="0">
                <a:solidFill>
                  <a:srgbClr val="D4D4D4"/>
                </a:solidFill>
                <a:latin typeface="Consolas"/>
              </a:rPr>
              <a:t>(</a:t>
            </a:r>
            <a:r>
              <a:rPr sz="1350" b="0">
                <a:solidFill>
                  <a:srgbClr val="B5CEA8"/>
                </a:solidFill>
                <a:latin typeface="Consolas"/>
              </a:rPr>
              <a:t>3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B5CEA8"/>
                </a:solidFill>
                <a:latin typeface="Consolas"/>
              </a:rPr>
              <a:t>10</a:t>
            </a:r>
            <a:r>
              <a:rPr sz="1350" b="0">
                <a:solidFill>
                  <a:srgbClr val="D4D4D4"/>
                </a:solidFill>
                <a:latin typeface="Consolas"/>
              </a:rPr>
              <a:t>, </a:t>
            </a:r>
            <a:r>
              <a:rPr sz="1350" b="0">
                <a:solidFill>
                  <a:srgbClr val="B5CEA8"/>
                </a:solidFill>
                <a:latin typeface="Consolas"/>
              </a:rPr>
              <a:t>100</a:t>
            </a:r>
            <a:r>
              <a:rPr sz="1350" b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/>
                </a:solidFill>
                <a:latin typeface="Consolas"/>
              </a:rPr>
              <a:t>    </a:t>
            </a:r>
            <a:r>
              <a:rPr sz="135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569CD6"/>
                </a:solidFill>
                <a:latin typeface="Consolas"/>
              </a:rPr>
              <a:t>int</a:t>
            </a:r>
            <a:r>
              <a:rPr sz="1350" b="0">
                <a:solidFill>
                  <a:srgbClr val="D4D4D4"/>
                </a:solidFill>
                <a:latin typeface="Consolas"/>
              </a:rPr>
              <a:t> </a:t>
            </a:r>
            <a:r>
              <a:rPr sz="1350" b="0">
                <a:solidFill>
                  <a:srgbClr val="4EC9B0"/>
                </a:solidFill>
                <a:latin typeface="Consolas"/>
              </a:rPr>
              <a:t>TierCount</a:t>
            </a:r>
            <a:r>
              <a:rPr sz="1350" b="0">
                <a:solidFill>
                  <a:srgbClr val="D4D4D4"/>
                </a:solidFill>
                <a:latin typeface="Consolas"/>
              </a:rPr>
              <a:t> { </a:t>
            </a:r>
            <a:r>
              <a:rPr sz="1350" b="0">
                <a:solidFill>
                  <a:srgbClr val="569CD6"/>
                </a:solidFill>
                <a:latin typeface="Consolas"/>
              </a:rPr>
              <a:t>get</a:t>
            </a:r>
            <a:r>
              <a:rPr sz="1350" b="0">
                <a:solidFill>
                  <a:srgbClr val="D4D4D4"/>
                </a:solidFill>
                <a:latin typeface="Consolas"/>
              </a:rPr>
              <a:t>; </a:t>
            </a:r>
            <a:r>
              <a:rPr sz="1350" b="0">
                <a:solidFill>
                  <a:srgbClr val="569CD6"/>
                </a:solidFill>
                <a:latin typeface="Consolas"/>
              </a:rPr>
              <a:t>set</a:t>
            </a:r>
            <a:r>
              <a:rPr sz="1350" b="0">
                <a:solidFill>
                  <a:srgbClr val="D4D4D4"/>
                </a:solidFill>
                <a:latin typeface="Consolas"/>
              </a:rPr>
              <a:t>;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6A9955">
                    <a:alpha val="45000"/>
                  </a:srgbClr>
                </a:solidFill>
                <a:latin typeface="Consolas"/>
              </a:rPr>
              <a:t>// private fields + GlobalSetup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Baseline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true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UnitPriceLinq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_quantity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_tiers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SortedForLoop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UnitPriceSorted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_quantity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_tiersSortedAscending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[</a:t>
            </a:r>
            <a:r>
              <a:rPr sz="1350" b="0">
                <a:solidFill>
                  <a:srgbClr val="4EC9B0">
                    <a:alpha val="45000"/>
                  </a:srgbClr>
                </a:solidFill>
                <a:latin typeface="Consolas"/>
              </a:rPr>
              <a:t>Benchmark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569CD6">
                    <a:alpha val="45000"/>
                  </a:srgbClr>
                </a:solidFill>
                <a:latin typeface="Consolas"/>
              </a:rPr>
              <a:t>decimal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PriceTable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() =&gt; 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_priceTable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350" b="0">
                <a:solidFill>
                  <a:srgbClr val="DCDCAA">
                    <a:alpha val="45000"/>
                  </a:srgbClr>
                </a:solidFill>
                <a:latin typeface="Consolas"/>
              </a:rPr>
              <a:t>GetUnitPrice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350" b="0">
                <a:solidFill>
                  <a:srgbClr val="9CDCFE">
                    <a:alpha val="45000"/>
                  </a:srgbClr>
                </a:solidFill>
                <a:latin typeface="Consolas"/>
              </a:rPr>
              <a:t>_quantity</a:t>
            </a: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78191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"/>
    </mc:Choice>
    <mc:Fallback xmlns="">
      <p:transition spd="slow" advTm="78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B8CF65-E3A1-63CE-0A5B-1964D08B3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AF151B2-AF9B-BCAB-D4B8-DE44FC79FDC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BFAE462-5E60-22A5-9258-6F70FC847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Online Store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EBA153C-BF9D-73A8-8DB1-1B73A150DA6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Back to the Online Store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B93D90-3D49-ACBD-4E6A-F9FEEE1851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004" y="2339525"/>
            <a:ext cx="7297168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2743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38"/>
    </mc:Choice>
    <mc:Fallback xmlns="">
      <p:transition spd="slow" advTm="138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05AAE-6D38-DDDF-F654-000815C9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DE0BA7-FCCE-03EA-1875-94C83F22C4F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0152345-2689-6977-2EDD-B875F85F0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9F252FE-B43E-FA21-B945-7F30303FE0E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1811A3CD-B7BC-1EC6-AA8F-C87CE86D9D6F}"/>
              </a:ext>
            </a:extLst>
          </p:cNvPr>
          <p:cNvSpPr txBox="1"/>
          <p:nvPr/>
        </p:nvSpPr>
        <p:spPr>
          <a:xfrm>
            <a:off x="534988" y="1844149"/>
            <a:ext cx="9691854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have PCs that use your Software.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notice that they crash sometimes and are not sure why.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Your idea is that the PCs might get too hot, so you start measuring the temperature of the CPU during each phase of your program.</a:t>
            </a: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0553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5"/>
    </mc:Choice>
    <mc:Fallback xmlns="">
      <p:transition spd="slow" advTm="95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0F8F0-73B4-757B-D3A6-E7027A097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A71478-82BA-878D-D7F0-4AB53B949DB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E22573C-D673-E0BA-5FC0-4B3E2701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4CC9075-98FC-65B4-B79E-ED12A10499A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297D02F8-9FC4-56BB-7BCF-04EBD8FAADD8}"/>
              </a:ext>
            </a:extLst>
          </p:cNvPr>
          <p:cNvSpPr txBox="1"/>
          <p:nvPr/>
        </p:nvSpPr>
        <p:spPr>
          <a:xfrm>
            <a:off x="534988" y="1844149"/>
            <a:ext cx="9691854" cy="2487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have PCs that use your Software.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notice that they crash sometimes and are not sure why.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Your idea is that the PCs might get too hot, so you start measuring the temperature of the CPU during each phase of your program.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Then after a few weeks of the readings being in the Program, you get a large collection of log files back and you now have to analyze them.</a:t>
            </a:r>
          </a:p>
        </p:txBody>
      </p:sp>
    </p:spTree>
    <p:extLst>
      <p:ext uri="{BB962C8B-B14F-4D97-AF65-F5344CB8AC3E}">
        <p14:creationId xmlns:p14="http://schemas.microsoft.com/office/powerpoint/2010/main" val="2055184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"/>
    </mc:Choice>
    <mc:Fallback xmlns="">
      <p:transition spd="slow" advTm="78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1AAF2-F707-1357-AFAC-6E5CED256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ECC3EB-ED5C-4D3B-70FD-D1822681D4F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E12C9A0-588A-0D1F-3871-1953B4974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C0D8A4C-3216-25B4-D080-2762D0052DB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9AA1A626-BE25-502F-66F5-C561E0A4D840}"/>
              </a:ext>
            </a:extLst>
          </p:cNvPr>
          <p:cNvSpPr txBox="1"/>
          <p:nvPr/>
        </p:nvSpPr>
        <p:spPr>
          <a:xfrm>
            <a:off x="534988" y="1844149"/>
            <a:ext cx="9691854" cy="3872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have PCs that use your Software.</a:t>
            </a:r>
            <a:b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noProof="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 notice that they crash sometimes and are not sure why.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Your idea is that the PCs might get too hot, so you start measuring the temperature of the CPU during each phase of your program.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Then after a few weeks of the readings being in the Program, you get a large collection of log files back and you now have to analyze them.</a:t>
            </a:r>
          </a:p>
          <a:p>
            <a:pPr>
              <a:lnSpc>
                <a:spcPts val="2700"/>
              </a:lnSpc>
            </a:pPr>
            <a:endParaRPr lang="en-US" sz="1800" noProof="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As the phases have different amount of work to do, you decide to measure how many Spikes each phase has. You define a Spike as every reading that is 10°C above the average of the phase for this PC. </a:t>
            </a:r>
          </a:p>
        </p:txBody>
      </p:sp>
    </p:spTree>
    <p:extLst>
      <p:ext uri="{BB962C8B-B14F-4D97-AF65-F5344CB8AC3E}">
        <p14:creationId xmlns:p14="http://schemas.microsoft.com/office/powerpoint/2010/main" val="3834148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0"/>
    </mc:Choice>
    <mc:Fallback xmlns="">
      <p:transition spd="slow" advTm="70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7E095-6C57-6C9F-A52A-734E6F9C9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5D0C98A-02C6-E0C9-C349-F74FFDBBD3A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DF4F459-D073-CFC4-C77D-FD5CA0E69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C42449A-9334-8403-EE70-8AEC736058E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noProof="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</p:spTree>
    <p:extLst>
      <p:ext uri="{BB962C8B-B14F-4D97-AF65-F5344CB8AC3E}">
        <p14:creationId xmlns:p14="http://schemas.microsoft.com/office/powerpoint/2010/main" val="4158468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2"/>
    </mc:Choice>
    <mc:Fallback xmlns="">
      <p:transition spd="slow" advTm="82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B2EB8-7BAC-DE7F-6BC0-4A18919A6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B7A1D0D-AA3B-8D44-C16A-46605C98788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81BA2B6-049A-FB38-7ED7-9553D9DEA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9D20CC3-C401-3EEB-F42E-BFC1B376057B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2019300"/>
            <a:ext cx="9565485" cy="355091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569CD6"/>
                </a:solidFill>
                <a:latin typeface="Consolas"/>
              </a:rPr>
              <a:t>int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DCDCAA"/>
                </a:solidFill>
                <a:latin typeface="Consolas"/>
              </a:rPr>
              <a:t>Linq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4EC9B0"/>
                </a:solidFill>
                <a:latin typeface="Consolas"/>
              </a:rPr>
              <a:t>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var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] + </a:t>
            </a:r>
            <a:r>
              <a:rPr sz="19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44512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2"/>
    </mc:Choice>
    <mc:Fallback xmlns="">
      <p:transition spd="slow" advTm="142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4F83F-8293-E252-6606-9E56E4E2C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BA593F7-9176-A87F-1BC2-B2490D06830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8954063-8620-BBDF-D256-378202F92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9AF688B-A8B1-CF4E-CC44-A2EE497181A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D8C9B52-65DB-AAE0-DB11-EBD1185C80F7}"/>
              </a:ext>
            </a:extLst>
          </p:cNvPr>
          <p:cNvSpPr txBox="1"/>
          <p:nvPr/>
        </p:nvSpPr>
        <p:spPr>
          <a:xfrm>
            <a:off x="6971564" y="2378026"/>
            <a:ext cx="3566339" cy="14484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80,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596899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4"/>
    </mc:Choice>
    <mc:Fallback xmlns="">
      <p:transition spd="slow" advTm="334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9F2C-186A-F4F9-4BEC-709331646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A45650-50E6-5341-BEBE-A3351B4169C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524DBD-7194-531A-F3E5-BCC645170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29EE1C-ECEA-DDFC-3ED2-472E3ACDE59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EE22AC7-A6D3-BA6C-2144-056DE8A9548C}"/>
              </a:ext>
            </a:extLst>
          </p:cNvPr>
          <p:cNvSpPr txBox="1"/>
          <p:nvPr/>
        </p:nvSpPr>
        <p:spPr>
          <a:xfrm>
            <a:off x="6971564" y="2378026"/>
            <a:ext cx="3566339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80,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Averages: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40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42.5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55 °C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 =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0787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9"/>
    </mc:Choice>
    <mc:Fallback xmlns="">
      <p:transition spd="slow" advTm="109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59F2C-186A-F4F9-4BEC-709331646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6A45650-50E6-5341-BEBE-A3351B4169C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D524DBD-7194-531A-F3E5-BCC645170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E29EE1C-ECEA-DDFC-3ED2-472E3ACDE59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4EE22AC7-A6D3-BA6C-2144-056DE8A9548C}"/>
              </a:ext>
            </a:extLst>
          </p:cNvPr>
          <p:cNvSpPr txBox="1"/>
          <p:nvPr/>
        </p:nvSpPr>
        <p:spPr>
          <a:xfrm>
            <a:off x="6971564" y="2378026"/>
            <a:ext cx="3566339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80,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Averages: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40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42.5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55 °C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07875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9"/>
    </mc:Choice>
    <mc:Fallback xmlns="">
      <p:transition spd="slow" advTm="459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B4660-895A-4867-E7BA-C3EC29699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10D5664-E960-7A88-D395-2720D8383C8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86BA275-1117-6697-17BE-EAB13F07C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08ADFDA-F3FE-579A-779F-D755F015A96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2: Processing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3D218F9B-BD67-B3D5-3012-F34613F9C7BF}"/>
              </a:ext>
            </a:extLst>
          </p:cNvPr>
          <p:cNvSpPr txBox="1"/>
          <p:nvPr/>
        </p:nvSpPr>
        <p:spPr>
          <a:xfrm>
            <a:off x="6971564" y="2378026"/>
            <a:ext cx="3566339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35, 35, 40, 40,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40, 45, 40, 45,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50, 55, </a:t>
            </a:r>
            <a:r>
              <a:rPr lang="en-US" sz="1800" b="1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80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, 55, …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Averages: 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Startup: 40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Idle: 42.5 °C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Processing: 55 °C</a:t>
            </a:r>
          </a:p>
        </p:txBody>
      </p:sp>
      <p:sp>
        <p:nvSpPr>
          <p:cNvPr id="7" name="Code"/>
          <p:cNvSpPr/>
          <p:nvPr/>
        </p:nvSpPr>
        <p:spPr>
          <a:xfrm>
            <a:off x="548640" y="2606040"/>
            <a:ext cx="6192956" cy="2377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2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2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DCDCAA">
                    <a:alpha val="45000"/>
                  </a:srgbClr>
                </a:solidFill>
                <a:latin typeface="Consolas"/>
              </a:rPr>
              <a:t>Average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2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r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2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Key</a:t>
            </a:r>
            <a:r>
              <a:rPr sz="1200" b="0">
                <a:solidFill>
                  <a:srgbClr val="D4D4D4"/>
                </a:solidFill>
                <a:latin typeface="Consolas"/>
              </a:rPr>
              <a:t>,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2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4160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4"/>
    </mc:Choice>
    <mc:Fallback xmlns="">
      <p:transition spd="slow" advTm="184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4068D0-9AE5-27A0-D38B-2FE768D92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BF9538C-E535-143B-D798-B1E03F023BE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F2AE014-5233-86DD-7596-2BBF2C86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3BBE1BB-4F71-56AB-95DB-8A64AD6C72E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do better?</a:t>
            </a: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4946C964-7A78-BA2C-5525-C1255AA03380}"/>
              </a:ext>
            </a:extLst>
          </p:cNvPr>
          <p:cNvSpPr txBox="1"/>
          <p:nvPr/>
        </p:nvSpPr>
        <p:spPr>
          <a:xfrm>
            <a:off x="534988" y="1844149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could try getting rid of Linq again</a:t>
            </a:r>
          </a:p>
        </p:txBody>
      </p:sp>
    </p:spTree>
    <p:extLst>
      <p:ext uri="{BB962C8B-B14F-4D97-AF65-F5344CB8AC3E}">
        <p14:creationId xmlns:p14="http://schemas.microsoft.com/office/powerpoint/2010/main" val="6009015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12"/>
    </mc:Choice>
    <mc:Fallback xmlns="">
      <p:transition spd="slow" advTm="412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38B1-E5A8-4B09-A506-55469269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C77D32-B500-8073-C39C-35E1400646C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D342501-671B-3F80-762A-16AC118C3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E8C9EA-2AB4-FC3F-5EAA-0C800206FCC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1896656" y="1851660"/>
            <a:ext cx="6905167" cy="1051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5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5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));</a:t>
            </a:r>
          </a:p>
        </p:txBody>
      </p:sp>
      <p:sp>
        <p:nvSpPr>
          <p:cNvPr id="8" name="Code"/>
          <p:cNvSpPr/>
          <p:nvPr/>
        </p:nvSpPr>
        <p:spPr>
          <a:xfrm>
            <a:off x="849287" y="3086100"/>
            <a:ext cx="8999905" cy="2651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C586C0"/>
                </a:solidFill>
                <a:latin typeface="Consolas"/>
              </a:rPr>
              <a:t>in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]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 + 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] =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 + </a:t>
            </a:r>
            <a:r>
              <a:rPr sz="150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Value</a:t>
            </a:r>
            <a:r>
              <a:rPr sz="1500" b="0">
                <a:solidFill>
                  <a:srgbClr val="D4D4D4"/>
                </a:solidFill>
                <a:latin typeface="Consolas"/>
              </a:rPr>
              <a:t> /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]);</a:t>
            </a:r>
          </a:p>
        </p:txBody>
      </p:sp>
    </p:spTree>
    <p:extLst>
      <p:ext uri="{BB962C8B-B14F-4D97-AF65-F5344CB8AC3E}">
        <p14:creationId xmlns:p14="http://schemas.microsoft.com/office/powerpoint/2010/main" val="3424866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96"/>
    </mc:Choice>
    <mc:Fallback xmlns="">
      <p:transition spd="slow" advTm="296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38B1-E5A8-4B09-A506-55469269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C77D32-B500-8073-C39C-35E1400646C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D342501-671B-3F80-762A-16AC118C32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6E8C9EA-2AB4-FC3F-5EAA-0C800206FCC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2238796" y="1851660"/>
            <a:ext cx="6220886" cy="11582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3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3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] + </a:t>
            </a:r>
            <a:r>
              <a:rPr sz="13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3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r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.</a:t>
            </a:r>
            <a:r>
              <a:rPr sz="13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Key</a:t>
            </a:r>
            <a:r>
              <a:rPr sz="130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300" b="0">
                <a:solidFill>
                  <a:srgbClr val="D4D4D4"/>
                </a:solidFill>
                <a:latin typeface="Consolas"/>
              </a:rPr>
              <a:t>());</a:t>
            </a:r>
          </a:p>
        </p:txBody>
      </p:sp>
      <p:sp>
        <p:nvSpPr>
          <p:cNvPr id="8" name="Code"/>
          <p:cNvSpPr/>
          <p:nvPr/>
        </p:nvSpPr>
        <p:spPr>
          <a:xfrm>
            <a:off x="1694164" y="3192779"/>
            <a:ext cx="7310150" cy="25450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69CD6"/>
                </a:solidFill>
                <a:latin typeface="Consolas"/>
              </a:rPr>
              <a:t>var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 = </a:t>
            </a:r>
            <a:r>
              <a:rPr sz="1300" b="0">
                <a:solidFill>
                  <a:srgbClr val="569CD6"/>
                </a:solidFill>
                <a:latin typeface="Consolas"/>
              </a:rPr>
              <a:t>new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30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b="0">
                <a:solidFill>
                  <a:srgbClr val="569CD6"/>
                </a:solidFill>
                <a:latin typeface="Consolas"/>
              </a:rPr>
              <a:t>int</a:t>
            </a:r>
            <a:r>
              <a:rPr sz="13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569CD6"/>
                </a:solidFill>
                <a:latin typeface="Consolas"/>
              </a:rPr>
              <a:t>var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C586C0"/>
                </a:solidFill>
                <a:latin typeface="Consolas"/>
              </a:rPr>
              <a:t>in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</a:t>
            </a:r>
            <a:r>
              <a:rPr sz="1300" b="0">
                <a:solidFill>
                  <a:srgbClr val="C586C0"/>
                </a:solidFill>
                <a:latin typeface="Consolas"/>
              </a:rPr>
              <a:t>if</a:t>
            </a:r>
            <a:r>
              <a:rPr sz="130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3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3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] + </a:t>
            </a:r>
            <a:r>
              <a:rPr sz="13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3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] =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30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300" b="0">
                <a:solidFill>
                  <a:srgbClr val="D4D4D4"/>
                </a:solidFill>
                <a:latin typeface="Consolas"/>
              </a:rPr>
              <a:t>.</a:t>
            </a:r>
            <a:r>
              <a:rPr sz="13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300" b="0">
                <a:solidFill>
                  <a:srgbClr val="D4D4D4"/>
                </a:solidFill>
                <a:latin typeface="Consolas"/>
              </a:rPr>
              <a:t>) + </a:t>
            </a:r>
            <a:r>
              <a:rPr sz="1300" b="0">
                <a:solidFill>
                  <a:srgbClr val="B5CEA8"/>
                </a:solidFill>
                <a:latin typeface="Consolas"/>
              </a:rPr>
              <a:t>1</a:t>
            </a:r>
            <a:r>
              <a:rPr sz="13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30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30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424866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91"/>
    </mc:Choice>
    <mc:Fallback xmlns="">
      <p:transition spd="slow" advTm="19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1EAFE-5C02-06D7-977C-555154777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D9D36D2-4C61-652B-565B-497FE14F57B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4AC2070-BA65-D366-79A2-24335879B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4EE0345-2E1E-407F-AAEA-F9D829C090E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D5D572-1933-67B9-CDEB-F47091854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97" y="2679878"/>
            <a:ext cx="9179843" cy="730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5247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5"/>
    </mc:Choice>
    <mc:Fallback xmlns="">
      <p:transition spd="slow" advTm="165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BB422-5EC7-E670-9B76-190734757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7760FC5-1914-D1FC-FA4E-7539AF423157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62A8034-F25E-9757-75EF-2FCC4FC21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819BE9B-2A3A-74A9-3E29-CA8DD973C36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Linq vs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NoLinq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2" name="Textfeld 7">
            <a:extLst>
              <a:ext uri="{FF2B5EF4-FFF2-40B4-BE49-F238E27FC236}">
                <a16:creationId xmlns:a16="http://schemas.microsoft.com/office/drawing/2014/main" id="{A03EF9C9-FBF0-0B58-A4D9-AC525A23B616}"/>
              </a:ext>
            </a:extLst>
          </p:cNvPr>
          <p:cNvSpPr txBox="1"/>
          <p:nvPr/>
        </p:nvSpPr>
        <p:spPr>
          <a:xfrm>
            <a:off x="534988" y="1844149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 should we always write performance critical code by hand, not using Linq?</a:t>
            </a:r>
          </a:p>
        </p:txBody>
      </p:sp>
    </p:spTree>
    <p:extLst>
      <p:ext uri="{BB962C8B-B14F-4D97-AF65-F5344CB8AC3E}">
        <p14:creationId xmlns:p14="http://schemas.microsoft.com/office/powerpoint/2010/main" val="1978677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70"/>
    </mc:Choice>
    <mc:Fallback xmlns="">
      <p:transition spd="slow" advTm="170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ECA9B-330C-25DB-5126-DED7B900EA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A18C073-5725-2F86-E9CC-B1EE4AF0EF4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8E94BA0-0481-EA3B-E4D9-83368576C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4902D49-F37A-1A35-D105-F3521E18B7FC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2019300"/>
            <a:ext cx="9565485" cy="355091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569CD6"/>
                </a:solidFill>
                <a:latin typeface="Consolas"/>
              </a:rPr>
              <a:t>int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DCDCAA"/>
                </a:solidFill>
                <a:latin typeface="Consolas"/>
              </a:rPr>
              <a:t>Linq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4EC9B0"/>
                </a:solidFill>
                <a:latin typeface="Consolas"/>
              </a:rPr>
              <a:t>List</a:t>
            </a:r>
            <a:r>
              <a:rPr sz="1900" b="0">
                <a:solidFill>
                  <a:srgbClr val="D4D4D4"/>
                </a:solidFill>
                <a:latin typeface="Consolas"/>
              </a:rPr>
              <a:t>&lt;</a:t>
            </a:r>
            <a:r>
              <a:rPr sz="19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9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569CD6"/>
                </a:solidFill>
                <a:latin typeface="Consolas"/>
              </a:rPr>
              <a:t>var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 =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Average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</a:t>
            </a:r>
            <a:r>
              <a:rPr sz="19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900" b="0">
                <a:solidFill>
                  <a:srgbClr val="D4D4D4"/>
                </a:solidFill>
                <a:latin typeface="Consolas"/>
              </a:rPr>
              <a:t> </a:t>
            </a:r>
            <a:r>
              <a:rPr sz="1900" b="0">
                <a:solidFill>
                  <a:srgbClr val="9CDCFE"/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Where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/>
                </a:solidFill>
                <a:latin typeface="Consolas"/>
              </a:rPr>
              <a:t>[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] + </a:t>
            </a:r>
            <a:r>
              <a:rPr sz="19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Key</a:t>
            </a:r>
            <a:r>
              <a:rPr sz="1900" b="0">
                <a:solidFill>
                  <a:srgbClr val="D4D4D4"/>
                </a:solidFill>
                <a:latin typeface="Consolas"/>
              </a:rPr>
              <a:t>,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g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DCDCAA"/>
                </a:solidFill>
                <a:latin typeface="Consolas"/>
              </a:rPr>
              <a:t>Count</a:t>
            </a:r>
            <a:r>
              <a:rPr sz="1900" b="0">
                <a:solidFill>
                  <a:srgbClr val="D4D4D4"/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32314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2"/>
    </mc:Choice>
    <mc:Fallback xmlns="">
      <p:transition spd="slow" advTm="162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F63CB-9D34-AE28-984A-FCB984D38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1694D9-461D-5D61-C464-ED4BA1AA4C3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3D7AEC91-8449-2C08-23C6-B5536C5874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F334C5-F82C-478F-E9C4-264E046C91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sp>
        <p:nvSpPr>
          <p:cNvPr id="7" name="Code"/>
          <p:cNvSpPr/>
          <p:nvPr/>
        </p:nvSpPr>
        <p:spPr>
          <a:xfrm>
            <a:off x="566497" y="2019300"/>
            <a:ext cx="9565485" cy="355091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9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Linq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9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Average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9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90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1900" b="0">
                <a:solidFill>
                  <a:srgbClr val="D4D4D4"/>
                </a:solidFill>
                <a:latin typeface="Consolas"/>
              </a:rPr>
              <a:t>(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/>
                </a:solidFill>
                <a:latin typeface="Consolas"/>
              </a:rPr>
              <a:t>r</a:t>
            </a:r>
            <a:r>
              <a:rPr sz="1900" b="0">
                <a:solidFill>
                  <a:srgbClr val="D4D4D4"/>
                </a:solidFill>
                <a:latin typeface="Consolas"/>
              </a:rPr>
              <a:t>.</a:t>
            </a:r>
            <a:r>
              <a:rPr sz="19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9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ToDictionary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Key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900" b="0">
                <a:solidFill>
                  <a:srgbClr val="9CDCFE">
                    <a:alpha val="45000"/>
                  </a:srgbClr>
                </a:solidFill>
                <a:latin typeface="Consolas"/>
              </a:rPr>
              <a:t>g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900" b="0">
                <a:solidFill>
                  <a:srgbClr val="DCDCAA">
                    <a:alpha val="45000"/>
                  </a:srgbClr>
                </a:solidFill>
                <a:latin typeface="Consolas"/>
              </a:rPr>
              <a:t>Count</a:t>
            </a: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001389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6"/>
    </mc:Choice>
    <mc:Fallback xmlns="">
      <p:transition spd="slow" advTm="166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1B3A4-B592-C85F-7157-3CA1A1994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12151B4-6193-1A49-3E15-1FA3BA31A44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986D799-AD6B-61C8-F476-99FF6D606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933CB6-6DE5-341A-9773-255C52CDD0D3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03D7534-A780-FB68-A855-70765994F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872063"/>
              </p:ext>
            </p:extLst>
          </p:nvPr>
        </p:nvGraphicFramePr>
        <p:xfrm>
          <a:off x="5960823" y="2916993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Readings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[35, 35, 40, 40,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[40, 45, 40, 45,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[50, 55, 80, 55,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sp>
        <p:nvSpPr>
          <p:cNvPr id="8" name="Code"/>
          <p:cNvSpPr/>
          <p:nvPr/>
        </p:nvSpPr>
        <p:spPr>
          <a:xfrm>
            <a:off x="548640" y="3303270"/>
            <a:ext cx="5124640" cy="7086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DCDCAA"/>
                </a:solidFill>
                <a:latin typeface="Consolas"/>
              </a:rPr>
              <a:t>GroupBy</a:t>
            </a:r>
            <a:r>
              <a:rPr sz="2250" b="0">
                <a:solidFill>
                  <a:srgbClr val="D4D4D4"/>
                </a:solidFill>
                <a:latin typeface="Consolas"/>
              </a:rPr>
              <a:t>(</a:t>
            </a:r>
            <a:r>
              <a:rPr sz="2250" b="0">
                <a:solidFill>
                  <a:srgbClr val="9CDCFE"/>
                </a:solidFill>
                <a:latin typeface="Consolas"/>
              </a:rPr>
              <a:t>r</a:t>
            </a:r>
            <a:r>
              <a:rPr sz="22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2250" b="0">
                <a:solidFill>
                  <a:srgbClr val="9CDCFE"/>
                </a:solidFill>
                <a:latin typeface="Consolas"/>
              </a:rPr>
              <a:t>r</a:t>
            </a:r>
            <a:r>
              <a:rPr sz="2250" b="0">
                <a:solidFill>
                  <a:srgbClr val="D4D4D4"/>
                </a:solidFill>
                <a:latin typeface="Consolas"/>
              </a:rPr>
              <a:t>.</a:t>
            </a:r>
            <a:r>
              <a:rPr sz="2250" b="0">
                <a:solidFill>
                  <a:srgbClr val="9CDCFE"/>
                </a:solidFill>
                <a:latin typeface="Consolas"/>
              </a:rPr>
              <a:t>Phase</a:t>
            </a:r>
            <a:r>
              <a:rPr sz="225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564118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8"/>
    </mc:Choice>
    <mc:Fallback xmlns="">
      <p:transition spd="slow" advTm="168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04BD3-1A2C-8227-AA93-78570A025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B0B7F65-2CBD-AE40-5521-0BDFBF78C7B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1F154565-0177-2EAA-9715-4B00A91C0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7B6E50-823B-F72E-23B1-BE8EC20287E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sp>
        <p:nvSpPr>
          <p:cNvPr id="7" name="Code"/>
          <p:cNvSpPr/>
          <p:nvPr/>
        </p:nvSpPr>
        <p:spPr>
          <a:xfrm>
            <a:off x="563006" y="2636520"/>
            <a:ext cx="9572467" cy="23164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946067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69"/>
    </mc:Choice>
    <mc:Fallback xmlns="">
      <p:transition spd="slow" advTm="169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FAFC6-85E8-BC14-BE16-C7C4E659C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DDB96C1-7445-8503-5465-EFB9A7B6DB5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F811B28-DFCE-EE7A-8082-A5D602628D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A8BF3CB-21B4-C8F8-82ED-0C0A473C055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Lets take a closer look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DF60B0-35F7-E04C-38CE-D2417C0E87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647793"/>
              </p:ext>
            </p:extLst>
          </p:nvPr>
        </p:nvGraphicFramePr>
        <p:xfrm>
          <a:off x="3318994" y="4190999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Readings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[35, 35, 40, 40,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[40, 45, 40, 45,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[50, 55, 80, 55,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42230B5-AD56-3F9B-ACC2-9447CB662D5F}"/>
              </a:ext>
            </a:extLst>
          </p:cNvPr>
          <p:cNvCxnSpPr/>
          <p:nvPr/>
        </p:nvCxnSpPr>
        <p:spPr>
          <a:xfrm flipH="1">
            <a:off x="3256388" y="4099559"/>
            <a:ext cx="4175861" cy="16662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AEE87CD-279F-A373-ABE7-9E7077AEBEA4}"/>
              </a:ext>
            </a:extLst>
          </p:cNvPr>
          <p:cNvCxnSpPr>
            <a:cxnSpLocks/>
          </p:cNvCxnSpPr>
          <p:nvPr/>
        </p:nvCxnSpPr>
        <p:spPr>
          <a:xfrm>
            <a:off x="3318994" y="4099559"/>
            <a:ext cx="4050650" cy="166624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de"/>
          <p:cNvSpPr/>
          <p:nvPr/>
        </p:nvSpPr>
        <p:spPr>
          <a:xfrm>
            <a:off x="1135567" y="1844040"/>
            <a:ext cx="8427344" cy="207264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4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C586C0"/>
                </a:solidFill>
                <a:latin typeface="Consolas"/>
              </a:rPr>
              <a:t>foreach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140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C586C0"/>
                </a:solidFill>
                <a:latin typeface="Consolas"/>
              </a:rPr>
              <a:t>in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readings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sums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) + 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Celsius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40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counts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reading</a:t>
            </a:r>
            <a:r>
              <a:rPr sz="140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400" b="0" dirty="0" err="1">
                <a:solidFill>
                  <a:srgbClr val="9CDCFE"/>
                </a:solidFill>
                <a:latin typeface="Consolas"/>
              </a:rPr>
              <a:t>Phase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) + </a:t>
            </a:r>
            <a:r>
              <a:rPr sz="14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140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61AE2717-79B8-FC9C-94C7-30969DA00A41}"/>
              </a:ext>
            </a:extLst>
          </p:cNvPr>
          <p:cNvSpPr txBox="1"/>
          <p:nvPr/>
        </p:nvSpPr>
        <p:spPr>
          <a:xfrm>
            <a:off x="7652094" y="4727815"/>
            <a:ext cx="2401251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Benchmarking is Hard</a:t>
            </a:r>
          </a:p>
        </p:txBody>
      </p:sp>
    </p:spTree>
    <p:extLst>
      <p:ext uri="{BB962C8B-B14F-4D97-AF65-F5344CB8AC3E}">
        <p14:creationId xmlns:p14="http://schemas.microsoft.com/office/powerpoint/2010/main" val="32534463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4"/>
    </mc:Choice>
    <mc:Fallback xmlns="">
      <p:transition spd="slow" advTm="324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A57EE2-B4D6-9955-E2BE-92A859288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9487F27-6859-BF5A-88F4-ED8269F7D2D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FC14BB9-B8E1-AC5F-0711-30A058091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13D2266-11B6-75F6-7738-065E406CEBF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</p:spTree>
    <p:extLst>
      <p:ext uri="{BB962C8B-B14F-4D97-AF65-F5344CB8AC3E}">
        <p14:creationId xmlns:p14="http://schemas.microsoft.com/office/powerpoint/2010/main" val="348368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81"/>
    </mc:Choice>
    <mc:Fallback xmlns="">
      <p:transition spd="slow" advTm="18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7EF6A-FD00-3A78-6FC2-056CB407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55D916-58C8-BBF5-9539-8F5B1587ECA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9EE3314-ABE2-5A44-2EDC-86DD58069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4D5D68-287E-F348-2F56-135B26DC5BA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  <p:sp>
        <p:nvSpPr>
          <p:cNvPr id="7" name="Code"/>
          <p:cNvSpPr/>
          <p:nvPr/>
        </p:nvSpPr>
        <p:spPr>
          <a:xfrm>
            <a:off x="938313" y="1851660"/>
            <a:ext cx="8821853" cy="38862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, </a:t>
            </a: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650" b="0">
                <a:solidFill>
                  <a:srgbClr val="DCDCAA">
                    <a:alpha val="45000"/>
                  </a:srgbClr>
                </a:solidFill>
                <a:latin typeface="Consolas"/>
              </a:rPr>
              <a:t>FastLinq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TemperatureReading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65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AggregateBy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(</a:t>
            </a:r>
            <a:r>
              <a:rPr sz="1650" b="0">
                <a:solidFill>
                  <a:srgbClr val="4EC9B0"/>
                </a:solidFill>
                <a:latin typeface="Consolas"/>
              </a:rPr>
              <a:t>Sum</a:t>
            </a:r>
            <a:r>
              <a:rPr sz="1650" b="0">
                <a:solidFill>
                  <a:srgbClr val="D4D4D4"/>
                </a:solidFill>
                <a:latin typeface="Consolas"/>
              </a:rPr>
              <a:t>: </a:t>
            </a:r>
            <a:r>
              <a:rPr sz="1650" b="0">
                <a:solidFill>
                  <a:srgbClr val="B5CEA8"/>
                </a:solidFill>
                <a:latin typeface="Consolas"/>
              </a:rPr>
              <a:t>0.0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4EC9B0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: </a:t>
            </a:r>
            <a:r>
              <a:rPr sz="1650" b="0">
                <a:solidFill>
                  <a:srgbClr val="B5CEA8"/>
                </a:solidFill>
                <a:latin typeface="Consolas"/>
              </a:rPr>
              <a:t>0</a:t>
            </a:r>
            <a:r>
              <a:rPr sz="1650" b="0">
                <a:solidFill>
                  <a:srgbClr val="D4D4D4"/>
                </a:solidFill>
                <a:latin typeface="Consolas"/>
              </a:rPr>
              <a:t>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    (</a:t>
            </a:r>
            <a:r>
              <a:rPr sz="1650" b="0">
                <a:solidFill>
                  <a:srgbClr val="9CDCFE"/>
                </a:solidFill>
                <a:latin typeface="Consolas"/>
              </a:rPr>
              <a:t>total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) =&gt; (</a:t>
            </a:r>
            <a:r>
              <a:rPr sz="1650" b="0">
                <a:solidFill>
                  <a:srgbClr val="9CDCFE"/>
                </a:solidFill>
                <a:latin typeface="Consolas"/>
              </a:rPr>
              <a:t>total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Sum</a:t>
            </a:r>
            <a:r>
              <a:rPr sz="1650" b="0">
                <a:solidFill>
                  <a:srgbClr val="D4D4D4"/>
                </a:solidFill>
                <a:latin typeface="Consolas"/>
              </a:rPr>
              <a:t> +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9CDCFE"/>
                </a:solidFill>
                <a:latin typeface="Consolas"/>
              </a:rPr>
              <a:t>total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 + </a:t>
            </a:r>
            <a:r>
              <a:rPr sz="1650" b="0">
                <a:solidFill>
                  <a:srgbClr val="B5CEA8"/>
                </a:solidFill>
                <a:latin typeface="Consolas"/>
              </a:rPr>
              <a:t>1</a:t>
            </a:r>
            <a:r>
              <a:rPr sz="1650" b="0">
                <a:solidFill>
                  <a:srgbClr val="D4D4D4"/>
                </a:solidFill>
                <a:latin typeface="Consolas"/>
              </a:rPr>
              <a:t>))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Key</a:t>
            </a:r>
            <a:r>
              <a:rPr sz="1650" b="0">
                <a:solidFill>
                  <a:srgbClr val="D4D4D4"/>
                </a:solidFill>
                <a:latin typeface="Consolas"/>
              </a:rPr>
              <a:t>,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Value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Sum</a:t>
            </a:r>
            <a:r>
              <a:rPr sz="1650" b="0">
                <a:solidFill>
                  <a:srgbClr val="D4D4D4"/>
                </a:solidFill>
                <a:latin typeface="Consolas"/>
              </a:rPr>
              <a:t> / </a:t>
            </a:r>
            <a:r>
              <a:rPr sz="1650" b="0">
                <a:solidFill>
                  <a:srgbClr val="9CDCFE"/>
                </a:solidFill>
                <a:latin typeface="Consolas"/>
              </a:rPr>
              <a:t>kv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Value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Count</a:t>
            </a:r>
            <a:r>
              <a:rPr sz="165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65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>
                    <a:alpha val="45000"/>
                  </a:srgbClr>
                </a:solidFill>
                <a:latin typeface="Consolas"/>
              </a:rPr>
              <a:t>Where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 &gt; 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r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] + </a:t>
            </a:r>
            <a:r>
              <a:rPr sz="1650" b="0">
                <a:solidFill>
                  <a:srgbClr val="4EC9B0">
                    <a:alpha val="45000"/>
                  </a:srgbClr>
                </a:solidFill>
                <a:latin typeface="Consolas"/>
              </a:rPr>
              <a:t>Spike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50" b="0">
                <a:solidFill>
                  <a:srgbClr val="9CDCFE">
                    <a:alpha val="45000"/>
                  </a:srgbClr>
                </a:solidFill>
                <a:latin typeface="Consolas"/>
              </a:rPr>
              <a:t>Threshold</a:t>
            </a: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CountBy</a:t>
            </a:r>
            <a:r>
              <a:rPr sz="1650" b="0">
                <a:solidFill>
                  <a:srgbClr val="D4D4D4"/>
                </a:solidFill>
                <a:latin typeface="Consolas"/>
              </a:rPr>
              <a:t>(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650" b="0">
                <a:solidFill>
                  <a:srgbClr val="9CDCFE"/>
                </a:solidFill>
                <a:latin typeface="Consolas"/>
              </a:rPr>
              <a:t>r</a:t>
            </a:r>
            <a:r>
              <a:rPr sz="1650" b="0">
                <a:solidFill>
                  <a:srgbClr val="D4D4D4"/>
                </a:solidFill>
                <a:latin typeface="Consolas"/>
              </a:rPr>
              <a:t>.</a:t>
            </a:r>
            <a:r>
              <a:rPr sz="16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5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/>
                </a:solidFill>
                <a:latin typeface="Consolas"/>
              </a:rPr>
              <a:t>        .</a:t>
            </a:r>
            <a:r>
              <a:rPr sz="165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65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8224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5"/>
    </mc:Choice>
    <mc:Fallback xmlns="">
      <p:transition spd="slow" advTm="525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27EF6A-FD00-3A78-6FC2-056CB4070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155D916-58C8-BBF5-9539-8F5B1587ECA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9EE3314-ABE2-5A44-2EDC-86DD58069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4D5D68-287E-F348-2F56-135B26DC5BA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03D7534-A780-FB68-A855-70765994F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872063"/>
              </p:ext>
            </p:extLst>
          </p:nvPr>
        </p:nvGraphicFramePr>
        <p:xfrm>
          <a:off x="927908" y="2880360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Readings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[35, 35, 40, 40,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[40, 45, 40, 45,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[50, 55, 80, 55, …]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graphicFrame>
        <p:nvGraphicFramePr>
          <p:cNvPr id="2" name="Table 6">
            <a:extLst>
              <a:ext uri="{FF2B5EF4-FFF2-40B4-BE49-F238E27FC236}">
                <a16:creationId xmlns:a16="http://schemas.microsoft.com/office/drawing/2014/main" id="{603D7534-A780-FB68-A855-70765994F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872063"/>
              </p:ext>
            </p:extLst>
          </p:nvPr>
        </p:nvGraphicFramePr>
        <p:xfrm>
          <a:off x="5710079" y="2880360"/>
          <a:ext cx="405065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5325">
                  <a:extLst>
                    <a:ext uri="{9D8B030D-6E8A-4147-A177-3AD203B41FA5}">
                      <a16:colId xmlns:a16="http://schemas.microsoft.com/office/drawing/2014/main" val="4288909604"/>
                    </a:ext>
                  </a:extLst>
                </a:gridCol>
                <a:gridCol w="2025325">
                  <a:extLst>
                    <a:ext uri="{9D8B030D-6E8A-4147-A177-3AD203B41FA5}">
                      <a16:colId xmlns:a16="http://schemas.microsoft.com/office/drawing/2014/main" val="412521649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Phase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(Sum, Count)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27003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Starting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(4000, 100)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2990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Idle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(4250, 100)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06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Processing</a:t>
                      </a:r>
                      <a:endParaRPr lang="en-AT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(5500, 100)</a:t>
                      </a:r>
                      <a:endParaRPr lang="en-A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1822910"/>
                  </a:ext>
                </a:extLst>
              </a:tr>
            </a:tbl>
          </a:graphicData>
        </a:graphic>
      </p:graphicFrame>
      <p:sp>
        <p:nvSpPr>
          <p:cNvPr id="4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927908" y="2286000"/>
            <a:ext cx="4050650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GroupBy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8749146-FA63-0AB1-092C-7216D1264B2C}"/>
              </a:ext>
            </a:extLst>
          </p:cNvPr>
          <p:cNvSpPr txBox="1"/>
          <p:nvPr/>
        </p:nvSpPr>
        <p:spPr>
          <a:xfrm>
            <a:off x="5710079" y="2286000"/>
            <a:ext cx="4050650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AggregateBy</a:t>
            </a:r>
          </a:p>
        </p:txBody>
      </p:sp>
    </p:spTree>
    <p:extLst>
      <p:ext uri="{BB962C8B-B14F-4D97-AF65-F5344CB8AC3E}">
        <p14:creationId xmlns:p14="http://schemas.microsoft.com/office/powerpoint/2010/main" val="282249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87"/>
    </mc:Choice>
    <mc:Fallback xmlns="">
      <p:transition spd="slow" advTm="287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F941-48CE-07BE-EA25-8CF36063D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88A11B-4B7B-024E-B9C0-45FFAE23A4D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2413148-8C20-C4EE-A9CB-478357BAF1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BE042AE-0CDD-EA9F-C60D-68137CBA22D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Linq to also produce the optimized version?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9725608-7D0D-C2E8-033B-31D4ED821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258" y="3178711"/>
            <a:ext cx="9116122" cy="88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3511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3"/>
    </mc:Choice>
    <mc:Fallback xmlns="">
      <p:transition spd="slow" advTm="303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A7B44-4AA0-8D69-4BB8-778D5FC7D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74CA3F7-1075-90CC-0FBE-B85E7BDDC8A0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A2B9EB4-17DE-79BC-33CA-10310D588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EEC8529-F7A4-5391-4659-03A5E01C481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Slow Linq vs fast Linq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FF5146A3-F083-86A0-A6E9-184D1F6C277B}"/>
              </a:ext>
            </a:extLst>
          </p:cNvPr>
          <p:cNvSpPr txBox="1"/>
          <p:nvPr/>
        </p:nvSpPr>
        <p:spPr>
          <a:xfrm>
            <a:off x="534988" y="1844149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Most problems can be solved with Linq (almost) as fast as with traditional loops</a:t>
            </a:r>
          </a:p>
        </p:txBody>
      </p:sp>
    </p:spTree>
    <p:extLst>
      <p:ext uri="{BB962C8B-B14F-4D97-AF65-F5344CB8AC3E}">
        <p14:creationId xmlns:p14="http://schemas.microsoft.com/office/powerpoint/2010/main" val="3681049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780"/>
    </mc:Choice>
    <mc:Fallback xmlns="">
      <p:transition spd="slow" advTm="780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CF3F0F-303A-62E8-5BBB-675CABBB5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FB9B34B-B6CA-B280-FB3B-E0789B416C2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58AE5FA-5649-898F-815E-90205842C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BAABE5C-DF82-93C7-9F3D-15164CB68B5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Slow Linq vs fast Linq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0E916910-90BD-C6A4-4C18-4C0A5F33BE72}"/>
              </a:ext>
            </a:extLst>
          </p:cNvPr>
          <p:cNvSpPr txBox="1"/>
          <p:nvPr/>
        </p:nvSpPr>
        <p:spPr>
          <a:xfrm>
            <a:off x="534988" y="1844149"/>
            <a:ext cx="9691854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Most problems can be solved with Linq (almost) as fast as with traditional loops</a:t>
            </a: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b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</a:b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But not all of them</a:t>
            </a:r>
          </a:p>
        </p:txBody>
      </p:sp>
    </p:spTree>
    <p:extLst>
      <p:ext uri="{BB962C8B-B14F-4D97-AF65-F5344CB8AC3E}">
        <p14:creationId xmlns:p14="http://schemas.microsoft.com/office/powerpoint/2010/main" val="3218132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52"/>
    </mc:Choice>
    <mc:Fallback xmlns="">
      <p:transition spd="slow" advTm="352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EABCF-1E39-6724-31F2-C6639E320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699D521-04F9-6F38-279F-EC7F8B446B0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DD07692-EA52-BD3B-E94D-97DC061DF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D556A3C-1C34-1D28-583E-7EC66FD0EB4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3551499" y="1965960"/>
            <a:ext cx="3595481" cy="365759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569CD6"/>
                </a:solidFill>
                <a:latin typeface="Consolas"/>
              </a:rPr>
              <a:t>enum</a:t>
            </a:r>
            <a:r>
              <a:rPr sz="2400" b="0">
                <a:solidFill>
                  <a:srgbClr val="D4D4D4"/>
                </a:solidFill>
                <a:latin typeface="Consolas"/>
              </a:rPr>
              <a:t> </a:t>
            </a:r>
            <a:r>
              <a:rPr sz="2400" b="0">
                <a:solidFill>
                  <a:srgbClr val="4EC9B0"/>
                </a:solidFill>
                <a:latin typeface="Consolas"/>
              </a:rPr>
              <a:t>Phase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Startup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0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Import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1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Processing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2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Export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3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Idle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4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    </a:t>
            </a:r>
            <a:r>
              <a:rPr sz="2400" b="0">
                <a:solidFill>
                  <a:srgbClr val="4EC9B0"/>
                </a:solidFill>
                <a:latin typeface="Consolas"/>
              </a:rPr>
              <a:t>Shutdown</a:t>
            </a:r>
            <a:r>
              <a:rPr sz="2400" b="0">
                <a:solidFill>
                  <a:srgbClr val="D4D4D4"/>
                </a:solidFill>
                <a:latin typeface="Consolas"/>
              </a:rPr>
              <a:t> = </a:t>
            </a:r>
            <a:r>
              <a:rPr sz="2400" b="0">
                <a:solidFill>
                  <a:srgbClr val="B5CEA8"/>
                </a:solidFill>
                <a:latin typeface="Consolas"/>
              </a:rPr>
              <a:t>5</a:t>
            </a:r>
            <a:r>
              <a:rPr sz="24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86020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851"/>
    </mc:Choice>
    <mc:Fallback xmlns="">
      <p:transition spd="slow" advTm="85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192-52D3-9459-514F-61A08462B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62F34A1-247D-5929-C756-A37F1EE44759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7DEBA5A-4481-8687-64A3-CB9310B3CF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B5242E0-705A-F5A7-0C13-21FFB5B67A6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548640" y="2080260"/>
            <a:ext cx="3462815" cy="3520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569CD6"/>
                </a:solidFill>
                <a:latin typeface="Consolas"/>
              </a:rPr>
              <a:t>enum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4EC9B0"/>
                </a:solidFill>
                <a:latin typeface="Consolas"/>
              </a:rPr>
              <a:t>Phase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Startup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0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Import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1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Processing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2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Export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3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Idle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4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/>
                </a:solidFill>
                <a:latin typeface="Consolas"/>
              </a:rPr>
              <a:t>Shutdown</a:t>
            </a:r>
            <a:r>
              <a:rPr sz="2300" b="0">
                <a:solidFill>
                  <a:srgbClr val="D4D4D4"/>
                </a:solidFill>
                <a:latin typeface="Consolas"/>
              </a:rPr>
              <a:t> = </a:t>
            </a:r>
            <a:r>
              <a:rPr sz="2300" b="0">
                <a:solidFill>
                  <a:srgbClr val="B5CEA8"/>
                </a:solidFill>
                <a:latin typeface="Consolas"/>
              </a:rPr>
              <a:t>5</a:t>
            </a:r>
            <a:r>
              <a:rPr sz="2300" b="0">
                <a:solidFill>
                  <a:srgbClr val="D4D4D4"/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4470407" y="2950240"/>
            <a:ext cx="5665781" cy="17804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sums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 =&gt;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>
                <a:solidFill>
                  <a:srgbClr val="D4D4D4"/>
                </a:solidFill>
                <a:latin typeface="Consolas"/>
              </a:rPr>
              <a:t>, ...);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9582635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26"/>
    </mc:Choice>
    <mc:Fallback xmlns="">
      <p:transition spd="slow" advTm="526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CE2A8-4954-EBBD-3E75-BAB39742F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613EAD4-7439-61BD-CC61-B2839A1F4E9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436E955-2C08-E6FD-E84C-E3CDF42463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CB3665B-E17D-CDAC-2928-CCFFDD1CA42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548640" y="2080260"/>
            <a:ext cx="3462815" cy="352043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569CD6">
                    <a:alpha val="45000"/>
                  </a:srgbClr>
                </a:solidFill>
                <a:latin typeface="Consolas"/>
              </a:rPr>
              <a:t>enum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Startup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0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Import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1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Processing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2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Export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3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Idle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4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/>
                </a:solidFill>
                <a:latin typeface="Consolas"/>
              </a:rPr>
              <a:t>    </a:t>
            </a:r>
            <a:r>
              <a:rPr sz="2300" b="0">
                <a:solidFill>
                  <a:srgbClr val="4EC9B0">
                    <a:alpha val="45000"/>
                  </a:srgbClr>
                </a:solidFill>
                <a:latin typeface="Consolas"/>
              </a:rPr>
              <a:t>Shutdown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2300" b="0">
                <a:solidFill>
                  <a:srgbClr val="D4D4D4"/>
                </a:solidFill>
                <a:latin typeface="Consolas"/>
              </a:rPr>
              <a:t> </a:t>
            </a:r>
            <a:r>
              <a:rPr sz="2300" b="0">
                <a:solidFill>
                  <a:srgbClr val="B5CEA8"/>
                </a:solidFill>
                <a:latin typeface="Consolas"/>
              </a:rPr>
              <a:t>5</a:t>
            </a: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4470407" y="2950240"/>
            <a:ext cx="5665781" cy="1780478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sums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double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counts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averages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9CDCFE">
                    <a:alpha val="45000"/>
                  </a:srgbClr>
                </a:solidFill>
                <a:latin typeface="Consolas"/>
              </a:rPr>
              <a:t>sums</a:t>
            </a:r>
            <a:r>
              <a:rPr sz="1500" b="0" dirty="0" err="1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 dirty="0" err="1">
                <a:solidFill>
                  <a:srgbClr val="DCDCAA"/>
                </a:solidFill>
                <a:latin typeface="Consolas"/>
              </a:rPr>
              <a:t>ToDictionary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=&gt;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 err="1">
                <a:solidFill>
                  <a:srgbClr val="9CDCFE">
                    <a:alpha val="45000"/>
                  </a:srgbClr>
                </a:solidFill>
                <a:latin typeface="Consolas"/>
              </a:rPr>
              <a:t>s</a:t>
            </a:r>
            <a:r>
              <a:rPr sz="1500" b="0" dirty="0" err="1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 dirty="0" err="1">
                <a:solidFill>
                  <a:srgbClr val="9CDCFE"/>
                </a:solidFill>
                <a:latin typeface="Consolas"/>
              </a:rPr>
              <a:t>Key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lang="en-US" sz="1500" b="0" dirty="0">
                <a:solidFill>
                  <a:srgbClr val="6A9955"/>
                </a:solidFill>
                <a:latin typeface="Consolas"/>
              </a:rPr>
              <a:t> </a:t>
            </a:r>
            <a:r>
              <a:rPr lang="en-US" sz="150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...);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9CDCFE">
                    <a:alpha val="45000"/>
                  </a:srgbClr>
                </a:solidFill>
                <a:latin typeface="Consolas"/>
              </a:rPr>
              <a:t>spikes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0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50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1777389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5"/>
    </mc:Choice>
    <mc:Fallback xmlns="">
      <p:transition spd="slow" advTm="305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561260" y="2004059"/>
            <a:ext cx="9575958" cy="1432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DCDCAA"/>
                </a:solidFill>
                <a:latin typeface="Consolas"/>
              </a:rPr>
              <a:t>ToDictionary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Key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=&gt; 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Value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s</a:t>
            </a:r>
            <a:r>
              <a:rPr sz="1750" b="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 err="1">
                <a:solidFill>
                  <a:srgbClr val="9CDCFE"/>
                </a:solidFill>
                <a:latin typeface="Consolas"/>
              </a:rPr>
              <a:t>Key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spikes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&gt;();</a:t>
            </a:r>
          </a:p>
        </p:txBody>
      </p:sp>
      <p:sp>
        <p:nvSpPr>
          <p:cNvPr id="8" name="Code"/>
          <p:cNvSpPr/>
          <p:nvPr/>
        </p:nvSpPr>
        <p:spPr>
          <a:xfrm>
            <a:off x="622357" y="3619500"/>
            <a:ext cx="9453765" cy="19659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Enum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GetValues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Length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750" b="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Select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((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) =&gt;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]).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ToArray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spikes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7"/>
    </mc:Choice>
    <mc:Fallback xmlns="">
      <p:transition spd="slow" advTm="317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563006" y="1996439"/>
            <a:ext cx="9572467" cy="15849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=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) + 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3188411" y="3764279"/>
            <a:ext cx="4321657" cy="18288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 = (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sums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 +=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]++;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3"/>
    </mc:Choice>
    <mc:Fallback xmlns="">
      <p:transition spd="slow" advTm="333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1959498" y="1874519"/>
            <a:ext cx="6779483" cy="164592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C586C0"/>
                </a:solidFill>
                <a:latin typeface="Consolas"/>
              </a:rPr>
              <a:t>in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if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2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= </a:t>
            </a:r>
            <a:r>
              <a:rPr sz="12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200" b="0">
                <a:solidFill>
                  <a:srgbClr val="D4D4D4"/>
                </a:solidFill>
                <a:latin typeface="Consolas"/>
              </a:rPr>
              <a:t>(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) + </a:t>
            </a:r>
            <a:r>
              <a:rPr sz="1200" b="0">
                <a:solidFill>
                  <a:srgbClr val="B5CEA8"/>
                </a:solidFill>
                <a:latin typeface="Consolas"/>
              </a:rPr>
              <a:t>1</a:t>
            </a:r>
            <a:r>
              <a:rPr sz="12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Code"/>
          <p:cNvSpPr/>
          <p:nvPr/>
        </p:nvSpPr>
        <p:spPr>
          <a:xfrm>
            <a:off x="2629814" y="3703320"/>
            <a:ext cx="5438851" cy="20116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C586C0"/>
                </a:solidFill>
                <a:latin typeface="Consolas"/>
              </a:rPr>
              <a:t>in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569CD6"/>
                </a:solidFill>
                <a:latin typeface="Consolas"/>
              </a:rPr>
              <a:t>var</a:t>
            </a: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 = (</a:t>
            </a:r>
            <a:r>
              <a:rPr sz="1200" b="0">
                <a:solidFill>
                  <a:srgbClr val="569CD6"/>
                </a:solidFill>
                <a:latin typeface="Consolas"/>
              </a:rPr>
              <a:t>int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</a:t>
            </a:r>
            <a:r>
              <a:rPr sz="1200" b="0">
                <a:solidFill>
                  <a:srgbClr val="C586C0"/>
                </a:solidFill>
                <a:latin typeface="Consolas"/>
              </a:rPr>
              <a:t>if</a:t>
            </a:r>
            <a:r>
              <a:rPr sz="1200" b="0">
                <a:solidFill>
                  <a:srgbClr val="D4D4D4"/>
                </a:solidFill>
                <a:latin typeface="Consolas"/>
              </a:rPr>
              <a:t> (</a:t>
            </a:r>
            <a:r>
              <a:rPr sz="120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200" b="0">
                <a:solidFill>
                  <a:srgbClr val="D4D4D4"/>
                </a:solidFill>
                <a:latin typeface="Consolas"/>
              </a:rPr>
              <a:t> &gt; </a:t>
            </a:r>
            <a:r>
              <a:rPr sz="1200" b="0">
                <a:solidFill>
                  <a:srgbClr val="9CDCFE"/>
                </a:solidFill>
                <a:latin typeface="Consolas"/>
              </a:rPr>
              <a:t>averages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 + </a:t>
            </a:r>
            <a:r>
              <a:rPr sz="1200" b="0">
                <a:solidFill>
                  <a:srgbClr val="4EC9B0"/>
                </a:solidFill>
                <a:latin typeface="Consolas"/>
              </a:rPr>
              <a:t>Spike</a:t>
            </a:r>
            <a:r>
              <a:rPr sz="1200" b="0">
                <a:solidFill>
                  <a:srgbClr val="D4D4D4"/>
                </a:solidFill>
                <a:latin typeface="Consolas"/>
              </a:rPr>
              <a:t>.</a:t>
            </a:r>
            <a:r>
              <a:rPr sz="1200" b="0">
                <a:solidFill>
                  <a:srgbClr val="9CDCFE"/>
                </a:solidFill>
                <a:latin typeface="Consolas"/>
              </a:rPr>
              <a:t>Threshold</a:t>
            </a:r>
            <a:r>
              <a:rPr sz="12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2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200" b="0">
                <a:solidFill>
                  <a:srgbClr val="D4D4D4"/>
                </a:solidFill>
                <a:latin typeface="Consolas"/>
              </a:rPr>
              <a:t>[</a:t>
            </a:r>
            <a:r>
              <a:rPr sz="12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200" b="0">
                <a:solidFill>
                  <a:srgbClr val="D4D4D4"/>
                </a:solidFill>
                <a:latin typeface="Consolas"/>
              </a:rPr>
              <a:t>]++;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39"/>
    </mc:Choice>
    <mc:Fallback xmlns="">
      <p:transition spd="slow" advTm="339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48334-2B1D-BF70-5F13-FED4BA54D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0ADFAEA-70EC-A42A-ED08-E48197E4040D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864E1C5-6326-769A-03D2-4D9ACA791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9B7952E-89B8-0CCE-897F-0FE380A1A72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The right </a:t>
            </a: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Datastructure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81EA473-4A1E-3305-0EA8-39D5EA55FB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424" y="3056921"/>
            <a:ext cx="8889789" cy="923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0004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96"/>
    </mc:Choice>
    <mc:Fallback xmlns="">
      <p:transition spd="slow" advTm="396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Helping the JIT</a:t>
            </a:r>
          </a:p>
        </p:txBody>
      </p:sp>
      <p:sp>
        <p:nvSpPr>
          <p:cNvPr id="7" name="Code"/>
          <p:cNvSpPr/>
          <p:nvPr/>
        </p:nvSpPr>
        <p:spPr>
          <a:xfrm>
            <a:off x="547609" y="2544893"/>
            <a:ext cx="9575958" cy="19659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Enum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GetValues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Length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750" b="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Select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((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) =&gt;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/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]).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ToArray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spikes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7"/>
    </mc:Choice>
    <mc:Fallback xmlns="">
      <p:transition spd="slow" advTm="317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E957-E089-7AAA-C3AD-C1E68444B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Helping the JIT</a:t>
            </a:r>
          </a:p>
        </p:txBody>
      </p:sp>
      <p:sp>
        <p:nvSpPr>
          <p:cNvPr id="7" name="Code"/>
          <p:cNvSpPr/>
          <p:nvPr/>
        </p:nvSpPr>
        <p:spPr>
          <a:xfrm>
            <a:off x="561260" y="2004059"/>
            <a:ext cx="9575958" cy="35661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static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readonly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Enum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DCDCAA"/>
                </a:solidFill>
                <a:latin typeface="Consolas"/>
              </a:rPr>
              <a:t>GetValues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&gt;().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Length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750" b="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750" b="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C586C0"/>
                </a:solidFill>
                <a:latin typeface="Consolas"/>
              </a:rPr>
              <a:t>for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(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B5CEA8"/>
                </a:solidFill>
                <a:latin typeface="Consolas"/>
              </a:rPr>
              <a:t>0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&lt;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;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++)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D4D4D4"/>
                </a:solidFill>
                <a:latin typeface="Consolas"/>
              </a:rPr>
              <a:t>   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averages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 =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sums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 /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phase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750" b="0" dirty="0">
              <a:solidFill>
                <a:srgbClr val="D4D4D4"/>
              </a:solidFill>
              <a:latin typeface="Consolas"/>
            </a:endParaRP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spikes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new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int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Phases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Count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29962537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17"/>
    </mc:Choice>
    <mc:Fallback xmlns="">
      <p:transition spd="slow" advTm="317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Helping the JIT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F954BF-6465-0DC7-FF63-0EAC55DAC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023" y="2933552"/>
            <a:ext cx="9078592" cy="10193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47"/>
    </mc:Choice>
    <mc:Fallback xmlns="">
      <p:transition spd="slow" advTm="1247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02136-C8BA-4F30-E4D3-7BBC5C37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FAC62A-E5CF-888F-1D6C-5312B652897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0813B53-8C18-1BEA-9300-109732E36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648AC14-B41B-4D81-6EEC-92021F63B9B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257C12-84C9-9441-10AF-1FABF8DA92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564" y="2916415"/>
            <a:ext cx="9523509" cy="720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30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90"/>
    </mc:Choice>
    <mc:Fallback xmlns="">
      <p:transition spd="slow" advTm="590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247"/>
    </mc:Choice>
    <mc:Fallback xmlns="">
      <p:transition spd="slow" advTm="1247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/>
          <p:cNvSpPr/>
          <p:nvPr/>
        </p:nvSpPr>
        <p:spPr>
          <a:xfrm>
            <a:off x="1395980" y="1828799"/>
            <a:ext cx="78966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Load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600" b="0">
                <a:solidFill>
                  <a:srgbClr val="D4D4D4"/>
                </a:solidFill>
                <a:latin typeface="Consolas"/>
              </a:rPr>
              <a:t>[]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Split</a:t>
            </a:r>
            <a:r>
              <a:rPr sz="1600" b="0">
                <a:solidFill>
                  <a:srgbClr val="D4D4D4"/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Add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4EC9B0"/>
                </a:solidFill>
                <a:latin typeface="Consolas"/>
              </a:rPr>
              <a:t>Enum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b="0">
                <a:solidFill>
                  <a:srgbClr val="D4D4D4"/>
                </a:solidFill>
                <a:latin typeface="Consolas"/>
              </a:rPr>
              <a:t>]),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], </a:t>
            </a:r>
            <a:r>
              <a:rPr sz="1600" b="0">
                <a:solidFill>
                  <a:srgbClr val="4EC9B0"/>
                </a:solidFill>
                <a:latin typeface="Consolas"/>
              </a:rPr>
              <a:t>CultureInfo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InvariantCulture</a:t>
            </a:r>
            <a:r>
              <a:rPr sz="1600" b="0">
                <a:solidFill>
                  <a:srgbClr val="D4D4D4"/>
                </a:solidFill>
                <a:latin typeface="Consolas"/>
              </a:rPr>
              <a:t>)));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7006"/>
    </mc:Choice>
    <mc:Fallback xmlns="">
      <p:transition spd="slow" advTm="37006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FC324-154B-18C4-BA51-90266571A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A1DF190-6B54-5E6F-FBD9-D1693053FBF6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503D443-BED4-2A17-25AA-824DEE125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FBF0B933-A68F-CD5B-060F-C46B84387B4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31B0D0D7-632D-2763-C2A7-5F95C7DA5CF0}"/>
              </a:ext>
            </a:extLst>
          </p:cNvPr>
          <p:cNvSpPr/>
          <p:nvPr/>
        </p:nvSpPr>
        <p:spPr>
          <a:xfrm>
            <a:off x="1725497" y="2540052"/>
            <a:ext cx="7121624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975435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452"/>
    </mc:Choice>
    <mc:Fallback xmlns="">
      <p:transition spd="slow" advTm="452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F6D9A-11E0-CFC3-36A2-C6C427502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EEDE9CA3-4BAD-8A8B-E537-4DD54A887CE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586844F-3127-F20A-9E1F-3EC7ACD0B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3B8D6EE-2695-8122-FB8D-950580EFB5D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9200127E-42C0-0E26-E811-A1492681FCA7}"/>
              </a:ext>
            </a:extLst>
          </p:cNvPr>
          <p:cNvSpPr/>
          <p:nvPr/>
        </p:nvSpPr>
        <p:spPr>
          <a:xfrm>
            <a:off x="1725497" y="2540052"/>
            <a:ext cx="7121624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82B9C789-815C-8647-9411-C2B3594B005E}"/>
              </a:ext>
            </a:extLst>
          </p:cNvPr>
          <p:cNvSpPr txBox="1"/>
          <p:nvPr/>
        </p:nvSpPr>
        <p:spPr>
          <a:xfrm>
            <a:off x="534988" y="3590408"/>
            <a:ext cx="9908129" cy="408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TemperatureReading is small, immutable and only holds data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We can turn this into a Struct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95988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2210"/>
    </mc:Choice>
    <mc:Fallback xmlns="">
      <p:transition spd="slow" advTm="32210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846B4-1544-466B-E87D-3A0D2C6D1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9859856E-3817-1482-A49E-80995E7F7BF1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AA7F02C-5EAF-BA0E-4CBB-7D89532BD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1D1CFD-A903-F5F8-54F5-1B1A030E01E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29B33A40-7A59-961B-FC5F-60C00064223F}"/>
              </a:ext>
            </a:extLst>
          </p:cNvPr>
          <p:cNvSpPr/>
          <p:nvPr/>
        </p:nvSpPr>
        <p:spPr>
          <a:xfrm>
            <a:off x="1725497" y="2540052"/>
            <a:ext cx="7121624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/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,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/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);</a:t>
            </a:r>
          </a:p>
        </p:txBody>
      </p:sp>
      <p:sp>
        <p:nvSpPr>
          <p:cNvPr id="9" name="Textfeld 7">
            <a:extLst>
              <a:ext uri="{FF2B5EF4-FFF2-40B4-BE49-F238E27FC236}">
                <a16:creationId xmlns:a16="http://schemas.microsoft.com/office/drawing/2014/main" id="{DB9C4495-B52D-5741-EDAD-EBEFBEE74F4B}"/>
              </a:ext>
            </a:extLst>
          </p:cNvPr>
          <p:cNvSpPr txBox="1"/>
          <p:nvPr/>
        </p:nvSpPr>
        <p:spPr>
          <a:xfrm>
            <a:off x="534988" y="3590408"/>
            <a:ext cx="9908129" cy="408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TemperatureReading is small, immutable and only holds data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We can turn this into a Struct</a:t>
            </a: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</p:txBody>
      </p:sp>
      <p:sp>
        <p:nvSpPr>
          <p:cNvPr id="10" name="Code">
            <a:extLst>
              <a:ext uri="{FF2B5EF4-FFF2-40B4-BE49-F238E27FC236}">
                <a16:creationId xmlns:a16="http://schemas.microsoft.com/office/drawing/2014/main" id="{C57AEAB1-78E9-0E2E-2B02-4DBCA4FD3F07}"/>
              </a:ext>
            </a:extLst>
          </p:cNvPr>
          <p:cNvSpPr/>
          <p:nvPr/>
        </p:nvSpPr>
        <p:spPr>
          <a:xfrm>
            <a:off x="737731" y="4447486"/>
            <a:ext cx="9502642" cy="6019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569CD6"/>
                </a:solidFill>
                <a:latin typeface="Consolas"/>
              </a:rPr>
              <a:t>readonly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record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/>
                </a:solidFill>
                <a:latin typeface="Consolas"/>
              </a:rPr>
              <a:t>struct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DCDCAA"/>
                </a:solidFill>
                <a:latin typeface="Consolas"/>
              </a:rPr>
              <a:t>TemperatureReadingStruct</a:t>
            </a:r>
            <a:r>
              <a:rPr sz="155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550" b="0" dirty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 err="1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55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569CD6">
                    <a:alpha val="45000"/>
                  </a:srgbClr>
                </a:solidFill>
                <a:latin typeface="Consolas"/>
              </a:rPr>
              <a:t>double</a:t>
            </a:r>
            <a:r>
              <a:rPr sz="15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550" b="0" dirty="0">
                <a:solidFill>
                  <a:srgbClr val="4EC9B0">
                    <a:alpha val="45000"/>
                  </a:srgbClr>
                </a:solidFill>
                <a:latin typeface="Consolas"/>
              </a:rPr>
              <a:t>Celsius</a:t>
            </a:r>
            <a:r>
              <a:rPr sz="1550" b="0" dirty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28921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3368"/>
    </mc:Choice>
    <mc:Fallback xmlns="">
      <p:transition spd="slow" advTm="23368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C6E580D-4443-2487-83E8-128906169D5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647B0FEF-7A54-44FF-0FA4-5DCF53FE8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AB9B6301-9803-834B-5B66-B82BC8A287F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/>
          <p:cNvSpPr/>
          <p:nvPr/>
        </p:nvSpPr>
        <p:spPr>
          <a:xfrm>
            <a:off x="1395980" y="1828799"/>
            <a:ext cx="78966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LoadStructs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string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[]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>
                    <a:alpha val="45000"/>
                  </a:srgbClr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>
                    <a:alpha val="45000"/>
                  </a:srgbClr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=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line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Split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Add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Enum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&gt;(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600" b="0">
                <a:solidFill>
                  <a:srgbClr val="B5CEA8">
                    <a:alpha val="45000"/>
                  </a:srgbClr>
                </a:solidFill>
                <a:latin typeface="Consolas"/>
              </a:rPr>
              <a:t>0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]),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[</a:t>
            </a:r>
            <a:r>
              <a:rPr sz="1600" b="0">
                <a:solidFill>
                  <a:srgbClr val="B5CEA8">
                    <a:alpha val="45000"/>
                  </a:srgbClr>
                </a:solidFill>
                <a:latin typeface="Consolas"/>
              </a:rPr>
              <a:t>1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],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CultureInfo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InvariantCulture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21"/>
    </mc:Choice>
    <mc:Fallback xmlns="">
      <p:transition spd="slow" advTm="1012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84371-906A-C4E6-AC90-8EB40FC14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B76FB0F-FCEC-6083-3D3B-7DEDA508370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1DDF3F6-082A-D9F5-FAF8-F196613014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94A1CC0-7258-6DFA-DE7F-6E87846FA03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B8D14905-E4B8-0E5B-1818-5EE534932C99}"/>
              </a:ext>
            </a:extLst>
          </p:cNvPr>
          <p:cNvSpPr/>
          <p:nvPr/>
        </p:nvSpPr>
        <p:spPr>
          <a:xfrm>
            <a:off x="893242" y="3075877"/>
            <a:ext cx="8902151" cy="609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NoLinqArray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38570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6581"/>
    </mc:Choice>
    <mc:Fallback xmlns="">
      <p:transition spd="slow" advTm="658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3C49-2BF8-8A7C-2471-A1A1444F2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CE52E0A-0D9B-3F77-F991-22CCF080A3A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D4E9B3B-9548-A331-79A4-0D4F6C7CE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C83571D6-2630-9427-DE72-0DC721E8AC59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Code">
            <a:extLst>
              <a:ext uri="{FF2B5EF4-FFF2-40B4-BE49-F238E27FC236}">
                <a16:creationId xmlns:a16="http://schemas.microsoft.com/office/drawing/2014/main" id="{C42513D0-40D0-78DF-BF2D-DF33993BA7DB}"/>
              </a:ext>
            </a:extLst>
          </p:cNvPr>
          <p:cNvSpPr/>
          <p:nvPr/>
        </p:nvSpPr>
        <p:spPr>
          <a:xfrm>
            <a:off x="893242" y="3075877"/>
            <a:ext cx="8902151" cy="609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b="0">
                <a:solidFill>
                  <a:srgbClr val="569CD6"/>
                </a:solidFill>
                <a:latin typeface="Consolas"/>
              </a:rPr>
              <a:t>int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NoLinqArray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960DB9AE-2CE8-0194-4EDB-74B68C750203}"/>
              </a:ext>
            </a:extLst>
          </p:cNvPr>
          <p:cNvSpPr/>
          <p:nvPr/>
        </p:nvSpPr>
        <p:spPr>
          <a:xfrm>
            <a:off x="558085" y="3931920"/>
            <a:ext cx="9572467" cy="6096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Dictionary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>
                    <a:alpha val="45000"/>
                  </a:srgbClr>
                </a:solidFill>
                <a:latin typeface="Consolas"/>
              </a:rPr>
              <a:t>NoLinqArray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600" b="0">
                <a:solidFill>
                  <a:srgbClr val="4EC9B0">
                    <a:alpha val="45000"/>
                  </a:srgbClr>
                </a:solidFill>
                <a:latin typeface="Consolas"/>
              </a:rPr>
              <a:t>List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&gt;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32738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9757"/>
    </mc:Choice>
    <mc:Fallback xmlns="">
      <p:transition spd="slow" advTm="9757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F1F9B-A30F-D001-8516-11105F3D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57285F8-BA0A-8481-1DA1-D2A6B366C25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97E02BC-BFBF-16B0-9132-1A0D2A261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47D065B-36D5-1C9D-B365-772B87F124D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E2F588-5CC7-3D67-46DA-9987CA45A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92" y="2854995"/>
            <a:ext cx="9027453" cy="725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162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1332"/>
    </mc:Choice>
    <mc:Fallback xmlns="">
      <p:transition spd="slow" advTm="21332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9E70-7600-791F-1266-06CF7290F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084B4C9F-977E-1C32-FB64-AE5783C12DE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EC25E5A-5D2A-1E65-72AD-1E9ACB21A0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42DAAC7-50C8-F11A-E88F-DFF86477829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C5BF62F6-E048-B0AD-9F39-A2A06D96C396}"/>
              </a:ext>
            </a:extLst>
          </p:cNvPr>
          <p:cNvSpPr txBox="1"/>
          <p:nvPr/>
        </p:nvSpPr>
        <p:spPr>
          <a:xfrm>
            <a:off x="3113572" y="3791131"/>
            <a:ext cx="4444032" cy="4087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Why does it still need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soo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much memory?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D14F8C7-AC4E-91FD-AB96-83711E5CAD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814" y="2836515"/>
            <a:ext cx="9919010" cy="8056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58820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75BC-14FA-6771-F391-A95D95479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E0FD2CD-AF4B-61DC-EABF-8485556C21CE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436C832E-21E5-FBA6-FC10-5C24872FE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A1AFDC3-6D8A-B88C-1113-D54FCFDC142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379E8F5D-11E9-32EC-CAD3-650458902A8C}"/>
              </a:ext>
            </a:extLst>
          </p:cNvPr>
          <p:cNvSpPr/>
          <p:nvPr/>
        </p:nvSpPr>
        <p:spPr>
          <a:xfrm>
            <a:off x="1395980" y="1828799"/>
            <a:ext cx="78966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600" b="0">
                <a:solidFill>
                  <a:srgbClr val="DCDCAA"/>
                </a:solidFill>
                <a:latin typeface="Consolas"/>
              </a:rPr>
              <a:t>Load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600" b="0">
                <a:solidFill>
                  <a:srgbClr val="D4D4D4"/>
                </a:solidFill>
                <a:latin typeface="Consolas"/>
              </a:rPr>
              <a:t>[]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4EC9B0"/>
                </a:solidFill>
                <a:latin typeface="Consolas"/>
              </a:rPr>
              <a:t>List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60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C586C0"/>
                </a:solidFill>
                <a:latin typeface="Consolas"/>
              </a:rPr>
              <a:t>in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lines</a:t>
            </a:r>
            <a:r>
              <a:rPr sz="16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Split</a:t>
            </a:r>
            <a:r>
              <a:rPr sz="1600" b="0">
                <a:solidFill>
                  <a:srgbClr val="D4D4D4"/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Add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569CD6"/>
                </a:solidFill>
                <a:latin typeface="Consolas"/>
              </a:rPr>
              <a:t>new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DCDCAA"/>
                </a:solidFill>
                <a:latin typeface="Consolas"/>
              </a:rPr>
              <a:t>TemperatureReading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4EC9B0"/>
                </a:solidFill>
                <a:latin typeface="Consolas"/>
              </a:rPr>
              <a:t>Enum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/>
                </a:solidFill>
                <a:latin typeface="Consolas"/>
              </a:rPr>
              <a:t>&lt;</a:t>
            </a:r>
            <a:r>
              <a:rPr sz="1600" b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b="0">
                <a:solidFill>
                  <a:srgbClr val="D4D4D4"/>
                </a:solidFill>
                <a:latin typeface="Consolas"/>
              </a:rPr>
              <a:t>&gt;(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b="0">
                <a:solidFill>
                  <a:srgbClr val="D4D4D4"/>
                </a:solidFill>
                <a:latin typeface="Consolas"/>
              </a:rPr>
              <a:t>]),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double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Parse</a:t>
            </a:r>
            <a:r>
              <a:rPr sz="1600" b="0">
                <a:solidFill>
                  <a:srgbClr val="D4D4D4"/>
                </a:solidFill>
                <a:latin typeface="Consolas"/>
              </a:rPr>
              <a:t>(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[</a:t>
            </a:r>
            <a:r>
              <a:rPr sz="1600" b="0">
                <a:solidFill>
                  <a:srgbClr val="B5CEA8"/>
                </a:solidFill>
                <a:latin typeface="Consolas"/>
              </a:rPr>
              <a:t>1</a:t>
            </a:r>
            <a:r>
              <a:rPr sz="1600" b="0">
                <a:solidFill>
                  <a:srgbClr val="D4D4D4"/>
                </a:solidFill>
                <a:latin typeface="Consolas"/>
              </a:rPr>
              <a:t>], </a:t>
            </a:r>
            <a:r>
              <a:rPr sz="1600" b="0">
                <a:solidFill>
                  <a:srgbClr val="4EC9B0"/>
                </a:solidFill>
                <a:latin typeface="Consolas"/>
              </a:rPr>
              <a:t>CultureInfo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9CDCFE"/>
                </a:solidFill>
                <a:latin typeface="Consolas"/>
              </a:rPr>
              <a:t>InvariantCulture</a:t>
            </a:r>
            <a:r>
              <a:rPr sz="1600" b="0">
                <a:solidFill>
                  <a:srgbClr val="D4D4D4"/>
                </a:solidFill>
                <a:latin typeface="Consolas"/>
              </a:rPr>
              <a:t>)));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</a:t>
            </a:r>
            <a:r>
              <a:rPr sz="16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readings</a:t>
            </a:r>
            <a:r>
              <a:rPr sz="16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487561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663D8-DC3D-75B3-A296-B2AFD8B84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904713F-1875-B0E5-C79D-C5E820EE2074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6808C02-9D1C-8447-A413-B6A76BB6A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3300FB-E178-BDCE-E0C7-D7C4A2CB8E4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PerfView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0070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1D9C0-308D-2089-394A-F15ED36D0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4800B90-4BEF-3153-88BF-C60B849E073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8A80D5E-F554-91C8-B648-F0A06C86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B3537C99-968C-5972-EBCF-284770AED97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PerfView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AFC7B9A6-40CC-2D60-2C97-47B94ED548F3}"/>
              </a:ext>
            </a:extLst>
          </p:cNvPr>
          <p:cNvSpPr txBox="1"/>
          <p:nvPr/>
        </p:nvSpPr>
        <p:spPr>
          <a:xfrm>
            <a:off x="489661" y="3882374"/>
            <a:ext cx="9691854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Records a trace while the benchmark runs</a:t>
            </a:r>
          </a:p>
          <a:p>
            <a:pPr algn="ctr"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Here we use it for Memory but can also be used for Time</a:t>
            </a:r>
          </a:p>
        </p:txBody>
      </p:sp>
      <p:sp>
        <p:nvSpPr>
          <p:cNvPr id="7" name="Code"/>
          <p:cNvSpPr/>
          <p:nvPr/>
        </p:nvSpPr>
        <p:spPr>
          <a:xfrm>
            <a:off x="2135188" y="2483065"/>
            <a:ext cx="6400800" cy="11658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MemoryDiagnoser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D4D4D4"/>
                </a:solidFill>
                <a:latin typeface="Consolas"/>
              </a:rPr>
              <a:t>[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EventPipeProfiler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(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EventPipeProfile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.</a:t>
            </a:r>
            <a:r>
              <a:rPr sz="1750" b="0" dirty="0">
                <a:solidFill>
                  <a:srgbClr val="9CDCFE"/>
                </a:solidFill>
                <a:latin typeface="Consolas"/>
              </a:rPr>
              <a:t>GcVerbose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)]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 b="0" dirty="0">
                <a:solidFill>
                  <a:srgbClr val="569CD6"/>
                </a:solidFill>
                <a:latin typeface="Consolas"/>
              </a:rPr>
              <a:t>public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569CD6"/>
                </a:solidFill>
                <a:latin typeface="Consolas"/>
              </a:rPr>
              <a:t>class</a:t>
            </a:r>
            <a:r>
              <a:rPr sz="1750" b="0" dirty="0">
                <a:solidFill>
                  <a:srgbClr val="D4D4D4"/>
                </a:solidFill>
                <a:latin typeface="Consolas"/>
              </a:rPr>
              <a:t> </a:t>
            </a:r>
            <a:r>
              <a:rPr sz="1750" b="0" dirty="0">
                <a:solidFill>
                  <a:srgbClr val="4EC9B0"/>
                </a:solidFill>
                <a:latin typeface="Consolas"/>
              </a:rPr>
              <a:t>CoreTemperatureLoadingBenchmark</a:t>
            </a:r>
          </a:p>
        </p:txBody>
      </p:sp>
    </p:spTree>
    <p:extLst>
      <p:ext uri="{BB962C8B-B14F-4D97-AF65-F5344CB8AC3E}">
        <p14:creationId xmlns:p14="http://schemas.microsoft.com/office/powerpoint/2010/main" val="15958825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E2861-98D5-D358-8C44-6CDCBC9BD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A1BEAA-F6BB-29F9-3C53-0F504401736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2101243-27B0-A8EB-A697-F76ABBDB7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4E15219-30AD-C706-0A76-416825BAAA0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PerfView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E0A0B7-2EA7-0BDC-351F-82E6F1592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68" y="2746157"/>
            <a:ext cx="9394902" cy="1720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881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E2861-98D5-D358-8C44-6CDCBC9BD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8A1BEAA-F6BB-29F9-3C53-0F504401736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2101243-27B0-A8EB-A697-F76ABBDB7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14E15219-30AD-C706-0A76-416825BAAA0F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PerfView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7" name="Picture 6" descr="flame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788920"/>
            <a:ext cx="9390888" cy="154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8814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FFD14-098F-4791-7701-C3215EA7A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C91D645-4794-3991-B4CB-B42EF73A292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F8A8AFFF-D35E-E7F1-5851-9732C809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B3D2380-04ED-1A64-38EA-3ABCF2F0286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1: Loading</a:t>
            </a:r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5AA0B749-4233-2CDD-E622-8CBCD0749666}"/>
              </a:ext>
            </a:extLst>
          </p:cNvPr>
          <p:cNvSpPr/>
          <p:nvPr/>
        </p:nvSpPr>
        <p:spPr>
          <a:xfrm>
            <a:off x="1395980" y="1828799"/>
            <a:ext cx="7896677" cy="40233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public List&lt;TemperatureReading&gt; Load(string[] lines)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var readings = new List&lt;TemperatureReading&gt;();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foreach (var line in lines)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600" b="0">
                <a:solidFill>
                  <a:srgbClr val="569CD6"/>
                </a:solidFill>
                <a:latin typeface="Consolas"/>
              </a:rPr>
              <a:t>var</a:t>
            </a:r>
            <a:r>
              <a:rPr sz="160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b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b="0">
                <a:solidFill>
                  <a:srgbClr val="D4D4D4"/>
                </a:solidFill>
                <a:latin typeface="Consolas"/>
              </a:rPr>
              <a:t> = </a:t>
            </a:r>
            <a:r>
              <a:rPr sz="1600" b="0">
                <a:solidFill>
                  <a:srgbClr val="9CDCFE"/>
                </a:solidFill>
                <a:latin typeface="Consolas"/>
              </a:rPr>
              <a:t>line</a:t>
            </a:r>
            <a:r>
              <a:rPr sz="160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b="0">
                <a:solidFill>
                  <a:srgbClr val="DCDCAA"/>
                </a:solidFill>
                <a:latin typeface="Consolas"/>
              </a:rPr>
              <a:t>Split</a:t>
            </a:r>
            <a:r>
              <a:rPr sz="1600" b="0">
                <a:solidFill>
                  <a:srgbClr val="D4D4D4"/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    readings.Add(new TemperatureReading(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        Enum.Parse&lt;Phase&gt;(parts[0]),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        double.Parse(parts[1], CultureInfo.InvariantCulture)));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    return readings;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55555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00646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0D7E3-BA64-DCB0-C5ED-5B3593AB3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5315058-90F2-07A6-C31D-AF384145BB6F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7E1EDE6-6D37-D4F4-B3AC-E86D905C2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43B253B2-2C3B-8334-F954-CD51942C524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</a:t>
            </a:r>
          </a:p>
        </p:txBody>
      </p:sp>
      <p:sp>
        <p:nvSpPr>
          <p:cNvPr id="7" name="Code"/>
          <p:cNvSpPr/>
          <p:nvPr/>
        </p:nvSpPr>
        <p:spPr>
          <a:xfrm>
            <a:off x="2139696" y="2377440"/>
            <a:ext cx="6400800" cy="6400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50">
                <a:solidFill>
                  <a:srgbClr val="4EC9B0"/>
                </a:solidFill>
                <a:latin typeface="Consolas"/>
              </a:rPr>
              <a:t>ReadOnlySpan</a:t>
            </a:r>
            <a:r>
              <a:rPr sz="1750">
                <a:solidFill>
                  <a:srgbClr val="D4D4D4"/>
                </a:solidFill>
                <a:latin typeface="Consolas"/>
              </a:rPr>
              <a:t>&lt;</a:t>
            </a:r>
            <a:r>
              <a:rPr sz="1750">
                <a:solidFill>
                  <a:srgbClr val="569CD6"/>
                </a:solidFill>
                <a:latin typeface="Consolas"/>
              </a:rPr>
              <a:t>char</a:t>
            </a:r>
            <a:r>
              <a:rPr sz="1750">
                <a:solidFill>
                  <a:srgbClr val="D4D4D4"/>
                </a:solidFill>
                <a:latin typeface="Consolas"/>
              </a:rPr>
              <a:t>&gt; </a:t>
            </a:r>
            <a:r>
              <a:rPr sz="1750">
                <a:solidFill>
                  <a:srgbClr val="9CDCFE"/>
                </a:solidFill>
                <a:latin typeface="Consolas"/>
              </a:rPr>
              <a:t>span</a:t>
            </a:r>
            <a:r>
              <a:rPr sz="1750">
                <a:solidFill>
                  <a:srgbClr val="D4D4D4"/>
                </a:solidFill>
                <a:latin typeface="Consolas"/>
              </a:rPr>
              <a:t> = </a:t>
            </a:r>
            <a:r>
              <a:rPr sz="1750">
                <a:solidFill>
                  <a:srgbClr val="9CDCFE"/>
                </a:solidFill>
                <a:latin typeface="Consolas"/>
              </a:rPr>
              <a:t>line</a:t>
            </a:r>
            <a:r>
              <a:rPr sz="1750">
                <a:solidFill>
                  <a:srgbClr val="D4D4D4"/>
                </a:solidFill>
                <a:latin typeface="Consolas"/>
              </a:rPr>
              <a:t>.</a:t>
            </a:r>
            <a:r>
              <a:rPr sz="1750">
                <a:solidFill>
                  <a:srgbClr val="DCDCAA"/>
                </a:solidFill>
                <a:latin typeface="Consolas"/>
              </a:rPr>
              <a:t>AsSpan</a:t>
            </a:r>
            <a:r>
              <a:rPr sz="1750">
                <a:solidFill>
                  <a:srgbClr val="D4D4D4"/>
                </a:solidFill>
                <a:latin typeface="Consolas"/>
              </a:rPr>
              <a:t>();</a:t>
            </a:r>
          </a:p>
        </p:txBody>
      </p:sp>
      <p:sp>
        <p:nvSpPr>
          <p:cNvPr id="4" name="Textfeld 7">
            <a:extLst>
              <a:ext uri="{FF2B5EF4-FFF2-40B4-BE49-F238E27FC236}">
                <a16:creationId xmlns:a16="http://schemas.microsoft.com/office/drawing/2014/main" id="{AFC7B9A6-40CC-2D60-2C97-47B94ED548F3}"/>
              </a:ext>
            </a:extLst>
          </p:cNvPr>
          <p:cNvSpPr txBox="1"/>
          <p:nvPr/>
        </p:nvSpPr>
        <p:spPr>
          <a:xfrm>
            <a:off x="497999" y="3617456"/>
            <a:ext cx="9692640" cy="11022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solidFill/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A Span lets us place a View over Memory that already exists</a:t>
            </a:r>
          </a:p>
          <a:p>
            <a:pPr>
              <a:lnSpc>
                <a:spcPts val="2700"/>
              </a:lnSpc>
            </a:pPr>
            <a:r>
              <a:rPr lang="en-GB" sz="1800" dirty="0">
                <a:latin typeface="Roboto Light"/>
              </a:rPr>
              <a:t>Stores </a:t>
            </a:r>
            <a:r>
              <a:rPr sz="1800" dirty="0">
                <a:latin typeface="Roboto Light"/>
              </a:rPr>
              <a:t>where the data starts and how long it is</a:t>
            </a:r>
            <a:r>
              <a:rPr lang="en-GB" sz="1800" dirty="0">
                <a:latin typeface="Roboto Light"/>
              </a:rPr>
              <a:t> </a:t>
            </a:r>
            <a:r>
              <a:rPr lang="en-GB" sz="1800" dirty="0">
                <a:latin typeface="Roboto Light"/>
                <a:sym typeface="Wingdings" panose="05000000000000000000" pitchFamily="2" charset="2"/>
              </a:rPr>
              <a:t> </a:t>
            </a:r>
            <a:r>
              <a:rPr sz="1800" dirty="0">
                <a:latin typeface="Roboto Light"/>
              </a:rPr>
              <a:t>nothing is c</a:t>
            </a:r>
            <a:r>
              <a:rPr lang="en-GB" sz="1800" dirty="0">
                <a:latin typeface="Roboto Light"/>
              </a:rPr>
              <a:t>o</a:t>
            </a:r>
            <a:r>
              <a:rPr sz="1800" dirty="0">
                <a:latin typeface="Roboto Light"/>
              </a:rPr>
              <a:t>pie</a:t>
            </a:r>
            <a:r>
              <a:rPr lang="en-GB" sz="1800" dirty="0">
                <a:latin typeface="Roboto Light"/>
              </a:rPr>
              <a:t>d</a:t>
            </a:r>
            <a:br>
              <a:rPr lang="en-GB" sz="1800" dirty="0">
                <a:latin typeface="Roboto Light"/>
              </a:rPr>
            </a:br>
            <a:r>
              <a:rPr lang="en-GB" sz="1800" dirty="0">
                <a:latin typeface="Roboto Light"/>
              </a:rPr>
              <a:t>Lives only on the Stack</a:t>
            </a:r>
          </a:p>
        </p:txBody>
      </p:sp>
    </p:spTree>
    <p:extLst>
      <p:ext uri="{BB962C8B-B14F-4D97-AF65-F5344CB8AC3E}">
        <p14:creationId xmlns:p14="http://schemas.microsoft.com/office/powerpoint/2010/main" val="12685563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EF346-467D-08D0-57BF-77F754DD4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300A5277-D7EA-841C-A01B-6595CF56C21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4CD6295-33B0-535C-1922-5DCE602D2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E02549-B3B3-8764-963E-C052ACA103EE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534988" y="1844149"/>
            <a:ext cx="9691854" cy="1101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Many C# functions that work with Strings have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ReadOnlySpan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&lt;char&gt; equivalents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Saves String copying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uses less Memory and is faster</a:t>
            </a:r>
          </a:p>
        </p:txBody>
      </p:sp>
    </p:spTree>
    <p:extLst>
      <p:ext uri="{BB962C8B-B14F-4D97-AF65-F5344CB8AC3E}">
        <p14:creationId xmlns:p14="http://schemas.microsoft.com/office/powerpoint/2010/main" val="3306105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6E093-A612-75B0-C61F-25A35F344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A769F6F-72CA-42F0-DCDA-E6C905F794A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1831270-710B-82F8-FF66-18EC67C56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515E43-8631-5416-170E-293792B7392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9F80705E-0B27-9029-7B63-6E5C7A8641F1}"/>
              </a:ext>
            </a:extLst>
          </p:cNvPr>
          <p:cNvSpPr txBox="1"/>
          <p:nvPr/>
        </p:nvSpPr>
        <p:spPr>
          <a:xfrm>
            <a:off x="534988" y="1844149"/>
            <a:ext cx="9691854" cy="28334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Many C# functions that work with Strings have </a:t>
            </a: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ReadOnlySpan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&lt;char&gt; equivalents</a:t>
            </a:r>
          </a:p>
          <a:p>
            <a:pPr>
              <a:lnSpc>
                <a:spcPts val="2700"/>
              </a:lnSpc>
            </a:pPr>
            <a:endParaRPr lang="en-US" sz="1800" dirty="0">
              <a:latin typeface="Roboto Light" panose="02000000000000000000" pitchFamily="2" charset="0"/>
              <a:ea typeface="Roboto Light" panose="02000000000000000000" pitchFamily="2" charset="0"/>
              <a:cs typeface="Roboto Light" panose="02000000000000000000" pitchFamily="2" charset="0"/>
            </a:endParaRP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Saves String copying 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  <a:sym typeface="Wingdings" panose="05000000000000000000" pitchFamily="2" charset="2"/>
              </a:rPr>
              <a:t> uses less Memory and is faster</a:t>
            </a:r>
          </a:p>
        </p:txBody>
      </p:sp>
    </p:spTree>
    <p:extLst>
      <p:ext uri="{BB962C8B-B14F-4D97-AF65-F5344CB8AC3E}">
        <p14:creationId xmlns:p14="http://schemas.microsoft.com/office/powerpoint/2010/main" val="2750564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6E093-A612-75B0-C61F-25A35F344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A769F6F-72CA-42F0-DCDA-E6C905F794A2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1831270-710B-82F8-FF66-18EC67C56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515E43-8631-5416-170E-293792B7392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</a:t>
            </a:r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5AA0B749-4233-2CDD-E622-8CBCD0749666}"/>
              </a:ext>
            </a:extLst>
          </p:cNvPr>
          <p:cNvSpPr/>
          <p:nvPr/>
        </p:nvSpPr>
        <p:spPr>
          <a:xfrm>
            <a:off x="3596799" y="2234705"/>
            <a:ext cx="3495040" cy="109728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dirty="0">
                <a:solidFill>
                  <a:srgbClr val="569CD6"/>
                </a:solidFill>
                <a:latin typeface="Consolas"/>
              </a:rPr>
              <a:t>var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</a:t>
            </a:r>
            <a:r>
              <a:rPr sz="1600" dirty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 = </a:t>
            </a:r>
            <a:r>
              <a:rPr sz="1600" dirty="0" err="1">
                <a:solidFill>
                  <a:srgbClr val="9CDCFE"/>
                </a:solidFill>
                <a:latin typeface="Consolas"/>
              </a:rPr>
              <a:t>line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Split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00" dirty="0">
                <a:solidFill>
                  <a:srgbClr val="CE9178"/>
                </a:solidFill>
                <a:latin typeface="Consolas"/>
              </a:rPr>
              <a:t>';'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/>
            <a:r>
              <a:rPr sz="1600" dirty="0" err="1">
                <a:solidFill>
                  <a:srgbClr val="4EC9B0"/>
                </a:solidFill>
                <a:latin typeface="Consolas"/>
              </a:rPr>
              <a:t>Enum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9CDCFE"/>
                </a:solidFill>
                <a:latin typeface="Consolas"/>
              </a:rPr>
              <a:t>Parse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&lt;</a:t>
            </a:r>
            <a:r>
              <a:rPr sz="1600" dirty="0">
                <a:solidFill>
                  <a:srgbClr val="4EC9B0"/>
                </a:solidFill>
                <a:latin typeface="Consolas"/>
              </a:rPr>
              <a:t>Phase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&gt;(</a:t>
            </a:r>
            <a:r>
              <a:rPr sz="1600" dirty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[</a:t>
            </a:r>
            <a:r>
              <a:rPr sz="1600" dirty="0">
                <a:solidFill>
                  <a:srgbClr val="B5CEA8"/>
                </a:solidFill>
                <a:latin typeface="Consolas"/>
              </a:rPr>
              <a:t>0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]);</a:t>
            </a:r>
          </a:p>
          <a:p>
            <a:pPr algn="l"/>
            <a:r>
              <a:rPr sz="1600" dirty="0" err="1">
                <a:solidFill>
                  <a:srgbClr val="569CD6"/>
                </a:solidFill>
                <a:latin typeface="Consolas"/>
              </a:rPr>
              <a:t>double</a:t>
            </a:r>
            <a:r>
              <a:rPr sz="1600" dirty="0" err="1">
                <a:solidFill>
                  <a:srgbClr val="D4D4D4"/>
                </a:solidFill>
                <a:latin typeface="Consolas"/>
              </a:rPr>
              <a:t>.</a:t>
            </a:r>
            <a:r>
              <a:rPr sz="1600" dirty="0" err="1">
                <a:solidFill>
                  <a:srgbClr val="DCDCAA"/>
                </a:solidFill>
                <a:latin typeface="Consolas"/>
              </a:rPr>
              <a:t>Parse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(</a:t>
            </a:r>
            <a:r>
              <a:rPr sz="1600" dirty="0">
                <a:solidFill>
                  <a:srgbClr val="9CDCFE"/>
                </a:solidFill>
                <a:latin typeface="Consolas"/>
              </a:rPr>
              <a:t>parts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[</a:t>
            </a:r>
            <a:r>
              <a:rPr sz="1600" dirty="0">
                <a:solidFill>
                  <a:srgbClr val="B5CEA8"/>
                </a:solidFill>
                <a:latin typeface="Consolas"/>
              </a:rPr>
              <a:t>1</a:t>
            </a:r>
            <a:r>
              <a:rPr sz="1600" dirty="0">
                <a:solidFill>
                  <a:srgbClr val="D4D4D4"/>
                </a:solidFill>
                <a:latin typeface="Consolas"/>
              </a:rPr>
              <a:t>]);</a:t>
            </a:r>
          </a:p>
        </p:txBody>
      </p:sp>
      <p:sp>
        <p:nvSpPr>
          <p:cNvPr id="2" name="Code">
            <a:extLst>
              <a:ext uri="{FF2B5EF4-FFF2-40B4-BE49-F238E27FC236}">
                <a16:creationId xmlns:a16="http://schemas.microsoft.com/office/drawing/2014/main" id="{5AA0B749-4233-2CDD-E622-8CBCD0749666}"/>
              </a:ext>
            </a:extLst>
          </p:cNvPr>
          <p:cNvSpPr/>
          <p:nvPr/>
        </p:nvSpPr>
        <p:spPr>
          <a:xfrm>
            <a:off x="2917508" y="3737888"/>
            <a:ext cx="4836160" cy="15849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4EC9B0"/>
                </a:solidFill>
                <a:latin typeface="Consolas"/>
              </a:rPr>
              <a:t>Span</a:t>
            </a:r>
            <a:r>
              <a:rPr sz="1600">
                <a:solidFill>
                  <a:srgbClr val="D4D4D4"/>
                </a:solidFill>
                <a:latin typeface="Consolas"/>
              </a:rPr>
              <a:t>&lt;</a:t>
            </a:r>
            <a:r>
              <a:rPr sz="1600">
                <a:solidFill>
                  <a:srgbClr val="4EC9B0"/>
                </a:solidFill>
                <a:latin typeface="Consolas"/>
              </a:rPr>
              <a:t>Range</a:t>
            </a:r>
            <a:r>
              <a:rPr sz="1600">
                <a:solidFill>
                  <a:srgbClr val="D4D4D4"/>
                </a:solidFill>
                <a:latin typeface="Consolas"/>
              </a:rPr>
              <a:t>&gt; </a:t>
            </a:r>
            <a:r>
              <a:rPr sz="1600">
                <a:solidFill>
                  <a:srgbClr val="9CDCFE"/>
                </a:solidFill>
                <a:latin typeface="Consolas"/>
              </a:rPr>
              <a:t>parts</a:t>
            </a:r>
            <a:r>
              <a:rPr sz="1600">
                <a:solidFill>
                  <a:srgbClr val="D4D4D4"/>
                </a:solidFill>
                <a:latin typeface="Consolas"/>
              </a:rPr>
              <a:t> = </a:t>
            </a:r>
            <a:r>
              <a:rPr sz="1600">
                <a:solidFill>
                  <a:srgbClr val="569CD6"/>
                </a:solidFill>
                <a:latin typeface="Consolas"/>
              </a:rPr>
              <a:t>stackalloc</a:t>
            </a:r>
            <a:r>
              <a:rPr sz="1600">
                <a:solidFill>
                  <a:srgbClr val="D4D4D4"/>
                </a:solidFill>
                <a:latin typeface="Consolas"/>
              </a:rPr>
              <a:t> </a:t>
            </a:r>
            <a:r>
              <a:rPr sz="1600">
                <a:solidFill>
                  <a:srgbClr val="4EC9B0"/>
                </a:solidFill>
                <a:latin typeface="Consolas"/>
              </a:rPr>
              <a:t>Range</a:t>
            </a:r>
            <a:r>
              <a:rPr sz="1600">
                <a:solidFill>
                  <a:srgbClr val="D4D4D4"/>
                </a:solidFill>
                <a:latin typeface="Consolas"/>
              </a:rPr>
              <a:t>[</a:t>
            </a:r>
            <a:r>
              <a:rPr sz="1600">
                <a:solidFill>
                  <a:srgbClr val="B5CEA8"/>
                </a:solidFill>
                <a:latin typeface="Consolas"/>
              </a:rPr>
              <a:t>2</a:t>
            </a:r>
            <a:r>
              <a:rPr sz="160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/>
            <a:r>
              <a:rPr sz="1600">
                <a:solidFill>
                  <a:srgbClr val="569CD6"/>
                </a:solidFill>
                <a:latin typeface="Consolas"/>
              </a:rPr>
              <a:t>var</a:t>
            </a:r>
            <a:r>
              <a:rPr sz="1600">
                <a:solidFill>
                  <a:srgbClr val="D4D4D4"/>
                </a:solidFill>
                <a:latin typeface="Consolas"/>
              </a:rPr>
              <a:t> </a:t>
            </a:r>
            <a:r>
              <a:rPr sz="1600">
                <a:solidFill>
                  <a:srgbClr val="9CDCFE"/>
                </a:solidFill>
                <a:latin typeface="Consolas"/>
              </a:rPr>
              <a:t>span</a:t>
            </a:r>
            <a:r>
              <a:rPr sz="1600">
                <a:solidFill>
                  <a:srgbClr val="D4D4D4"/>
                </a:solidFill>
                <a:latin typeface="Consolas"/>
              </a:rPr>
              <a:t> = </a:t>
            </a:r>
            <a:r>
              <a:rPr sz="1600">
                <a:solidFill>
                  <a:srgbClr val="9CDCFE"/>
                </a:solidFill>
                <a:latin typeface="Consolas"/>
              </a:rPr>
              <a:t>line</a:t>
            </a:r>
            <a:r>
              <a:rPr sz="1600">
                <a:solidFill>
                  <a:srgbClr val="D4D4D4"/>
                </a:solidFill>
                <a:latin typeface="Consolas"/>
              </a:rPr>
              <a:t>.</a:t>
            </a:r>
            <a:r>
              <a:rPr sz="1600">
                <a:solidFill>
                  <a:srgbClr val="DCDCAA"/>
                </a:solidFill>
                <a:latin typeface="Consolas"/>
              </a:rPr>
              <a:t>AsSpan</a:t>
            </a:r>
            <a:r>
              <a:rPr sz="160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/>
            <a:r>
              <a:rPr sz="1600">
                <a:solidFill>
                  <a:srgbClr val="9CDCFE"/>
                </a:solidFill>
                <a:latin typeface="Consolas"/>
              </a:rPr>
              <a:t>span</a:t>
            </a:r>
            <a:r>
              <a:rPr sz="1600">
                <a:solidFill>
                  <a:srgbClr val="D4D4D4"/>
                </a:solidFill>
                <a:latin typeface="Consolas"/>
              </a:rPr>
              <a:t>.</a:t>
            </a:r>
            <a:r>
              <a:rPr sz="1600">
                <a:solidFill>
                  <a:srgbClr val="DCDCAA"/>
                </a:solidFill>
                <a:latin typeface="Consolas"/>
              </a:rPr>
              <a:t>Split</a:t>
            </a:r>
            <a:r>
              <a:rPr sz="1600">
                <a:solidFill>
                  <a:srgbClr val="D4D4D4"/>
                </a:solidFill>
                <a:latin typeface="Consolas"/>
              </a:rPr>
              <a:t>(</a:t>
            </a:r>
            <a:r>
              <a:rPr sz="1600">
                <a:solidFill>
                  <a:srgbClr val="9CDCFE"/>
                </a:solidFill>
                <a:latin typeface="Consolas"/>
              </a:rPr>
              <a:t>parts</a:t>
            </a:r>
            <a:r>
              <a:rPr sz="1600">
                <a:solidFill>
                  <a:srgbClr val="D4D4D4"/>
                </a:solidFill>
                <a:latin typeface="Consolas"/>
              </a:rPr>
              <a:t>, </a:t>
            </a:r>
            <a:r>
              <a:rPr sz="1600">
                <a:solidFill>
                  <a:srgbClr val="CE9178"/>
                </a:solidFill>
                <a:latin typeface="Consolas"/>
              </a:rPr>
              <a:t>';'</a:t>
            </a:r>
            <a:r>
              <a:rPr sz="160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/>
            <a:r>
              <a:rPr sz="1600">
                <a:solidFill>
                  <a:srgbClr val="4EC9B0"/>
                </a:solidFill>
                <a:latin typeface="Consolas"/>
              </a:rPr>
              <a:t>Enum</a:t>
            </a:r>
            <a:r>
              <a:rPr sz="1600">
                <a:solidFill>
                  <a:srgbClr val="D4D4D4"/>
                </a:solidFill>
                <a:latin typeface="Consolas"/>
              </a:rPr>
              <a:t>.</a:t>
            </a:r>
            <a:r>
              <a:rPr sz="1600">
                <a:solidFill>
                  <a:srgbClr val="9CDCFE"/>
                </a:solidFill>
                <a:latin typeface="Consolas"/>
              </a:rPr>
              <a:t>Parse</a:t>
            </a:r>
            <a:r>
              <a:rPr sz="1600">
                <a:solidFill>
                  <a:srgbClr val="D4D4D4"/>
                </a:solidFill>
                <a:latin typeface="Consolas"/>
              </a:rPr>
              <a:t>&lt;</a:t>
            </a:r>
            <a:r>
              <a:rPr sz="1600">
                <a:solidFill>
                  <a:srgbClr val="4EC9B0"/>
                </a:solidFill>
                <a:latin typeface="Consolas"/>
              </a:rPr>
              <a:t>Phase</a:t>
            </a:r>
            <a:r>
              <a:rPr sz="1600">
                <a:solidFill>
                  <a:srgbClr val="D4D4D4"/>
                </a:solidFill>
                <a:latin typeface="Consolas"/>
              </a:rPr>
              <a:t>&gt;(</a:t>
            </a:r>
            <a:r>
              <a:rPr sz="1600">
                <a:solidFill>
                  <a:srgbClr val="9CDCFE"/>
                </a:solidFill>
                <a:latin typeface="Consolas"/>
              </a:rPr>
              <a:t>span</a:t>
            </a:r>
            <a:r>
              <a:rPr sz="1600">
                <a:solidFill>
                  <a:srgbClr val="D4D4D4"/>
                </a:solidFill>
                <a:latin typeface="Consolas"/>
              </a:rPr>
              <a:t>[</a:t>
            </a:r>
            <a:r>
              <a:rPr sz="1600">
                <a:solidFill>
                  <a:srgbClr val="9CDCFE"/>
                </a:solidFill>
                <a:latin typeface="Consolas"/>
              </a:rPr>
              <a:t>parts</a:t>
            </a:r>
            <a:r>
              <a:rPr sz="1600">
                <a:solidFill>
                  <a:srgbClr val="D4D4D4"/>
                </a:solidFill>
                <a:latin typeface="Consolas"/>
              </a:rPr>
              <a:t>[</a:t>
            </a:r>
            <a:r>
              <a:rPr sz="1600">
                <a:solidFill>
                  <a:srgbClr val="B5CEA8"/>
                </a:solidFill>
                <a:latin typeface="Consolas"/>
              </a:rPr>
              <a:t>0</a:t>
            </a:r>
            <a:r>
              <a:rPr sz="1600">
                <a:solidFill>
                  <a:srgbClr val="D4D4D4"/>
                </a:solidFill>
                <a:latin typeface="Consolas"/>
              </a:rPr>
              <a:t>]]);</a:t>
            </a:r>
          </a:p>
          <a:p>
            <a:pPr algn="l"/>
            <a:r>
              <a:rPr sz="1600">
                <a:solidFill>
                  <a:srgbClr val="569CD6"/>
                </a:solidFill>
                <a:latin typeface="Consolas"/>
              </a:rPr>
              <a:t>double</a:t>
            </a:r>
            <a:r>
              <a:rPr sz="1600">
                <a:solidFill>
                  <a:srgbClr val="D4D4D4"/>
                </a:solidFill>
                <a:latin typeface="Consolas"/>
              </a:rPr>
              <a:t>.</a:t>
            </a:r>
            <a:r>
              <a:rPr sz="1600">
                <a:solidFill>
                  <a:srgbClr val="DCDCAA"/>
                </a:solidFill>
                <a:latin typeface="Consolas"/>
              </a:rPr>
              <a:t>Parse</a:t>
            </a:r>
            <a:r>
              <a:rPr sz="1600">
                <a:solidFill>
                  <a:srgbClr val="D4D4D4"/>
                </a:solidFill>
                <a:latin typeface="Consolas"/>
              </a:rPr>
              <a:t>(</a:t>
            </a:r>
            <a:r>
              <a:rPr sz="1600">
                <a:solidFill>
                  <a:srgbClr val="9CDCFE"/>
                </a:solidFill>
                <a:latin typeface="Consolas"/>
              </a:rPr>
              <a:t>span</a:t>
            </a:r>
            <a:r>
              <a:rPr sz="1600">
                <a:solidFill>
                  <a:srgbClr val="D4D4D4"/>
                </a:solidFill>
                <a:latin typeface="Consolas"/>
              </a:rPr>
              <a:t>[</a:t>
            </a:r>
            <a:r>
              <a:rPr sz="1600">
                <a:solidFill>
                  <a:srgbClr val="9CDCFE"/>
                </a:solidFill>
                <a:latin typeface="Consolas"/>
              </a:rPr>
              <a:t>parts</a:t>
            </a:r>
            <a:r>
              <a:rPr sz="1600">
                <a:solidFill>
                  <a:srgbClr val="D4D4D4"/>
                </a:solidFill>
                <a:latin typeface="Consolas"/>
              </a:rPr>
              <a:t>[</a:t>
            </a:r>
            <a:r>
              <a:rPr sz="1600">
                <a:solidFill>
                  <a:srgbClr val="B5CEA8"/>
                </a:solidFill>
                <a:latin typeface="Consolas"/>
              </a:rPr>
              <a:t>1</a:t>
            </a:r>
            <a:r>
              <a:rPr sz="1600">
                <a:solidFill>
                  <a:srgbClr val="D4D4D4"/>
                </a:solidFill>
                <a:latin typeface="Consolas"/>
              </a:rPr>
              <a:t>]]);</a:t>
            </a:r>
          </a:p>
        </p:txBody>
      </p:sp>
    </p:spTree>
    <p:extLst>
      <p:ext uri="{BB962C8B-B14F-4D97-AF65-F5344CB8AC3E}">
        <p14:creationId xmlns:p14="http://schemas.microsoft.com/office/powerpoint/2010/main" val="2750564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32340-74FC-1E79-FC40-1E9BA0F2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C9949B4-7321-6378-41A1-CB3E831E500A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9E27A560-4239-096B-A808-E298791F9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2DAF79D5-8460-9292-74BA-B06FD41F343D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 Split</a:t>
            </a:r>
          </a:p>
        </p:txBody>
      </p:sp>
      <p:pic>
        <p:nvPicPr>
          <p:cNvPr id="7" name="Picture 6" descr="span_vs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286000"/>
            <a:ext cx="9390888" cy="2750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22119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D5F6-CDB8-13E8-A9F2-0DD0E1FE3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 Split</a:t>
            </a:r>
          </a:p>
        </p:txBody>
      </p:sp>
      <p:sp>
        <p:nvSpPr>
          <p:cNvPr id="8" name="Code">
            <a:extLst>
              <a:ext uri="{FF2B5EF4-FFF2-40B4-BE49-F238E27FC236}">
                <a16:creationId xmlns:a16="http://schemas.microsoft.com/office/drawing/2014/main" id="{5AA0B749-4233-2CDD-E622-8CBCD0749666}"/>
              </a:ext>
            </a:extLst>
          </p:cNvPr>
          <p:cNvSpPr/>
          <p:nvPr/>
        </p:nvSpPr>
        <p:spPr>
          <a:xfrm>
            <a:off x="1591995" y="1828800"/>
            <a:ext cx="7504430" cy="399287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555555"/>
                </a:solidFill>
                <a:latin typeface="Consolas"/>
              </a:rPr>
              <a:t>public List&lt;TemperatureReadingStruct&gt; LoadSpanSplit(string[] lines)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{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   var readings = new List&lt;TemperatureReadingStruct&gt;();</a:t>
            </a:r>
          </a:p>
          <a:p>
            <a:pPr algn="l"/>
            <a:r>
              <a:rPr sz="1400">
                <a:solidFill>
                  <a:srgbClr val="D4D4D4"/>
                </a:solidFill>
                <a:latin typeface="Consolas"/>
              </a:rPr>
              <a:t>    </a:t>
            </a:r>
            <a:r>
              <a:rPr sz="1400">
                <a:solidFill>
                  <a:srgbClr val="4EC9B0"/>
                </a:solidFill>
                <a:latin typeface="Consolas"/>
              </a:rPr>
              <a:t>Span</a:t>
            </a:r>
            <a:r>
              <a:rPr sz="1400">
                <a:solidFill>
                  <a:srgbClr val="D4D4D4"/>
                </a:solidFill>
                <a:latin typeface="Consolas"/>
              </a:rPr>
              <a:t>&lt;</a:t>
            </a:r>
            <a:r>
              <a:rPr sz="1400">
                <a:solidFill>
                  <a:srgbClr val="4EC9B0"/>
                </a:solidFill>
                <a:latin typeface="Consolas"/>
              </a:rPr>
              <a:t>Range</a:t>
            </a:r>
            <a:r>
              <a:rPr sz="1400">
                <a:solidFill>
                  <a:srgbClr val="D4D4D4"/>
                </a:solidFill>
                <a:latin typeface="Consolas"/>
              </a:rPr>
              <a:t>&gt; </a:t>
            </a:r>
            <a:r>
              <a:rPr sz="1400">
                <a:solidFill>
                  <a:srgbClr val="9CDCFE"/>
                </a:solidFill>
                <a:latin typeface="Consolas"/>
              </a:rPr>
              <a:t>parts</a:t>
            </a:r>
            <a:r>
              <a:rPr sz="1400">
                <a:solidFill>
                  <a:srgbClr val="D4D4D4"/>
                </a:solidFill>
                <a:latin typeface="Consolas"/>
              </a:rPr>
              <a:t> = </a:t>
            </a:r>
            <a:r>
              <a:rPr sz="1400">
                <a:solidFill>
                  <a:srgbClr val="569CD6"/>
                </a:solidFill>
                <a:latin typeface="Consolas"/>
              </a:rPr>
              <a:t>stackalloc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4EC9B0"/>
                </a:solidFill>
                <a:latin typeface="Consolas"/>
              </a:rPr>
              <a:t>Range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B5CEA8"/>
                </a:solidFill>
                <a:latin typeface="Consolas"/>
              </a:rPr>
              <a:t>2</a:t>
            </a:r>
            <a:r>
              <a:rPr sz="1400">
                <a:solidFill>
                  <a:srgbClr val="D4D4D4"/>
                </a:solidFill>
                <a:latin typeface="Consolas"/>
              </a:rPr>
              <a:t>];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   foreach (var line in lines)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   {</a:t>
            </a:r>
          </a:p>
          <a:p>
            <a:pPr algn="l"/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569CD6"/>
                </a:solidFill>
                <a:latin typeface="Consolas"/>
              </a:rPr>
              <a:t>var</a:t>
            </a:r>
            <a:r>
              <a:rPr sz="1400">
                <a:solidFill>
                  <a:srgbClr val="D4D4D4"/>
                </a:solidFill>
                <a:latin typeface="Consolas"/>
              </a:rPr>
              <a:t> </a:t>
            </a:r>
            <a:r>
              <a:rPr sz="1400">
                <a:solidFill>
                  <a:srgbClr val="9CDCFE"/>
                </a:solidFill>
                <a:latin typeface="Consolas"/>
              </a:rPr>
              <a:t>span</a:t>
            </a:r>
            <a:r>
              <a:rPr sz="1400">
                <a:solidFill>
                  <a:srgbClr val="D4D4D4"/>
                </a:solidFill>
                <a:latin typeface="Consolas"/>
              </a:rPr>
              <a:t> = </a:t>
            </a:r>
            <a:r>
              <a:rPr sz="1400">
                <a:solidFill>
                  <a:srgbClr val="9CDCFE"/>
                </a:solidFill>
                <a:latin typeface="Consolas"/>
              </a:rPr>
              <a:t>line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DCDCAA"/>
                </a:solidFill>
                <a:latin typeface="Consolas"/>
              </a:rPr>
              <a:t>AsSpan</a:t>
            </a:r>
            <a:r>
              <a:rPr sz="140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/>
            <a:r>
              <a:rPr sz="1400">
                <a:solidFill>
                  <a:srgbClr val="D4D4D4"/>
                </a:solidFill>
                <a:latin typeface="Consolas"/>
              </a:rPr>
              <a:t>        </a:t>
            </a:r>
            <a:r>
              <a:rPr sz="1400">
                <a:solidFill>
                  <a:srgbClr val="9CDCFE"/>
                </a:solidFill>
                <a:latin typeface="Consolas"/>
              </a:rPr>
              <a:t>span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DCDCAA"/>
                </a:solidFill>
                <a:latin typeface="Consolas"/>
              </a:rPr>
              <a:t>Split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9CDCFE"/>
                </a:solidFill>
                <a:latin typeface="Consolas"/>
              </a:rPr>
              <a:t>parts</a:t>
            </a:r>
            <a:r>
              <a:rPr sz="1400">
                <a:solidFill>
                  <a:srgbClr val="D4D4D4"/>
                </a:solidFill>
                <a:latin typeface="Consolas"/>
              </a:rPr>
              <a:t>, </a:t>
            </a:r>
            <a:r>
              <a:rPr sz="1400">
                <a:solidFill>
                  <a:srgbClr val="CE9178"/>
                </a:solidFill>
                <a:latin typeface="Consolas"/>
              </a:rPr>
              <a:t>';'</a:t>
            </a:r>
            <a:r>
              <a:rPr sz="140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       readings.Add(new TemperatureReadingStruct(</a:t>
            </a:r>
          </a:p>
          <a:p>
            <a:pPr algn="l"/>
            <a:r>
              <a:rPr sz="140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400">
                <a:solidFill>
                  <a:srgbClr val="4EC9B0"/>
                </a:solidFill>
                <a:latin typeface="Consolas"/>
              </a:rPr>
              <a:t>Enum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9CDCFE"/>
                </a:solidFill>
                <a:latin typeface="Consolas"/>
              </a:rPr>
              <a:t>Parse</a:t>
            </a:r>
            <a:r>
              <a:rPr sz="1400">
                <a:solidFill>
                  <a:srgbClr val="D4D4D4"/>
                </a:solidFill>
                <a:latin typeface="Consolas"/>
              </a:rPr>
              <a:t>&lt;</a:t>
            </a:r>
            <a:r>
              <a:rPr sz="1400">
                <a:solidFill>
                  <a:srgbClr val="4EC9B0"/>
                </a:solidFill>
                <a:latin typeface="Consolas"/>
              </a:rPr>
              <a:t>Phase</a:t>
            </a:r>
            <a:r>
              <a:rPr sz="1400">
                <a:solidFill>
                  <a:srgbClr val="D4D4D4"/>
                </a:solidFill>
                <a:latin typeface="Consolas"/>
              </a:rPr>
              <a:t>&gt;(</a:t>
            </a:r>
            <a:r>
              <a:rPr sz="1400">
                <a:solidFill>
                  <a:srgbClr val="9CDCFE"/>
                </a:solidFill>
                <a:latin typeface="Consolas"/>
              </a:rPr>
              <a:t>span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9CDCFE"/>
                </a:solidFill>
                <a:latin typeface="Consolas"/>
              </a:rPr>
              <a:t>parts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B5CEA8"/>
                </a:solidFill>
                <a:latin typeface="Consolas"/>
              </a:rPr>
              <a:t>0</a:t>
            </a:r>
            <a:r>
              <a:rPr sz="1400">
                <a:solidFill>
                  <a:srgbClr val="D4D4D4"/>
                </a:solidFill>
                <a:latin typeface="Consolas"/>
              </a:rPr>
              <a:t>]]),</a:t>
            </a:r>
          </a:p>
          <a:p>
            <a:pPr algn="l"/>
            <a:r>
              <a:rPr sz="140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400">
                <a:solidFill>
                  <a:srgbClr val="569CD6"/>
                </a:solidFill>
                <a:latin typeface="Consolas"/>
              </a:rPr>
              <a:t>double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DCDCAA"/>
                </a:solidFill>
                <a:latin typeface="Consolas"/>
              </a:rPr>
              <a:t>Parse</a:t>
            </a:r>
            <a:r>
              <a:rPr sz="1400">
                <a:solidFill>
                  <a:srgbClr val="D4D4D4"/>
                </a:solidFill>
                <a:latin typeface="Consolas"/>
              </a:rPr>
              <a:t>(</a:t>
            </a:r>
            <a:r>
              <a:rPr sz="1400">
                <a:solidFill>
                  <a:srgbClr val="9CDCFE"/>
                </a:solidFill>
                <a:latin typeface="Consolas"/>
              </a:rPr>
              <a:t>span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9CDCFE"/>
                </a:solidFill>
                <a:latin typeface="Consolas"/>
              </a:rPr>
              <a:t>parts</a:t>
            </a:r>
            <a:r>
              <a:rPr sz="1400">
                <a:solidFill>
                  <a:srgbClr val="D4D4D4"/>
                </a:solidFill>
                <a:latin typeface="Consolas"/>
              </a:rPr>
              <a:t>[</a:t>
            </a:r>
            <a:r>
              <a:rPr sz="1400">
                <a:solidFill>
                  <a:srgbClr val="B5CEA8"/>
                </a:solidFill>
                <a:latin typeface="Consolas"/>
              </a:rPr>
              <a:t>1</a:t>
            </a:r>
            <a:r>
              <a:rPr sz="1400">
                <a:solidFill>
                  <a:srgbClr val="D4D4D4"/>
                </a:solidFill>
                <a:latin typeface="Consolas"/>
              </a:rPr>
              <a:t>]], </a:t>
            </a:r>
            <a:r>
              <a:rPr sz="1400">
                <a:solidFill>
                  <a:srgbClr val="4EC9B0"/>
                </a:solidFill>
                <a:latin typeface="Consolas"/>
              </a:rPr>
              <a:t>CultureInfo</a:t>
            </a:r>
            <a:r>
              <a:rPr sz="1400">
                <a:solidFill>
                  <a:srgbClr val="D4D4D4"/>
                </a:solidFill>
                <a:latin typeface="Consolas"/>
              </a:rPr>
              <a:t>.</a:t>
            </a:r>
            <a:r>
              <a:rPr sz="1400">
                <a:solidFill>
                  <a:srgbClr val="4EC9B0"/>
                </a:solidFill>
                <a:latin typeface="Consolas"/>
              </a:rPr>
              <a:t>InvariantCulture</a:t>
            </a:r>
            <a:r>
              <a:rPr sz="1400">
                <a:solidFill>
                  <a:srgbClr val="D4D4D4"/>
                </a:solidFill>
                <a:latin typeface="Consolas"/>
              </a:rPr>
              <a:t>)));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   }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    return readings;</a:t>
            </a:r>
          </a:p>
          <a:p>
            <a:pPr algn="l"/>
            <a:r>
              <a:rPr sz="1400">
                <a:solidFill>
                  <a:srgbClr val="555555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01092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C0804-BE25-FFD3-F4D4-B591E85EE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87C1B761-6803-65BA-3414-311F16A9B4E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E9FA21CB-AE0C-8A6B-7181-77E767FEC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D48A176E-9DF7-1894-5158-17DCEE4A3B80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 Split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482C74-57A4-8DBC-D164-D148D6DAEC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443" y="2943811"/>
            <a:ext cx="9383751" cy="875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297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412ED-449C-8A22-2419-186C5C78E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F24D525-0EDC-D574-9E87-248908515F63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826B4E42-9468-D3BC-970D-77E22BA56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7BF80716-B70B-BC00-C47F-75C9F8D5D532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Span Split</a:t>
            </a:r>
          </a:p>
        </p:txBody>
      </p:sp>
      <p:pic>
        <p:nvPicPr>
          <p:cNvPr id="7" name="Picture 6" descr="flamegraph_span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" y="2788920"/>
            <a:ext cx="9390888" cy="154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0089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95839-2F71-0BE8-AD4A-6535707E2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BA5D1453-68B8-1E2E-E2D8-92C3FEB6CCE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316FEC6-E116-1A29-4120-C120C9DC5D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D2A26AD-8411-0B5C-7812-ACD3EA36E38A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Core Temperature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986484D-4505-B5EC-D5C4-CC553D502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19" y="2889818"/>
            <a:ext cx="9601200" cy="808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6575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0118"/>
    </mc:Choice>
    <mc:Fallback xmlns="">
      <p:transition spd="slow" advTm="10118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3: Saving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534988" y="1844149"/>
            <a:ext cx="9691854" cy="1101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The spikes we found get saved to a file, so other tools can work with them.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Every line holds the number of the Phase, followed by ; and the temperature.</a:t>
            </a:r>
          </a:p>
        </p:txBody>
      </p:sp>
      <p:sp>
        <p:nvSpPr>
          <p:cNvPr id="9" name="Code"/>
          <p:cNvSpPr/>
          <p:nvPr/>
        </p:nvSpPr>
        <p:spPr>
          <a:xfrm>
            <a:off x="3742087" y="3284329"/>
            <a:ext cx="3204463" cy="12801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5CEA8"/>
                </a:solidFill>
                <a:latin typeface="Consolas"/>
              </a:rPr>
              <a:t>4</a:t>
            </a:r>
            <a:r>
              <a:rPr sz="2000" b="0" dirty="0">
                <a:solidFill>
                  <a:srgbClr val="D4D4D4"/>
                </a:solidFill>
                <a:latin typeface="Consolas"/>
              </a:rPr>
              <a:t>;</a:t>
            </a:r>
            <a:r>
              <a:rPr sz="2000" b="0" dirty="0">
                <a:solidFill>
                  <a:srgbClr val="B5CEA8"/>
                </a:solidFill>
                <a:latin typeface="Consolas"/>
              </a:rPr>
              <a:t>59.530800236170556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5CEA8"/>
                </a:solidFill>
                <a:latin typeface="Consolas"/>
              </a:rPr>
              <a:t>1</a:t>
            </a:r>
            <a:r>
              <a:rPr sz="2000" b="0" dirty="0">
                <a:solidFill>
                  <a:srgbClr val="D4D4D4"/>
                </a:solidFill>
                <a:latin typeface="Consolas"/>
              </a:rPr>
              <a:t>;</a:t>
            </a:r>
            <a:r>
              <a:rPr sz="2000" b="0" dirty="0">
                <a:solidFill>
                  <a:srgbClr val="B5CEA8"/>
                </a:solidFill>
                <a:latin typeface="Consolas"/>
              </a:rPr>
              <a:t>81.23774782579287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B5CEA8"/>
                </a:solidFill>
                <a:latin typeface="Consolas"/>
              </a:rPr>
              <a:t>5</a:t>
            </a:r>
            <a:r>
              <a:rPr sz="2000" b="0" dirty="0">
                <a:solidFill>
                  <a:srgbClr val="D4D4D4"/>
                </a:solidFill>
                <a:latin typeface="Consolas"/>
              </a:rPr>
              <a:t>;</a:t>
            </a:r>
            <a:r>
              <a:rPr sz="2000" b="0" dirty="0">
                <a:solidFill>
                  <a:srgbClr val="B5CEA8"/>
                </a:solidFill>
                <a:latin typeface="Consolas"/>
              </a:rPr>
              <a:t>70.37088778352873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3: Saving</a:t>
            </a:r>
          </a:p>
        </p:txBody>
      </p:sp>
      <p:sp>
        <p:nvSpPr>
          <p:cNvPr id="7" name="Code"/>
          <p:cNvSpPr/>
          <p:nvPr/>
        </p:nvSpPr>
        <p:spPr>
          <a:xfrm>
            <a:off x="1778267" y="2431105"/>
            <a:ext cx="7114641" cy="26517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Concat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4EC9B0"/>
                </a:solidFill>
                <a:latin typeface="Consolas"/>
              </a:rPr>
              <a:t>List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result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CE9178"/>
                </a:solidFill>
                <a:latin typeface="Consolas"/>
              </a:rPr>
              <a:t>""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C586C0"/>
                </a:solidFill>
                <a:latin typeface="Consolas"/>
              </a:rPr>
              <a:t>in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result</a:t>
            </a:r>
            <a:r>
              <a:rPr sz="1500" b="0">
                <a:solidFill>
                  <a:srgbClr val="D4D4D4"/>
                </a:solidFill>
                <a:latin typeface="Consolas"/>
              </a:rPr>
              <a:t> += (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 + </a:t>
            </a:r>
            <a:r>
              <a:rPr sz="1500" b="0">
                <a:solidFill>
                  <a:srgbClr val="CE9178"/>
                </a:solidFill>
                <a:latin typeface="Consolas"/>
              </a:rPr>
              <a:t>";"</a:t>
            </a:r>
            <a:r>
              <a:rPr sz="1500" b="0">
                <a:solidFill>
                  <a:srgbClr val="D4D4D4"/>
                </a:solidFill>
                <a:latin typeface="Consolas"/>
              </a:rPr>
              <a:t> +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 + </a:t>
            </a:r>
            <a:r>
              <a:rPr sz="1500" b="0">
                <a:solidFill>
                  <a:srgbClr val="CE9178"/>
                </a:solidFill>
                <a:latin typeface="Consolas"/>
              </a:rPr>
              <a:t>"\n"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result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Phase 3: Saving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534988" y="1844149"/>
            <a:ext cx="9691854" cy="1101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Strings can’t be changed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Every += creates a new String and copies everything we saved so far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The more spikes, the more gets copied again and again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StringBuilder</a:t>
            </a:r>
          </a:p>
        </p:txBody>
      </p:sp>
      <p:sp>
        <p:nvSpPr>
          <p:cNvPr id="7" name="Code"/>
          <p:cNvSpPr/>
          <p:nvPr/>
        </p:nvSpPr>
        <p:spPr>
          <a:xfrm>
            <a:off x="702971" y="1834515"/>
            <a:ext cx="6695694" cy="3337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4EC9B0"/>
                </a:solidFill>
                <a:latin typeface="Consolas"/>
              </a:rPr>
              <a:t>List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StringBuilder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500" b="0">
                <a:solidFill>
                  <a:srgbClr val="C586C0">
                    <a:alpha val="45000"/>
                  </a:srgbClr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(</a:t>
            </a:r>
            <a:r>
              <a:rPr sz="15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C586C0">
                    <a:alpha val="45000"/>
                  </a:srgbClr>
                </a:solidFill>
                <a:latin typeface="Consolas"/>
              </a:rPr>
              <a:t>in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((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('\</a:t>
            </a:r>
            <a:r>
              <a:rPr sz="1500" b="0">
                <a:solidFill>
                  <a:srgbClr val="9CDCFE"/>
                </a:solidFill>
                <a:latin typeface="Consolas"/>
              </a:rPr>
              <a:t>n</a:t>
            </a:r>
            <a:r>
              <a:rPr sz="1500" b="0">
                <a:solidFill>
                  <a:srgbClr val="D4D4D4"/>
                </a:solidFill>
                <a:latin typeface="Consolas"/>
              </a:rPr>
              <a:t>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ToString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StringBuilder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534988" y="1844149"/>
            <a:ext cx="9691854" cy="1101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StringBuilder writes into a Buffer and only creates the String once at the end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When the Buffer is full, it adds a new, bigger Chunk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83594-1963-2145-7EBE-2DFC1D7CDD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712ED47-A336-9B90-2AE8-052EB8A146D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0B7EC833-6AFA-AE90-C86F-D7FC00CCE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60791D22-C998-2A7C-8ED4-DBE4F7FC6511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StringBuilder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DA272C-428C-E6B5-3A74-F54CDAFD4C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49" y="3118024"/>
            <a:ext cx="10231278" cy="82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57010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24A99-1D60-C9C7-E885-817969502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2DF1488-2F8B-F271-EC20-0F06980DDB0B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A8F82A77-39A9-9053-B596-EA761A6D9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846213C1-7AA7-4B45-0F15-E9FA6764262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StringBuilder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FC4A4C0-5D51-EC3D-AF49-3508E8459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949" y="3118024"/>
            <a:ext cx="10231278" cy="828791"/>
          </a:xfrm>
          <a:prstGeom prst="rect">
            <a:avLst/>
          </a:prstGeom>
        </p:spPr>
      </p:pic>
      <p:sp>
        <p:nvSpPr>
          <p:cNvPr id="9" name="Textfeld 7">
            <a:extLst>
              <a:ext uri="{FF2B5EF4-FFF2-40B4-BE49-F238E27FC236}">
                <a16:creationId xmlns:a16="http://schemas.microsoft.com/office/drawing/2014/main" id="{7043A891-D662-6089-5379-4BDDA721A5D3}"/>
              </a:ext>
            </a:extLst>
          </p:cNvPr>
          <p:cNvSpPr txBox="1"/>
          <p:nvPr/>
        </p:nvSpPr>
        <p:spPr>
          <a:xfrm>
            <a:off x="4039491" y="4208207"/>
            <a:ext cx="2609656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Can we get even better?</a:t>
            </a:r>
          </a:p>
        </p:txBody>
      </p:sp>
    </p:spTree>
    <p:extLst>
      <p:ext uri="{BB962C8B-B14F-4D97-AF65-F5344CB8AC3E}">
        <p14:creationId xmlns:p14="http://schemas.microsoft.com/office/powerpoint/2010/main" val="171011136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DE9A3-E510-869B-D045-FFE46D5F0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24860452-23E6-DDAB-772C-1360C5385F9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70410CA6-8526-70C9-F21D-CA0C0BF1D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05520451-10C1-4A2E-15F4-E9F1605ED5B8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Can we get even better?</a:t>
            </a:r>
          </a:p>
        </p:txBody>
      </p:sp>
      <p:sp>
        <p:nvSpPr>
          <p:cNvPr id="7" name="Code"/>
          <p:cNvSpPr/>
          <p:nvPr/>
        </p:nvSpPr>
        <p:spPr>
          <a:xfrm>
            <a:off x="702971" y="1834515"/>
            <a:ext cx="6695694" cy="33375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4EC9B0"/>
                </a:solidFill>
                <a:latin typeface="Consolas"/>
              </a:rPr>
              <a:t>List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StringBuilder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C586C0"/>
                </a:solidFill>
                <a:latin typeface="Consolas"/>
              </a:rPr>
              <a:t>in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((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('\</a:t>
            </a:r>
            <a:r>
              <a:rPr sz="1500" b="0">
                <a:solidFill>
                  <a:srgbClr val="9CDCFE"/>
                </a:solidFill>
                <a:latin typeface="Consolas"/>
              </a:rPr>
              <a:t>n</a:t>
            </a:r>
            <a:r>
              <a:rPr sz="1500" b="0">
                <a:solidFill>
                  <a:srgbClr val="D4D4D4"/>
                </a:solidFill>
                <a:latin typeface="Consolas"/>
              </a:rPr>
              <a:t>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ToString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4218803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Pre-Calculating the Size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534988" y="1844149"/>
            <a:ext cx="9691854" cy="1101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Let’s change the format: the temperature always has 3 digits and 6 decimal places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Now every line has exactly 13 characters, so we know the size of the String before we start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StringBuilder gets the exact size, so its Buffer never has to grow</a:t>
            </a:r>
          </a:p>
        </p:txBody>
      </p:sp>
      <p:sp>
        <p:nvSpPr>
          <p:cNvPr id="9" name="Code"/>
          <p:cNvSpPr/>
          <p:nvPr/>
        </p:nvSpPr>
        <p:spPr>
          <a:xfrm>
            <a:off x="4300683" y="4313029"/>
            <a:ext cx="2087270" cy="12801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5CEA8"/>
                </a:solidFill>
                <a:latin typeface="Consolas"/>
              </a:rPr>
              <a:t>4</a:t>
            </a:r>
            <a:r>
              <a:rPr sz="2000" b="0">
                <a:solidFill>
                  <a:srgbClr val="D4D4D4"/>
                </a:solidFill>
                <a:latin typeface="Consolas"/>
              </a:rPr>
              <a:t>;</a:t>
            </a:r>
            <a:r>
              <a:rPr sz="2000" b="0">
                <a:solidFill>
                  <a:srgbClr val="B5CEA8"/>
                </a:solidFill>
                <a:latin typeface="Consolas"/>
              </a:rPr>
              <a:t>059.530800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5CEA8"/>
                </a:solidFill>
                <a:latin typeface="Consolas"/>
              </a:rPr>
              <a:t>1</a:t>
            </a:r>
            <a:r>
              <a:rPr sz="2000" b="0">
                <a:solidFill>
                  <a:srgbClr val="D4D4D4"/>
                </a:solidFill>
                <a:latin typeface="Consolas"/>
              </a:rPr>
              <a:t>;</a:t>
            </a:r>
            <a:r>
              <a:rPr sz="2000" b="0">
                <a:solidFill>
                  <a:srgbClr val="B5CEA8"/>
                </a:solidFill>
                <a:latin typeface="Consolas"/>
              </a:rPr>
              <a:t>081.237748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B5CEA8"/>
                </a:solidFill>
                <a:latin typeface="Consolas"/>
              </a:rPr>
              <a:t>5</a:t>
            </a:r>
            <a:r>
              <a:rPr sz="2000" b="0">
                <a:solidFill>
                  <a:srgbClr val="D4D4D4"/>
                </a:solidFill>
                <a:latin typeface="Consolas"/>
              </a:rPr>
              <a:t>;</a:t>
            </a:r>
            <a:r>
              <a:rPr sz="2000" b="0">
                <a:solidFill>
                  <a:srgbClr val="B5CEA8"/>
                </a:solidFill>
                <a:latin typeface="Consolas"/>
              </a:rPr>
              <a:t>070.370888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Pre-Calculating the Size</a:t>
            </a:r>
          </a:p>
        </p:txBody>
      </p:sp>
      <p:sp>
        <p:nvSpPr>
          <p:cNvPr id="7" name="Code"/>
          <p:cNvSpPr/>
          <p:nvPr/>
        </p:nvSpPr>
        <p:spPr>
          <a:xfrm>
            <a:off x="702971" y="1834515"/>
            <a:ext cx="7638326" cy="368046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static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LineLength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CE9178"/>
                </a:solidFill>
                <a:latin typeface="Consolas"/>
              </a:rPr>
              <a:t>"2;103.417205\n"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BuilderExactSize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4EC9B0"/>
                </a:solidFill>
                <a:latin typeface="Consolas"/>
              </a:rPr>
              <a:t>List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569CD6"/>
                </a:solidFill>
                <a:latin typeface="Consolas"/>
              </a:rPr>
              <a:t>new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StringBuilder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500" b="0">
                <a:solidFill>
                  <a:srgbClr val="D4D4D4"/>
                </a:solidFill>
                <a:latin typeface="Consolas"/>
              </a:rPr>
              <a:t> * </a:t>
            </a:r>
            <a:r>
              <a:rPr sz="1500" b="0">
                <a:solidFill>
                  <a:srgbClr val="4EC9B0"/>
                </a:solidFill>
                <a:latin typeface="Consolas"/>
              </a:rPr>
              <a:t>LineLength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500" b="0">
                <a:solidFill>
                  <a:srgbClr val="C586C0">
                    <a:alpha val="45000"/>
                  </a:srgbClr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(</a:t>
            </a:r>
            <a:r>
              <a:rPr sz="1500" b="0">
                <a:solidFill>
                  <a:srgbClr val="569CD6">
                    <a:alpha val="45000"/>
                  </a:srgbClr>
                </a:solidFill>
                <a:latin typeface="Consolas"/>
              </a:rPr>
              <a:t>var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C586C0">
                    <a:alpha val="45000"/>
                  </a:srgbClr>
                </a:solidFill>
                <a:latin typeface="Consolas"/>
              </a:rPr>
              <a:t>in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>
                <a:solidFill>
                  <a:srgbClr val="DCDCAA">
                    <a:alpha val="45000"/>
                  </a:srgbClr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((</a:t>
            </a:r>
            <a:r>
              <a:rPr sz="1500" b="0">
                <a:solidFill>
                  <a:srgbClr val="569CD6">
                    <a:alpha val="45000"/>
                  </a:srgbClr>
                </a:solidFill>
                <a:latin typeface="Consolas"/>
              </a:rPr>
              <a:t>int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>
                <a:solidFill>
                  <a:srgbClr val="DCDCAA">
                    <a:alpha val="45000"/>
                  </a:srgbClr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(';');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/>
                </a:solidFill>
                <a:latin typeface="Consolas"/>
              </a:rPr>
              <a:t>($</a:t>
            </a:r>
            <a:r>
              <a:rPr sz="1500" b="0">
                <a:solidFill>
                  <a:srgbClr val="CE9178"/>
                </a:solidFill>
                <a:latin typeface="Consolas"/>
              </a:rPr>
              <a:t>"{spike.Celsius:000.000000}"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   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>
                <a:solidFill>
                  <a:srgbClr val="DCDCAA">
                    <a:alpha val="45000"/>
                  </a:srgbClr>
                </a:solidFill>
                <a:latin typeface="Consolas"/>
              </a:rPr>
              <a:t>Append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('\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n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');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   </a:t>
            </a:r>
            <a:r>
              <a:rPr sz="1500" b="0">
                <a:solidFill>
                  <a:srgbClr val="C586C0">
                    <a:alpha val="45000"/>
                  </a:srgbClr>
                </a:solidFill>
                <a:latin typeface="Consolas"/>
              </a:rPr>
              <a:t>return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 </a:t>
            </a:r>
            <a:r>
              <a:rPr sz="1500" b="0">
                <a:solidFill>
                  <a:srgbClr val="9CDCFE">
                    <a:alpha val="45000"/>
                  </a:srgbClr>
                </a:solidFill>
                <a:latin typeface="Consolas"/>
              </a:rPr>
              <a:t>builder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500" b="0">
                <a:solidFill>
                  <a:srgbClr val="DCDCAA">
                    <a:alpha val="45000"/>
                  </a:srgbClr>
                </a:solidFill>
                <a:latin typeface="Consolas"/>
              </a:rPr>
              <a:t>ToString</a:t>
            </a: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();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>
                    <a:alpha val="45000"/>
                  </a:srgbClr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46CBA-2DD9-B8B6-98F7-FD8E0F8D4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FEC31A3-6618-D2BF-186B-6EB00B235A35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5C32EF-DE68-9AC2-90E0-EF136D828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94D07FC-41D3-99F5-C460-F783FF4D8707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Pre-Calculating the Size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26CD2AF-3D4C-BEEA-C35D-77A3A74D9E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1" y="3119650"/>
            <a:ext cx="9412013" cy="847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4068692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DE0C6-34E5-3655-1C0F-CDD759748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B09E75C-A944-026F-6EEA-75285925929C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DECCAAA9-72DB-A36D-DD0C-D5F9987010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55CD8AEF-7BFC-679F-81C2-BD611855BCC4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Pre-Calculating the Size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A65EB4-C376-F4B2-58D2-683BDFCBE9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1" y="3119650"/>
            <a:ext cx="9412013" cy="847843"/>
          </a:xfrm>
          <a:prstGeom prst="rect">
            <a:avLst/>
          </a:prstGeom>
        </p:spPr>
      </p:pic>
      <p:sp>
        <p:nvSpPr>
          <p:cNvPr id="9" name="Textfeld 7">
            <a:extLst>
              <a:ext uri="{FF2B5EF4-FFF2-40B4-BE49-F238E27FC236}">
                <a16:creationId xmlns:a16="http://schemas.microsoft.com/office/drawing/2014/main" id="{04618C6A-F874-4E8C-717C-F051819434F4}"/>
              </a:ext>
            </a:extLst>
          </p:cNvPr>
          <p:cNvSpPr txBox="1"/>
          <p:nvPr/>
        </p:nvSpPr>
        <p:spPr>
          <a:xfrm>
            <a:off x="4039491" y="4208207"/>
            <a:ext cx="2609656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Can we get even better?</a:t>
            </a:r>
          </a:p>
        </p:txBody>
      </p:sp>
    </p:spTree>
    <p:extLst>
      <p:ext uri="{BB962C8B-B14F-4D97-AF65-F5344CB8AC3E}">
        <p14:creationId xmlns:p14="http://schemas.microsoft.com/office/powerpoint/2010/main" val="3967581526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string.Create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7" name="Code"/>
          <p:cNvSpPr/>
          <p:nvPr/>
        </p:nvSpPr>
        <p:spPr>
          <a:xfrm>
            <a:off x="702971" y="1834515"/>
            <a:ext cx="8476221" cy="3909059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private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static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readonly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4EC9B0"/>
                </a:solidFill>
                <a:latin typeface="Consolas"/>
              </a:rPr>
              <a:t>LineLength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CE9178"/>
                </a:solidFill>
                <a:latin typeface="Consolas"/>
              </a:rPr>
              <a:t>"2;103.417205\n"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69CD6"/>
                </a:solidFill>
                <a:latin typeface="Consolas"/>
              </a:rPr>
              <a:t>public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DCDCAA"/>
                </a:solidFill>
                <a:latin typeface="Consolas"/>
              </a:rPr>
              <a:t>StringCreate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4EC9B0"/>
                </a:solidFill>
                <a:latin typeface="Consolas"/>
              </a:rPr>
              <a:t>List</a:t>
            </a:r>
            <a:r>
              <a:rPr sz="1500" b="0">
                <a:solidFill>
                  <a:srgbClr val="D4D4D4"/>
                </a:solidFill>
                <a:latin typeface="Consolas"/>
              </a:rPr>
              <a:t>&lt;</a:t>
            </a:r>
            <a:r>
              <a:rPr sz="1500" b="0">
                <a:solidFill>
                  <a:srgbClr val="4EC9B0"/>
                </a:solidFill>
                <a:latin typeface="Consolas"/>
              </a:rPr>
              <a:t>TemperatureReadingStruct</a:t>
            </a:r>
            <a:r>
              <a:rPr sz="1500" b="0">
                <a:solidFill>
                  <a:srgbClr val="D4D4D4"/>
                </a:solidFill>
                <a:latin typeface="Consolas"/>
              </a:rPr>
              <a:t>&gt;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return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569CD6"/>
                </a:solidFill>
                <a:latin typeface="Consolas"/>
              </a:rPr>
              <a:t>string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Create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Count</a:t>
            </a:r>
            <a:r>
              <a:rPr sz="1500" b="0">
                <a:solidFill>
                  <a:srgbClr val="D4D4D4"/>
                </a:solidFill>
                <a:latin typeface="Consolas"/>
              </a:rPr>
              <a:t> * </a:t>
            </a:r>
            <a:r>
              <a:rPr sz="1500" b="0">
                <a:solidFill>
                  <a:srgbClr val="4EC9B0"/>
                </a:solidFill>
                <a:latin typeface="Consolas"/>
              </a:rPr>
              <a:t>LineLength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, (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 =&gt;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</a:t>
            </a:r>
            <a:r>
              <a:rPr sz="1500" b="0">
                <a:solidFill>
                  <a:srgbClr val="C586C0"/>
                </a:solidFill>
                <a:latin typeface="Consolas"/>
              </a:rPr>
              <a:t>foreach</a:t>
            </a:r>
            <a:r>
              <a:rPr sz="1500" b="0">
                <a:solidFill>
                  <a:srgbClr val="D4D4D4"/>
                </a:solidFill>
                <a:latin typeface="Consolas"/>
              </a:rPr>
              <a:t> (</a:t>
            </a:r>
            <a:r>
              <a:rPr sz="1500" b="0">
                <a:solidFill>
                  <a:srgbClr val="569CD6"/>
                </a:solidFill>
                <a:latin typeface="Consolas"/>
              </a:rPr>
              <a:t>var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C586C0"/>
                </a:solidFill>
                <a:latin typeface="Consolas"/>
              </a:rPr>
              <a:t>in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    ((</a:t>
            </a:r>
            <a:r>
              <a:rPr sz="1500" b="0">
                <a:solidFill>
                  <a:srgbClr val="569CD6"/>
                </a:solidFill>
                <a:latin typeface="Consolas"/>
              </a:rPr>
              <a:t>int</a:t>
            </a:r>
            <a:r>
              <a:rPr sz="1500" b="0">
                <a:solidFill>
                  <a:srgbClr val="D4D4D4"/>
                </a:solidFill>
                <a:latin typeface="Consolas"/>
              </a:rPr>
              <a:t>)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Phase</a:t>
            </a:r>
            <a:r>
              <a:rPr sz="1500" b="0">
                <a:solidFill>
                  <a:srgbClr val="D4D4D4"/>
                </a:solidFill>
                <a:latin typeface="Consolas"/>
              </a:rPr>
              <a:t>).</a:t>
            </a:r>
            <a:r>
              <a:rPr sz="1500" b="0">
                <a:solidFill>
                  <a:srgbClr val="DCDCAA"/>
                </a:solidFill>
                <a:latin typeface="Consolas"/>
              </a:rPr>
              <a:t>TryFormat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B5CEA8"/>
                </a:solidFill>
                <a:latin typeface="Consolas"/>
              </a:rPr>
              <a:t>0</a:t>
            </a:r>
            <a:r>
              <a:rPr sz="1500" b="0">
                <a:solidFill>
                  <a:srgbClr val="D4D4D4"/>
                </a:solidFill>
                <a:latin typeface="Consolas"/>
              </a:rPr>
              <a:t>..</a:t>
            </a:r>
            <a:r>
              <a:rPr sz="150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b="0">
                <a:solidFill>
                  <a:srgbClr val="D4D4D4"/>
                </a:solidFill>
                <a:latin typeface="Consolas"/>
              </a:rPr>
              <a:t>], </a:t>
            </a:r>
            <a:r>
              <a:rPr sz="1500" b="0">
                <a:solidFill>
                  <a:srgbClr val="569CD6"/>
                </a:solidFill>
                <a:latin typeface="Consolas"/>
              </a:rPr>
              <a:t>out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_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B5CEA8"/>
                </a:solidFill>
                <a:latin typeface="Consolas"/>
              </a:rPr>
              <a:t>1</a:t>
            </a:r>
            <a:r>
              <a:rPr sz="1500" b="0">
                <a:solidFill>
                  <a:srgbClr val="D4D4D4"/>
                </a:solidFill>
                <a:latin typeface="Consolas"/>
              </a:rPr>
              <a:t>] = ';';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spike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500" b="0">
                <a:solidFill>
                  <a:srgbClr val="D4D4D4"/>
                </a:solidFill>
                <a:latin typeface="Consolas"/>
              </a:rPr>
              <a:t>.</a:t>
            </a:r>
            <a:r>
              <a:rPr sz="1500" b="0">
                <a:solidFill>
                  <a:srgbClr val="DCDCAA"/>
                </a:solidFill>
                <a:latin typeface="Consolas"/>
              </a:rPr>
              <a:t>TryFormat</a:t>
            </a:r>
            <a:r>
              <a:rPr sz="1500" b="0">
                <a:solidFill>
                  <a:srgbClr val="D4D4D4"/>
                </a:solidFill>
                <a:latin typeface="Consolas"/>
              </a:rPr>
              <a:t>(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B5CEA8"/>
                </a:solidFill>
                <a:latin typeface="Consolas"/>
              </a:rPr>
              <a:t>2</a:t>
            </a:r>
            <a:r>
              <a:rPr sz="1500" b="0">
                <a:solidFill>
                  <a:srgbClr val="D4D4D4"/>
                </a:solidFill>
                <a:latin typeface="Consolas"/>
              </a:rPr>
              <a:t>..</a:t>
            </a:r>
            <a:r>
              <a:rPr sz="150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b="0">
                <a:solidFill>
                  <a:srgbClr val="D4D4D4"/>
                </a:solidFill>
                <a:latin typeface="Consolas"/>
              </a:rPr>
              <a:t>], </a:t>
            </a:r>
            <a:r>
              <a:rPr sz="1500" b="0">
                <a:solidFill>
                  <a:srgbClr val="569CD6"/>
                </a:solidFill>
                <a:latin typeface="Consolas"/>
              </a:rPr>
              <a:t>out</a:t>
            </a:r>
            <a:r>
              <a:rPr sz="1500" b="0">
                <a:solidFill>
                  <a:srgbClr val="D4D4D4"/>
                </a:solidFill>
                <a:latin typeface="Consolas"/>
              </a:rPr>
              <a:t> </a:t>
            </a:r>
            <a:r>
              <a:rPr sz="1500" b="0">
                <a:solidFill>
                  <a:srgbClr val="9CDCFE"/>
                </a:solidFill>
                <a:latin typeface="Consolas"/>
              </a:rPr>
              <a:t>_</a:t>
            </a:r>
            <a:r>
              <a:rPr sz="1500" b="0">
                <a:solidFill>
                  <a:srgbClr val="D4D4D4"/>
                </a:solidFill>
                <a:latin typeface="Consolas"/>
              </a:rPr>
              <a:t>, </a:t>
            </a:r>
            <a:r>
              <a:rPr sz="1500" b="0">
                <a:solidFill>
                  <a:srgbClr val="CE9178"/>
                </a:solidFill>
                <a:latin typeface="Consolas"/>
              </a:rPr>
              <a:t>"000.000000"</a:t>
            </a:r>
            <a:r>
              <a:rPr sz="1500" b="0">
                <a:solidFill>
                  <a:srgbClr val="D4D4D4"/>
                </a:solidFill>
                <a:latin typeface="Consolas"/>
              </a:rPr>
              <a:t>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B5CEA8"/>
                </a:solidFill>
                <a:latin typeface="Consolas"/>
              </a:rPr>
              <a:t>12</a:t>
            </a:r>
            <a:r>
              <a:rPr sz="1500" b="0">
                <a:solidFill>
                  <a:srgbClr val="D4D4D4"/>
                </a:solidFill>
                <a:latin typeface="Consolas"/>
              </a:rPr>
              <a:t>] = '\</a:t>
            </a:r>
            <a:r>
              <a:rPr sz="1500" b="0">
                <a:solidFill>
                  <a:srgbClr val="9CDCFE"/>
                </a:solidFill>
                <a:latin typeface="Consolas"/>
              </a:rPr>
              <a:t>n</a:t>
            </a:r>
            <a:r>
              <a:rPr sz="1500" b="0">
                <a:solidFill>
                  <a:srgbClr val="D4D4D4"/>
                </a:solidFill>
                <a:latin typeface="Consolas"/>
              </a:rPr>
              <a:t>';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    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 = </a:t>
            </a:r>
            <a:r>
              <a:rPr sz="1500" b="0">
                <a:solidFill>
                  <a:srgbClr val="9CDCFE"/>
                </a:solidFill>
                <a:latin typeface="Consolas"/>
              </a:rPr>
              <a:t>span</a:t>
            </a:r>
            <a:r>
              <a:rPr sz="1500" b="0">
                <a:solidFill>
                  <a:srgbClr val="D4D4D4"/>
                </a:solidFill>
                <a:latin typeface="Consolas"/>
              </a:rPr>
              <a:t>[</a:t>
            </a:r>
            <a:r>
              <a:rPr sz="1500" b="0">
                <a:solidFill>
                  <a:srgbClr val="4EC9B0"/>
                </a:solidFill>
                <a:latin typeface="Consolas"/>
              </a:rPr>
              <a:t>LineLength</a:t>
            </a:r>
            <a:r>
              <a:rPr sz="1500" b="0">
                <a:solidFill>
                  <a:srgbClr val="D4D4D4"/>
                </a:solidFill>
                <a:latin typeface="Consolas"/>
              </a:rPr>
              <a:t>..];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  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    });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string.Create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534988" y="1844149"/>
            <a:ext cx="9691854" cy="1101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string.Create gives us the Memory of the final String as a Span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</a:t>
            </a:r>
          </a:p>
          <a:p>
            <a:pPr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We write directly into it: no Buffer and no copy at the end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Example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 err="1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string.Create</a:t>
            </a:r>
            <a:endParaRPr lang="en-US" sz="3000" dirty="0">
              <a:latin typeface="Roboto" panose="02000000000000000000" pitchFamily="2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C26237-5FEF-237C-6441-222131E385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471" y="3207568"/>
            <a:ext cx="8573696" cy="1028844"/>
          </a:xfrm>
          <a:prstGeom prst="rect">
            <a:avLst/>
          </a:prstGeom>
        </p:spPr>
      </p:pic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7B5125E6-468F-42A4-91C8-3CBA4A10CFB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53307" y="2243224"/>
            <a:ext cx="4499706" cy="443731"/>
          </a:xfrm>
          <a:prstGeom prst="rect">
            <a:avLst/>
          </a:prstGeom>
        </p:spPr>
      </p:pic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798AD36-1656-4C66-860F-6437D6C681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>
                <a:solidFill>
                  <a:schemeClr val="bg1"/>
                </a:solidFill>
              </a:rPr>
              <a:t>hello@guidnew.com</a:t>
            </a:r>
          </a:p>
          <a:p>
            <a:r>
              <a:rPr lang="en-US" noProof="0" dirty="0">
                <a:solidFill>
                  <a:schemeClr val="bg1"/>
                </a:solidFill>
              </a:rPr>
              <a:t>https://guidnew.com/ </a:t>
            </a:r>
          </a:p>
          <a:p>
            <a:endParaRPr lang="en-US" noProof="0" dirty="0">
              <a:solidFill>
                <a:schemeClr val="bg1"/>
              </a:solidFill>
            </a:endParaRP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344C353-A0EF-406B-A31F-B18F8AE9F5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i="1" noProof="0" dirty="0">
                <a:solidFill>
                  <a:schemeClr val="bg1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Don‘t hesitate to contact us…</a:t>
            </a:r>
          </a:p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035956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Extra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Dictionary in one Lookup</a:t>
            </a:r>
          </a:p>
        </p:txBody>
      </p:sp>
      <p:sp>
        <p:nvSpPr>
          <p:cNvPr id="7" name="Code"/>
          <p:cNvSpPr/>
          <p:nvPr/>
        </p:nvSpPr>
        <p:spPr>
          <a:xfrm>
            <a:off x="1189998" y="2615186"/>
            <a:ext cx="8308642" cy="10287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9CDCFE"/>
                </a:solidFill>
                <a:latin typeface="Consolas"/>
              </a:rPr>
              <a:t>sums</a:t>
            </a:r>
            <a:r>
              <a:rPr sz="1450" b="0">
                <a:solidFill>
                  <a:srgbClr val="D4D4D4"/>
                </a:solidFill>
                <a:latin typeface="Consolas"/>
              </a:rPr>
              <a:t>[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] = </a:t>
            </a:r>
            <a:r>
              <a:rPr sz="1450" b="0">
                <a:solidFill>
                  <a:srgbClr val="9CDCFE"/>
                </a:solidFill>
                <a:latin typeface="Consolas"/>
              </a:rPr>
              <a:t>sums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50" b="0">
                <a:solidFill>
                  <a:srgbClr val="D4D4D4"/>
                </a:solidFill>
                <a:latin typeface="Consolas"/>
              </a:rPr>
              <a:t>(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) + 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4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450" b="0">
                <a:solidFill>
                  <a:srgbClr val="D4D4D4"/>
                </a:solidFill>
                <a:latin typeface="Consolas"/>
              </a:rPr>
              <a:t>[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] = </a:t>
            </a:r>
            <a:r>
              <a:rPr sz="145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50" b="0">
                <a:solidFill>
                  <a:srgbClr val="D4D4D4"/>
                </a:solidFill>
                <a:latin typeface="Consolas"/>
              </a:rPr>
              <a:t>(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) + </a:t>
            </a:r>
            <a:r>
              <a:rPr sz="1450" b="0">
                <a:solidFill>
                  <a:srgbClr val="B5CEA8"/>
                </a:solidFill>
                <a:latin typeface="Consolas"/>
              </a:rPr>
              <a:t>1</a:t>
            </a:r>
            <a:r>
              <a:rPr sz="14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450" b="0">
                <a:solidFill>
                  <a:srgbClr val="D4D4D4"/>
                </a:solidFill>
                <a:latin typeface="Consolas"/>
              </a:rPr>
              <a:t>[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] = </a:t>
            </a:r>
            <a:r>
              <a:rPr sz="145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50" b="0">
                <a:solidFill>
                  <a:srgbClr val="D4D4D4"/>
                </a:solidFill>
                <a:latin typeface="Consolas"/>
              </a:rPr>
              <a:t>(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) + </a:t>
            </a:r>
            <a:r>
              <a:rPr sz="1450" b="0">
                <a:solidFill>
                  <a:srgbClr val="B5CEA8"/>
                </a:solidFill>
                <a:latin typeface="Consolas"/>
              </a:rPr>
              <a:t>1</a:t>
            </a:r>
            <a:r>
              <a:rPr sz="145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498392" y="3755932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Every update searches the Dictionary twice: once to read and once to write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Extra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Dictionary in one Lookup</a:t>
            </a:r>
          </a:p>
        </p:txBody>
      </p:sp>
      <p:sp>
        <p:nvSpPr>
          <p:cNvPr id="7" name="Code"/>
          <p:cNvSpPr/>
          <p:nvPr/>
        </p:nvSpPr>
        <p:spPr>
          <a:xfrm>
            <a:off x="1189998" y="1993657"/>
            <a:ext cx="8308642" cy="10287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9CDCFE"/>
                </a:solidFill>
                <a:latin typeface="Consolas"/>
              </a:rPr>
              <a:t>sums</a:t>
            </a:r>
            <a:r>
              <a:rPr sz="1450" b="0">
                <a:solidFill>
                  <a:srgbClr val="D4D4D4"/>
                </a:solidFill>
                <a:latin typeface="Consolas"/>
              </a:rPr>
              <a:t>[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] = </a:t>
            </a:r>
            <a:r>
              <a:rPr sz="1450" b="0">
                <a:solidFill>
                  <a:srgbClr val="9CDCFE"/>
                </a:solidFill>
                <a:latin typeface="Consolas"/>
              </a:rPr>
              <a:t>sums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50" b="0">
                <a:solidFill>
                  <a:srgbClr val="D4D4D4"/>
                </a:solidFill>
                <a:latin typeface="Consolas"/>
              </a:rPr>
              <a:t>(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) + 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Celsius</a:t>
            </a:r>
            <a:r>
              <a:rPr sz="14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450" b="0">
                <a:solidFill>
                  <a:srgbClr val="D4D4D4"/>
                </a:solidFill>
                <a:latin typeface="Consolas"/>
              </a:rPr>
              <a:t>[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] = </a:t>
            </a:r>
            <a:r>
              <a:rPr sz="1450" b="0">
                <a:solidFill>
                  <a:srgbClr val="9CDCFE"/>
                </a:solidFill>
                <a:latin typeface="Consolas"/>
              </a:rPr>
              <a:t>counts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50" b="0">
                <a:solidFill>
                  <a:srgbClr val="D4D4D4"/>
                </a:solidFill>
                <a:latin typeface="Consolas"/>
              </a:rPr>
              <a:t>(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) + </a:t>
            </a:r>
            <a:r>
              <a:rPr sz="1450" b="0">
                <a:solidFill>
                  <a:srgbClr val="B5CEA8"/>
                </a:solidFill>
                <a:latin typeface="Consolas"/>
              </a:rPr>
              <a:t>1</a:t>
            </a:r>
            <a:r>
              <a:rPr sz="1450" b="0">
                <a:solidFill>
                  <a:srgbClr val="D4D4D4"/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450" b="0">
                <a:solidFill>
                  <a:srgbClr val="D4D4D4"/>
                </a:solidFill>
                <a:latin typeface="Consolas"/>
              </a:rPr>
              <a:t>[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] = </a:t>
            </a:r>
            <a:r>
              <a:rPr sz="1450" b="0">
                <a:solidFill>
                  <a:srgbClr val="9CDCFE"/>
                </a:solidFill>
                <a:latin typeface="Consolas"/>
              </a:rPr>
              <a:t>spikes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GetValueOrDefault</a:t>
            </a:r>
            <a:r>
              <a:rPr sz="1450" b="0">
                <a:solidFill>
                  <a:srgbClr val="D4D4D4"/>
                </a:solidFill>
                <a:latin typeface="Consolas"/>
              </a:rPr>
              <a:t>(</a:t>
            </a:r>
            <a:r>
              <a:rPr sz="1450" b="0">
                <a:solidFill>
                  <a:srgbClr val="9CDCFE"/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/>
                </a:solidFill>
                <a:latin typeface="Consolas"/>
              </a:rPr>
              <a:t>.</a:t>
            </a:r>
            <a:r>
              <a:rPr sz="1450" b="0">
                <a:solidFill>
                  <a:srgbClr val="9CDCFE"/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/>
                </a:solidFill>
                <a:latin typeface="Consolas"/>
              </a:rPr>
              <a:t>) + </a:t>
            </a:r>
            <a:r>
              <a:rPr sz="1450" b="0">
                <a:solidFill>
                  <a:srgbClr val="B5CEA8"/>
                </a:solidFill>
                <a:latin typeface="Consolas"/>
              </a:rPr>
              <a:t>1</a:t>
            </a:r>
            <a:r>
              <a:rPr sz="1450" b="0">
                <a:solidFill>
                  <a:srgbClr val="D4D4D4"/>
                </a:solidFill>
                <a:latin typeface="Consolas"/>
              </a:rPr>
              <a:t>;</a:t>
            </a:r>
          </a:p>
        </p:txBody>
      </p:sp>
      <p:sp>
        <p:nvSpPr>
          <p:cNvPr id="8" name="Code"/>
          <p:cNvSpPr/>
          <p:nvPr/>
        </p:nvSpPr>
        <p:spPr>
          <a:xfrm>
            <a:off x="582524" y="3164232"/>
            <a:ext cx="9523590" cy="1028700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182880" tIns="182880" rIns="182880" bIns="182880" rtlCol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4EC9B0"/>
                </a:solidFill>
                <a:latin typeface="Consolas"/>
              </a:rPr>
              <a:t>CollectionsMarshal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GetValueRefOrAddDefault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sums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569CD6"/>
                </a:solidFill>
                <a:latin typeface="Consolas"/>
              </a:rPr>
              <a:t>out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9CDCFE"/>
                </a:solidFill>
                <a:latin typeface="Consolas"/>
              </a:rPr>
              <a:t>_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  <a:r>
              <a:rPr sz="1450" b="0">
                <a:solidFill>
                  <a:srgbClr val="D4D4D4"/>
                </a:solidFill>
                <a:latin typeface="Consolas"/>
              </a:rPr>
              <a:t> += 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Celsius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4EC9B0"/>
                </a:solidFill>
                <a:latin typeface="Consolas"/>
              </a:rPr>
              <a:t>CollectionsMarshal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GetValueRefOrAddDefault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counts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569CD6"/>
                </a:solidFill>
                <a:latin typeface="Consolas"/>
              </a:rPr>
              <a:t>out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9CDCFE"/>
                </a:solidFill>
                <a:latin typeface="Consolas"/>
              </a:rPr>
              <a:t>_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  <a:r>
              <a:rPr sz="1450" b="0">
                <a:solidFill>
                  <a:srgbClr val="D4D4D4"/>
                </a:solidFill>
                <a:latin typeface="Consolas"/>
              </a:rPr>
              <a:t>++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4EC9B0"/>
                </a:solidFill>
                <a:latin typeface="Consolas"/>
              </a:rPr>
              <a:t>CollectionsMarshal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DCDCAA"/>
                </a:solidFill>
                <a:latin typeface="Consolas"/>
              </a:rPr>
              <a:t>GetValueRefOrAddDefault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(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spikes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reading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.</a:t>
            </a:r>
            <a:r>
              <a:rPr sz="1450" b="0">
                <a:solidFill>
                  <a:srgbClr val="9CDCFE">
                    <a:alpha val="45000"/>
                  </a:srgbClr>
                </a:solidFill>
                <a:latin typeface="Consolas"/>
              </a:rPr>
              <a:t>Phase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,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569CD6"/>
                </a:solidFill>
                <a:latin typeface="Consolas"/>
              </a:rPr>
              <a:t>out</a:t>
            </a:r>
            <a:r>
              <a:rPr sz="1450" b="0">
                <a:solidFill>
                  <a:srgbClr val="D4D4D4"/>
                </a:solidFill>
                <a:latin typeface="Consolas"/>
              </a:rPr>
              <a:t> </a:t>
            </a:r>
            <a:r>
              <a:rPr sz="1450" b="0">
                <a:solidFill>
                  <a:srgbClr val="9CDCFE"/>
                </a:solidFill>
                <a:latin typeface="Consolas"/>
              </a:rPr>
              <a:t>_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)</a:t>
            </a:r>
            <a:r>
              <a:rPr sz="1450" b="0">
                <a:solidFill>
                  <a:srgbClr val="D4D4D4"/>
                </a:solidFill>
                <a:latin typeface="Consolas"/>
              </a:rPr>
              <a:t>++</a:t>
            </a:r>
            <a:r>
              <a:rPr sz="1450" b="0">
                <a:solidFill>
                  <a:srgbClr val="D4D4D4">
                    <a:alpha val="45000"/>
                  </a:srgbClr>
                </a:solidFill>
                <a:latin typeface="Consolas"/>
              </a:rPr>
              <a:t>;</a:t>
            </a:r>
          </a:p>
        </p:txBody>
      </p:sp>
      <p:sp>
        <p:nvSpPr>
          <p:cNvPr id="2" name="Textfeld 7">
            <a:extLst>
              <a:ext uri="{FF2B5EF4-FFF2-40B4-BE49-F238E27FC236}">
                <a16:creationId xmlns:a16="http://schemas.microsoft.com/office/drawing/2014/main" id="{2967115D-5D89-0313-C6DD-42673A4764CE}"/>
              </a:ext>
            </a:extLst>
          </p:cNvPr>
          <p:cNvSpPr txBox="1"/>
          <p:nvPr/>
        </p:nvSpPr>
        <p:spPr>
          <a:xfrm>
            <a:off x="498392" y="4415603"/>
            <a:ext cx="9691854" cy="4097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700"/>
              </a:lnSpc>
            </a:pPr>
            <a:r>
              <a:rPr lang="en-US" sz="1800" dirty="0" err="1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GetValueRefOrAddDefault</a:t>
            </a:r>
            <a:r>
              <a:rPr lang="en-US" sz="1800" dirty="0">
                <a:latin typeface="Roboto Light" panose="02000000000000000000" pitchFamily="2" charset="0"/>
                <a:ea typeface="Roboto Light" panose="02000000000000000000" pitchFamily="2" charset="0"/>
                <a:cs typeface="Roboto Light" panose="02000000000000000000" pitchFamily="2" charset="0"/>
              </a:rPr>
              <a:t> searches only once and returns a ref to the value in the Dictionary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7BF9FDFB-A429-1E30-E6B5-FE93E0C35A38}"/>
              </a:ext>
            </a:extLst>
          </p:cNvPr>
          <p:cNvSpPr txBox="1">
            <a:spLocks/>
          </p:cNvSpPr>
          <p:nvPr/>
        </p:nvSpPr>
        <p:spPr>
          <a:xfrm>
            <a:off x="534988" y="393848"/>
            <a:ext cx="9618662" cy="100950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0" algn="l" defTabSz="4572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200" kern="1200">
                <a:solidFill>
                  <a:schemeClr val="tx1"/>
                </a:solidFill>
                <a:latin typeface="Roboto Medium"/>
                <a:ea typeface="+mj-ea"/>
                <a:cs typeface="Roboto Medium"/>
              </a:defRPr>
            </a:lvl1pPr>
          </a:lstStyle>
          <a:p>
            <a:endParaRPr lang="en-US" noProof="0" dirty="0">
              <a:latin typeface="GuidnewOverlay" pitchFamily="2" charset="0"/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B292182C-78CF-48AA-6A8C-6852B7FC8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88" y="445096"/>
            <a:ext cx="9618662" cy="203051"/>
          </a:xfrm>
        </p:spPr>
        <p:txBody>
          <a:bodyPr/>
          <a:lstStyle/>
          <a:p>
            <a:r>
              <a:rPr lang="en-US" sz="1000" noProof="0" dirty="0">
                <a:solidFill>
                  <a:srgbClr val="D82C6A"/>
                </a:solidFill>
              </a:rPr>
              <a:t>Extra I </a:t>
            </a:r>
            <a:r>
              <a:rPr lang="en-US" sz="1000" noProof="0" dirty="0">
                <a:solidFill>
                  <a:srgbClr val="D82C6A"/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Core Temperature</a:t>
            </a:r>
            <a:endParaRPr lang="en-US" sz="1000" noProof="0" dirty="0">
              <a:solidFill>
                <a:srgbClr val="D82C6A"/>
              </a:solidFill>
            </a:endParaRP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3A0BCCEA-8B6A-F7EE-5E0E-46FDC9969606}"/>
              </a:ext>
            </a:extLst>
          </p:cNvPr>
          <p:cNvSpPr/>
          <p:nvPr/>
        </p:nvSpPr>
        <p:spPr>
          <a:xfrm>
            <a:off x="534988" y="990617"/>
            <a:ext cx="9601200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sz="3000" dirty="0"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Dictionary in one Lookup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5B5C762-7D68-CFEF-2416-7BCA83BAA3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786" y="3008312"/>
            <a:ext cx="8345065" cy="100979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vert="horz" lIns="0" tIns="0" rIns="0" bIns="0" rtlCol="0">
        <a:normAutofit/>
      </a:bodyPr>
      <a:lstStyle>
        <a:defPPr>
          <a:defRPr sz="12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c2d7f97-05d8-47a4-a82f-3daa402fe536" xsi:nil="true"/>
    <lcf76f155ced4ddcb4097134ff3c332f xmlns="a588ca79-611b-4bc5-9bb6-5b1bf392bc2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EE0D4AD1AEE5348ABE5F818725F41EE" ma:contentTypeVersion="16" ma:contentTypeDescription="Ein neues Dokument erstellen." ma:contentTypeScope="" ma:versionID="92b3db747aa193bb077d1019a378c6eb">
  <xsd:schema xmlns:xsd="http://www.w3.org/2001/XMLSchema" xmlns:xs="http://www.w3.org/2001/XMLSchema" xmlns:p="http://schemas.microsoft.com/office/2006/metadata/properties" xmlns:ns2="a588ca79-611b-4bc5-9bb6-5b1bf392bc28" xmlns:ns3="ac2d7f97-05d8-47a4-a82f-3daa402fe536" targetNamespace="http://schemas.microsoft.com/office/2006/metadata/properties" ma:root="true" ma:fieldsID="0d45f8db6ba0be781779963e5951f39c" ns2:_="" ns3:_="">
    <xsd:import namespace="a588ca79-611b-4bc5-9bb6-5b1bf392bc28"/>
    <xsd:import namespace="ac2d7f97-05d8-47a4-a82f-3daa402fe5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588ca79-611b-4bc5-9bb6-5b1bf392bc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ildmarkierungen" ma:readOnly="false" ma:fieldId="{5cf76f15-5ced-4ddc-b409-7134ff3c332f}" ma:taxonomyMulti="true" ma:sspId="9f395c62-4594-40d5-931a-99582df1d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c2d7f97-05d8-47a4-a82f-3daa402fe536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41a940a2-c4a2-4b38-9564-8b437b72eb82}" ma:internalName="TaxCatchAll" ma:showField="CatchAllData" ma:web="ac2d7f97-05d8-47a4-a82f-3daa402fe5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9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840C09-45AD-4E57-9F97-97AEFD06ABE3}">
  <ds:schemaRefs>
    <ds:schemaRef ds:uri="http://purl.org/dc/elements/1.1/"/>
    <ds:schemaRef ds:uri="http://purl.org/dc/terms/"/>
    <ds:schemaRef ds:uri="http://schemas.microsoft.com/office/2006/metadata/properties"/>
    <ds:schemaRef ds:uri="http://schemas.openxmlformats.org/package/2006/metadata/core-properties"/>
    <ds:schemaRef ds:uri="ac2d7f97-05d8-47a4-a82f-3daa402fe536"/>
    <ds:schemaRef ds:uri="http://purl.org/dc/dcmitype/"/>
    <ds:schemaRef ds:uri="a588ca79-611b-4bc5-9bb6-5b1bf392bc28"/>
    <ds:schemaRef ds:uri="http://schemas.microsoft.com/office/2006/documentManagement/types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521C81B5-96F5-48CE-BCCA-475A3D2B55C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FC943B0-8AE7-4257-A0DC-FF60DAB39AF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588ca79-611b-4bc5-9bb6-5b1bf392bc28"/>
    <ds:schemaRef ds:uri="ac2d7f97-05d8-47a4-a82f-3daa402fe5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1439</TotalTime>
  <Words>8005</Words>
  <Application>Microsoft Office PowerPoint</Application>
  <PresentationFormat>Custom</PresentationFormat>
  <Paragraphs>1168</Paragraphs>
  <Slides>142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142</vt:i4>
      </vt:variant>
    </vt:vector>
  </HeadingPairs>
  <TitlesOfParts>
    <vt:vector size="153" baseType="lpstr">
      <vt:lpstr>Arial</vt:lpstr>
      <vt:lpstr>Calibri</vt:lpstr>
      <vt:lpstr>Consolas</vt:lpstr>
      <vt:lpstr>Courier New</vt:lpstr>
      <vt:lpstr>Guidnew</vt:lpstr>
      <vt:lpstr>GuidnewOverlay</vt:lpstr>
      <vt:lpstr>Roboto</vt:lpstr>
      <vt:lpstr>Roboto Light</vt:lpstr>
      <vt:lpstr>Roboto Medium</vt:lpstr>
      <vt:lpstr>Office Theme</vt:lpstr>
      <vt:lpstr>Custom Design</vt:lpstr>
      <vt:lpstr>PowerPoint Presentation</vt:lpstr>
      <vt:lpstr>Overview I  Agenda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Takeaway I  Premature optimization</vt:lpstr>
      <vt:lpstr>Takeaway I  Premature optimization</vt:lpstr>
      <vt:lpstr>Takeaway I  When to optimize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Tool I  BenchmarkDotNet</vt:lpstr>
      <vt:lpstr>Tool I  BenchmarkDotNet</vt:lpstr>
      <vt:lpstr>Tool I  BenchmarkDotNet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Takeaway I  Measuring</vt:lpstr>
      <vt:lpstr>Takeaway I  Measuring</vt:lpstr>
      <vt:lpstr>Example I  Count persons over 50</vt:lpstr>
      <vt:lpstr>Example I  Count persons over 50</vt:lpstr>
      <vt:lpstr>Example I  Count persons over 50</vt:lpstr>
      <vt:lpstr>Example I  Count persons over 50</vt:lpstr>
      <vt:lpstr>Example I  Count persons over 50</vt:lpstr>
      <vt:lpstr>Takeaway I  LLMs</vt:lpstr>
      <vt:lpstr>Example I  Online Store</vt:lpstr>
      <vt:lpstr>Example I  Online Store</vt:lpstr>
      <vt:lpstr>Example I  Online Store</vt:lpstr>
      <vt:lpstr>Example I  Online Store</vt:lpstr>
      <vt:lpstr>Example I  Online Store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Example I Core Temperature</vt:lpstr>
      <vt:lpstr>PowerPoint Presentation</vt:lpstr>
      <vt:lpstr>Extra I Core Temperature</vt:lpstr>
      <vt:lpstr>Extra I Core Temperature</vt:lpstr>
      <vt:lpstr>Extra I Core Temperature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wolfgang@guidnew.com</dc:creator>
  <cp:lastModifiedBy>Jonathan Jeszenszky</cp:lastModifiedBy>
  <cp:revision>49</cp:revision>
  <dcterms:created xsi:type="dcterms:W3CDTF">2019-05-27T14:04:07Z</dcterms:created>
  <dcterms:modified xsi:type="dcterms:W3CDTF">2026-09-25T12:34:19Z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0x010100BEE0D4AD1AEE5348ABE5F818725F41EE</vt:lpwstr>
  </property>
  <property fmtid="{D5CDD505-2E9C-101B-9397-08002B2CF9AE}" pid="3" name="MediaServiceImageTags">
    <vt:lpwstr/>
  </property>
</Properties>
</file>